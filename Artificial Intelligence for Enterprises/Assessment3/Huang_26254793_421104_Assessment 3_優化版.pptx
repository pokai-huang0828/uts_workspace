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d2bbf38bf846ac" /><Relationship Type="http://schemas.openxmlformats.org/officeDocument/2006/relationships/extended-properties" Target="/docProps/app.xml" Id="R1afc7614f39142df" /><Relationship Type="http://schemas.openxmlformats.org/officeDocument/2006/relationships/officeDocument" Target="/ppt/presentation.xml" Id="Rdc1d2bb5773941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a485c8f424d3b"/>
  </p:sldMasterIdLst>
  <p:notesMasterIdLst>
    <p:notesMasterId xmlns:r="http://schemas.openxmlformats.org/officeDocument/2006/relationships" r:id="R6de75ec8cb774d2b"/>
  </p:notesMasterIdLst>
  <p:sldIdLst>
    <p:sldId xmlns:r="http://schemas.openxmlformats.org/officeDocument/2006/relationships" id="256" r:id="Rd6242ccbc0eb48bb"/>
    <p:sldId xmlns:r="http://schemas.openxmlformats.org/officeDocument/2006/relationships" id="257" r:id="R99c373408f7c45e9"/>
    <p:sldId xmlns:r="http://schemas.openxmlformats.org/officeDocument/2006/relationships" id="258" r:id="R4e83a735f2fd403c"/>
    <p:sldId xmlns:r="http://schemas.openxmlformats.org/officeDocument/2006/relationships" id="259" r:id="R36eeb6f8e3f74b69"/>
    <p:sldId xmlns:r="http://schemas.openxmlformats.org/officeDocument/2006/relationships" id="260" r:id="R2c310947ab2d427d"/>
    <p:sldId xmlns:r="http://schemas.openxmlformats.org/officeDocument/2006/relationships" id="261" r:id="R63fd7e7e927140cf"/>
    <p:sldId xmlns:r="http://schemas.openxmlformats.org/officeDocument/2006/relationships" id="262" r:id="R17177db108ff4e98"/>
    <p:sldId xmlns:r="http://schemas.openxmlformats.org/officeDocument/2006/relationships" id="263" r:id="Re58129cc6987414c"/>
    <p:sldId xmlns:r="http://schemas.openxmlformats.org/officeDocument/2006/relationships" id="264" r:id="R6a579a9551e444d6"/>
    <p:sldId xmlns:r="http://schemas.openxmlformats.org/officeDocument/2006/relationships" id="265" r:id="Rc940a5e5b61f484d"/>
    <p:sldId xmlns:r="http://schemas.openxmlformats.org/officeDocument/2006/relationships" id="266" r:id="Rbc6c8cd5499a4f41"/>
    <p:sldId xmlns:r="http://schemas.openxmlformats.org/officeDocument/2006/relationships" id="267" r:id="R23e526346b2b4253"/>
    <p:sldId xmlns:r="http://schemas.openxmlformats.org/officeDocument/2006/relationships" id="268" r:id="Rda505e6a67db4b4e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96c3d262c747f9" /><Relationship Type="http://schemas.openxmlformats.org/officeDocument/2006/relationships/slideMaster" Target="/ppt/slideMasters/slideMaster1.xml" Id="R065a485c8f424d3b" /><Relationship Type="http://schemas.openxmlformats.org/officeDocument/2006/relationships/notesMaster" Target="/ppt/notesMasters/notesMaster1.xml" Id="R6de75ec8cb774d2b" /><Relationship Type="http://schemas.openxmlformats.org/officeDocument/2006/relationships/presProps" Target="/ppt/presProps.xml" Id="Rced6770826434001" /><Relationship Type="http://schemas.openxmlformats.org/officeDocument/2006/relationships/viewProps" Target="/ppt/viewProps.xml" Id="R4a5c2ea4c2f74ca1" /><Relationship Type="http://schemas.openxmlformats.org/officeDocument/2006/relationships/tableStyles" Target="/ppt/tableStyles.xml" Id="Re4defa1f29e2473a" /><Relationship Type="http://schemas.openxmlformats.org/officeDocument/2006/relationships/slide" Target="/ppt/slides/slide1.xml" Id="Rd6242ccbc0eb48bb" /><Relationship Type="http://schemas.openxmlformats.org/officeDocument/2006/relationships/slide" Target="/ppt/slides/slide2.xml" Id="R99c373408f7c45e9" /><Relationship Type="http://schemas.openxmlformats.org/officeDocument/2006/relationships/slide" Target="/ppt/slides/slide3.xml" Id="R4e83a735f2fd403c" /><Relationship Type="http://schemas.openxmlformats.org/officeDocument/2006/relationships/slide" Target="/ppt/slides/slide4.xml" Id="R36eeb6f8e3f74b69" /><Relationship Type="http://schemas.openxmlformats.org/officeDocument/2006/relationships/slide" Target="/ppt/slides/slide5.xml" Id="R2c310947ab2d427d" /><Relationship Type="http://schemas.openxmlformats.org/officeDocument/2006/relationships/slide" Target="/ppt/slides/slide6.xml" Id="R63fd7e7e927140cf" /><Relationship Type="http://schemas.openxmlformats.org/officeDocument/2006/relationships/slide" Target="/ppt/slides/slide7.xml" Id="R17177db108ff4e98" /><Relationship Type="http://schemas.openxmlformats.org/officeDocument/2006/relationships/slide" Target="/ppt/slides/slide8.xml" Id="Re58129cc6987414c" /><Relationship Type="http://schemas.openxmlformats.org/officeDocument/2006/relationships/slide" Target="/ppt/slides/slide9.xml" Id="R6a579a9551e444d6" /><Relationship Type="http://schemas.openxmlformats.org/officeDocument/2006/relationships/slide" Target="/ppt/slides/slide10.xml" Id="Rc940a5e5b61f484d" /><Relationship Type="http://schemas.openxmlformats.org/officeDocument/2006/relationships/slide" Target="/ppt/slides/slide11.xml" Id="Rbc6c8cd5499a4f41" /><Relationship Type="http://schemas.openxmlformats.org/officeDocument/2006/relationships/slide" Target="/ppt/slides/slide12.xml" Id="R23e526346b2b4253" /><Relationship Type="http://schemas.openxmlformats.org/officeDocument/2006/relationships/slide" Target="/ppt/slides/slide13.xml" Id="Rda505e6a67db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7693b5648c40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21570807ae4b0b" /><Relationship Type="http://schemas.openxmlformats.org/officeDocument/2006/relationships/notesMaster" Target="/ppt/notesMasters/notesMaster1.xml" Id="R22008dd693b843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20e30b23744731" /><Relationship Type="http://schemas.openxmlformats.org/officeDocument/2006/relationships/notesMaster" Target="/ppt/notesMasters/notesMaster1.xml" Id="R69e03b1719e8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4d52ef404a45e7" /><Relationship Type="http://schemas.openxmlformats.org/officeDocument/2006/relationships/notesMaster" Target="/ppt/notesMasters/notesMaster1.xml" Id="R553f10301ed248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9496cb9d584d2f" /><Relationship Type="http://schemas.openxmlformats.org/officeDocument/2006/relationships/notesMaster" Target="/ppt/notesMasters/notesMaster1.xml" Id="R1b55abf473074e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2bf83443240c4" /><Relationship Type="http://schemas.openxmlformats.org/officeDocument/2006/relationships/notesMaster" Target="/ppt/notesMasters/notesMaster1.xml" Id="Rb303c0db09f7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ed7e6c052f4057" /><Relationship Type="http://schemas.openxmlformats.org/officeDocument/2006/relationships/notesMaster" Target="/ppt/notesMasters/notesMaster1.xml" Id="Re3dbe484ecfc4f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b45a96ed8140c2" /><Relationship Type="http://schemas.openxmlformats.org/officeDocument/2006/relationships/notesMaster" Target="/ppt/notesMasters/notesMaster1.xml" Id="Rd58731664a7e4f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4f39540a9b4e4d" /><Relationship Type="http://schemas.openxmlformats.org/officeDocument/2006/relationships/notesMaster" Target="/ppt/notesMasters/notesMaster1.xml" Id="R2620330b66cd45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f9ee4366ed4c90" /><Relationship Type="http://schemas.openxmlformats.org/officeDocument/2006/relationships/notesMaster" Target="/ppt/notesMasters/notesMaster1.xml" Id="R4524751bc1534d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277d03b64d458a" /><Relationship Type="http://schemas.openxmlformats.org/officeDocument/2006/relationships/notesMaster" Target="/ppt/notesMasters/notesMaster1.xml" Id="Rd3eb6c5acf304b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6f65b5f334470d" /><Relationship Type="http://schemas.openxmlformats.org/officeDocument/2006/relationships/notesMaster" Target="/ppt/notesMasters/notesMaster1.xml" Id="R596b0f4b51af43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9982085ef4433f" /><Relationship Type="http://schemas.openxmlformats.org/officeDocument/2006/relationships/notesMaster" Target="/ppt/notesMasters/notesMaster1.xml" Id="R6f490ad898624d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7779ddb0ea48d0" /><Relationship Type="http://schemas.openxmlformats.org/officeDocument/2006/relationships/notesMaster" Target="/ppt/notesMasters/notesMaster1.xml" Id="R45696d40104745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開場先交代問題、建議、六個月價值、風險界線與本次請求。不要把本案說成部署核准；今天只請求六週量測與贊助人。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用三段流程讓非技術評分者先看懂現況。人工段有兩條工作流：全量批次約 20 秒一筆；客戶爭議深挖約 5.25 分鐘一筆。每日合計 29.8–42.9 人時，對上 40 人時產能，峰值超載。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不要說『量不是瓶頸』。正確說法是：43%–78% 落在 AI 可介入段；每日批次吞吐暫非瓶頸，爭議深挖吞吐仍需 W1–6 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Hopp, W. J., &amp; Spearman, M. L. (2011). Factory physics (3rd ed., chaps. 7–9). Waveland Press.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這是最可信的投報靶心：樣本、工時、母體與根因都明確。強調 104 是 ADAS 側，124 是整批全部誤報，避免母體混淆。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左右兩側不要做精準度比較，因為母體不同。主張只是：誤報證據較厚，漏放證據薄；因此先買量測。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把五條路縮成四個真正可比較的策略；公司既有雲端判讀是前置依賴，不是競爭選項。『有把握』必須由凍結評估集上的校準式門檻定義，G1 預註冊、G2 四臂驗證，不採模型自然語言自信宣稱。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不要念出未經 Kenny 確認的具體安全類別。統一說『G1 由業務與法務核定的安全紅線類別』。R8 誠實承認現在沒有可執行緩解；R9、R10 是方案自己新增的風險。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先說清楚標題中的 850 筆是『移交後、且通過 G4 後』，不是六個月內。本案期內人仍逐筆判。2019 八原則只作公開可查的對照框架；2025 已有後續採用指引。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85% 不是承諾，也不是 VLM 自述信心；由凍結評估集上的校準式選擇門檻定義，G1 預註冊、G2 四臂驗證。漏濾率是自動結案能否對外生效的否決點。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主片維持概念層次：一套地端視覺語言模型，同一設備分時處理篩檢與深挖；選型與量化規格由 G1 依 W1–6 量測定案。G4 是移交後獨立門。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兩組看似衝突的數字其實是不同語義：NT$1,248–2,223 萬是『不做本案的全部增聘暴露』；NT$520–1,521 萬是『做本案後可避免的增聘』。兩者都只屬移交後反事實，不得與設備價相減成 ROI。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本頁僅供文獻追溯，不需逐條朗讀。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https://www.industry.gov.au/publications/australias-ai-ethics-principles</a:t>
            </a:r>
          </a:p>
          <a:p xmlns:a="http://schemas.openxmlformats.org/drawingml/2006/main">
            <a:r>
              <a:t>- https://www.ibm.com/downloads/cas/OB8M18WR</a:t>
            </a:r>
          </a:p>
          <a:p xmlns:a="http://schemas.openxmlformats.org/drawingml/2006/main">
            <a:r>
              <a:t>- https://www.ibm.com/case-studies/uhcw-nhs-trust</a:t>
            </a:r>
          </a:p>
          <a:p xmlns:a="http://schemas.openxmlformats.org/drawingml/2006/main">
            <a:r>
              <a:t>- https://doi.org/10.1145/3411764.3445518</a:t>
            </a:r>
          </a:p>
          <a:p xmlns:a="http://schemas.openxmlformats.org/drawingml/2006/main">
            <a:r>
              <a:t>- https://doi.org/10.1177/0018720810376055</a:t>
            </a:r>
          </a:p>
          <a:p xmlns:a="http://schemas.openxmlformats.org/drawingml/2006/main">
            <a:r>
              <a:t>- https://doi.org/10.1136/amiajnl-2011-000089</a:t>
            </a:r>
          </a:p>
          <a:p xmlns:a="http://schemas.openxmlformats.org/drawingml/2006/main">
            <a:r>
              <a:t>- https://doi.org/10.1038/s42256-019-0048-x</a:t>
            </a:r>
          </a:p>
          <a:p xmlns:a="http://schemas.openxmlformats.org/drawingml/2006/main">
            <a:r>
              <a:t>- https://proceedings.neurips.cc/paper/2015/hash/86df7dcfd896fcaf2674f757a2463eba-Abstract.html</a:t>
            </a:r>
          </a:p>
          <a:p xmlns:a="http://schemas.openxmlformats.org/drawingml/2006/main">
            <a:r>
              <a:t>- https://proceedings.mlr.press/v81/ensign18a.html</a:t>
            </a:r>
          </a:p>
          <a:p xmlns:a="http://schemas.openxmlformats.org/drawingml/2006/main">
            <a:r>
              <a:t>- https://proceedings.mlr.press/v70/guo17a.html</a:t>
            </a:r>
          </a:p>
          <a:p xmlns:a="http://schemas.openxmlformats.org/drawingml/2006/main">
            <a:r>
              <a:t>- https://arxiv.org/abs/2103.14749</a:t>
            </a:r>
          </a:p>
          <a:p xmlns:a="http://schemas.openxmlformats.org/drawingml/2006/main">
            <a:r>
              <a:t>- https://doi.org/10.6028/NIST.AI.100-1</a:t>
            </a:r>
          </a:p>
          <a:p xmlns:a="http://schemas.openxmlformats.org/drawingml/2006/main">
            <a:r>
              <a:t>- https://humanrights.gov.au/sites/default/files/document/publication/ahrc_technical_paper_algorithmic_bias_2020.pdf</a:t>
            </a:r>
          </a:p>
          <a:p xmlns:a="http://schemas.openxmlformats.org/drawingml/2006/main">
            <a:r>
              <a:t>- https://www.forbes.com/sites/gilpress/2016/03/23/data-preparation-most-time-consuming-least-enjoyable-data-science-task-survey-says/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5bd2a43bd44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69103a65544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2ff1a1b2564ba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9e9f83d37b4d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c23e49e8f4b9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9e5051c7a41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7c2a22412b4d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7ec920e2c40e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2ef1e1545b45e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1c0b3ee414b0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9a49548f24f4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403D5B-AB3E-4A3D-98C3-903041AD69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BC4379C-6A51-4ECF-A6AD-1FCE2C795D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8324E5-1B63-4AB7-9A41-C96E424983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FFF74D-AE12-44F5-B1B9-88F2E58A85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867FA9-37E9-49A6-B100-012063D59E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600B09-E029-4A71-AABE-6840B388CA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C05652-E2D9-409B-8EE2-A70E2F6772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9CC60C-0540-43E3-A4DE-3E6F1131DC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B1FD455-95E4-4D3F-91FA-9B278E8CFC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3EC8C2-CE2B-4FEE-B013-D046A136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BBE820-8D7D-4A94-AD4A-D696C4997F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E9BE3AF-DB7A-4894-8E79-BAC869180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5B9B68F-DA4A-4AAB-8754-34CAC533C9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45A6E3-3155-4ED4-83DA-91FD36BA4F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D7E9F6-BFAE-4556-8F5B-81D3E1AB3F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18B627-2588-4BF8-996C-FFE657C756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30AC009-0CB7-48C6-B239-D90A0CE61F5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9584C60-A704-4D70-AEBE-2019974207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022B65-BA0D-4153-9A8F-DDF1EB3568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D2D148A-CB5E-40FB-A9CE-162C644543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827B39A-A020-43FC-9978-D059D6EF14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831F86-0954-4F11-8796-A51A05695A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BE72B3-607F-4BF2-A301-0AAF63ED85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DF8336-2B8E-441D-96EF-D0F2C9C268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6B6E442-A969-4ABD-B9EA-605FAE3D35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191EBAB-64EF-4A75-81D4-02B74ABE88B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8B5A5EE-1280-4491-8540-F33D929FA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E1ACF89-35B8-45C3-B270-A4A1A57B0B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635E996-D3E4-4A17-B395-12C1CCEC2C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F0BD4C-63ED-424B-BAEF-F668DADD6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7B66014-9B41-4CD4-865A-06791D0969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EEAF53B-382E-4D58-A398-174AA4088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4AC3980-1B2D-4B86-A41C-064EE206A9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BE2B268-930D-4EC6-A624-8EF08BAAA9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CA4175-1497-4DEB-BE17-4125EE57BF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4486FD7-C43E-4587-A944-FD47871FF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5340C0-F0C7-4A09-BAAF-9B749DE1A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C447E3C-5765-48B5-A604-5BA27C1AFCA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DA045A-B9E9-4A4B-84E5-27D4E44C7B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82D5EB-B1A0-4791-AEAE-8F3C6C9C11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E943A59-379B-4FCE-B4C5-CF38D20DEE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BA042EE-E8AB-4782-8609-4393DC9243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43A2AF6-ED01-4CA3-8A89-82DD1049F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C7F142E-1C33-490B-B57C-42DFE2439A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4D0D5-C01F-4C11-A2E1-360C7BE41F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6DE0A6B-3D0A-45E1-8295-1F517CD98D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67077A8-CF0F-4DEF-8BD6-B41AC813B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673875-67CA-4D51-83D8-6F75C151ED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B761E2-7916-4B97-80EC-98B377C0F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B484784-52EE-4009-ABF6-A766699F0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337B37-7637-4D49-BE63-CA144DB8E1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607ACA-45CF-4961-B611-1A79D04A16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6BFD01-5637-42BC-93F6-9FC9173FFE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1CEB0C-60FB-4D55-B803-A6FB2BF38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225839-A521-45ED-B27F-EDD378340A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A79FA1F-FDA2-43DE-A67D-2091616ADF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BF7AA1-2730-40BB-9B7D-D7B30DB169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7683DB-555C-4C20-8839-3254D7D4C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cf5a02a1a456b" /><Relationship Type="http://schemas.openxmlformats.org/officeDocument/2006/relationships/slideLayout" Target="/ppt/slideLayouts/slideLayout1.xml" Id="R0b9bff978f4644b5" /><Relationship Type="http://schemas.openxmlformats.org/officeDocument/2006/relationships/slideLayout" Target="/ppt/slideLayouts/slideLayout2.xml" Id="R74c6ac2a8408454f" /><Relationship Type="http://schemas.openxmlformats.org/officeDocument/2006/relationships/slideLayout" Target="/ppt/slideLayouts/slideLayout3.xml" Id="Rb40c98489e364be4" /><Relationship Type="http://schemas.openxmlformats.org/officeDocument/2006/relationships/slideLayout" Target="/ppt/slideLayouts/slideLayout4.xml" Id="Rb3b879853a674ad6" /><Relationship Type="http://schemas.openxmlformats.org/officeDocument/2006/relationships/slideLayout" Target="/ppt/slideLayouts/slideLayout5.xml" Id="R37d51afebb134e2e" /><Relationship Type="http://schemas.openxmlformats.org/officeDocument/2006/relationships/slideLayout" Target="/ppt/slideLayouts/slideLayout6.xml" Id="Re6e42f7c237e4ff8" /><Relationship Type="http://schemas.openxmlformats.org/officeDocument/2006/relationships/slideLayout" Target="/ppt/slideLayouts/slideLayout7.xml" Id="R5bd9cb9c2a424846" /><Relationship Type="http://schemas.openxmlformats.org/officeDocument/2006/relationships/slideLayout" Target="/ppt/slideLayouts/slideLayout8.xml" Id="R456f0ce4e0c74c46" /><Relationship Type="http://schemas.openxmlformats.org/officeDocument/2006/relationships/slideLayout" Target="/ppt/slideLayouts/slideLayout9.xml" Id="R1b6f135f7d4047a6" /><Relationship Type="http://schemas.openxmlformats.org/officeDocument/2006/relationships/slideLayout" Target="/ppt/slideLayouts/slideLayout10.xml" Id="R1190c6e95bfd4006" /><Relationship Type="http://schemas.openxmlformats.org/officeDocument/2006/relationships/slideLayout" Target="/ppt/slideLayouts/slideLayout11.xml" Id="Re3b586e69e1d42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388974A-4CDD-417E-B252-CFC523CE77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346A7F-8F2E-4524-95F4-EF2678A800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1CC763-3637-4BCD-B508-87EBF71C601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AC9E1F-3AE9-4A1F-850E-29923FC922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DF9B0A-33B6-45D3-BF14-4B147B3AF2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9bff978f4644b5"/>
    <p:sldLayoutId xmlns:r="http://schemas.openxmlformats.org/officeDocument/2006/relationships" id="2147483650" r:id="R74c6ac2a8408454f"/>
    <p:sldLayoutId xmlns:r="http://schemas.openxmlformats.org/officeDocument/2006/relationships" id="2147483651" r:id="Rb40c98489e364be4"/>
    <p:sldLayoutId xmlns:r="http://schemas.openxmlformats.org/officeDocument/2006/relationships" id="2147483652" r:id="Rb3b879853a674ad6"/>
    <p:sldLayoutId xmlns:r="http://schemas.openxmlformats.org/officeDocument/2006/relationships" id="2147483653" r:id="R37d51afebb134e2e"/>
    <p:sldLayoutId xmlns:r="http://schemas.openxmlformats.org/officeDocument/2006/relationships" id="2147483654" r:id="Re6e42f7c237e4ff8"/>
    <p:sldLayoutId xmlns:r="http://schemas.openxmlformats.org/officeDocument/2006/relationships" id="2147483655" r:id="R5bd9cb9c2a424846"/>
    <p:sldLayoutId xmlns:r="http://schemas.openxmlformats.org/officeDocument/2006/relationships" id="2147483656" r:id="R456f0ce4e0c74c46"/>
    <p:sldLayoutId xmlns:r="http://schemas.openxmlformats.org/officeDocument/2006/relationships" id="2147483657" r:id="R1b6f135f7d4047a6"/>
    <p:sldLayoutId xmlns:r="http://schemas.openxmlformats.org/officeDocument/2006/relationships" id="2147483658" r:id="R1190c6e95bfd4006"/>
    <p:sldLayoutId xmlns:r="http://schemas.openxmlformats.org/officeDocument/2006/relationships" id="2147483659" r:id="Re3b586e69e1d420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d1dff7e9264c2b" /><Relationship Type="http://schemas.openxmlformats.org/officeDocument/2006/relationships/notesSlide" Target="/ppt/notesSlides/notesSlide1.xml" Id="Ra043ad77ea7745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c063c2b3f84433" /><Relationship Type="http://schemas.openxmlformats.org/officeDocument/2006/relationships/notesSlide" Target="/ppt/notesSlides/notesSlide2.xml" Id="Rccb77585682343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8ca25d807140f1" /><Relationship Type="http://schemas.openxmlformats.org/officeDocument/2006/relationships/notesSlide" Target="/ppt/notesSlides/notesSlide3.xml" Id="Rdae458681ae346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61b9dde8344a4f" /><Relationship Type="http://schemas.openxmlformats.org/officeDocument/2006/relationships/notesSlide" Target="/ppt/notesSlides/notesSlide4.xml" Id="Rd20ffc3ed74847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de21bd9e194279" /><Relationship Type="http://schemas.openxmlformats.org/officeDocument/2006/relationships/notesSlide" Target="/ppt/notesSlides/notesSlide5.xml" Id="R7e218fc6af3f44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de2f2357cf441e" /><Relationship Type="http://schemas.openxmlformats.org/officeDocument/2006/relationships/notesSlide" Target="/ppt/notesSlides/notesSlide6.xml" Id="R55237c8aef394c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7783e1b0f9d48c4" /><Relationship Type="http://schemas.openxmlformats.org/officeDocument/2006/relationships/notesSlide" Target="/ppt/notesSlides/notesSlide7.xml" Id="Rf9b05a48774742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daeb94292b4de3" /><Relationship Type="http://schemas.openxmlformats.org/officeDocument/2006/relationships/notesSlide" Target="/ppt/notesSlides/notesSlide8.xml" Id="Rba3ec3caaeb44b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06abb8ce184155" /><Relationship Type="http://schemas.openxmlformats.org/officeDocument/2006/relationships/notesSlide" Target="/ppt/notesSlides/notesSlide9.xml" Id="R682b802ae8114b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1c27dcd7d54d82" /><Relationship Type="http://schemas.openxmlformats.org/officeDocument/2006/relationships/notesSlide" Target="/ppt/notesSlides/notesSlide10.xml" Id="R489b6149f0454e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5c8f5d489e54350" /><Relationship Type="http://schemas.openxmlformats.org/officeDocument/2006/relationships/notesSlide" Target="/ppt/notesSlides/notesSlide11.xml" Id="R5195edac322d40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ad1eb6434846ce" /><Relationship Type="http://schemas.openxmlformats.org/officeDocument/2006/relationships/notesSlide" Target="/ppt/notesSlides/notesSlide12.xml" Id="Rb8289133f91849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b935cf37444d44" /><Relationship Type="http://schemas.openxmlformats.org/officeDocument/2006/relationships/notesSlide" Target="/ppt/notesSlides/notesSlide13.xml" Id="Rbcd1b64d97d9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E69053-17DE-485A-B8BF-928B47B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2F73F-CAE7-4100-889A-DBFDC836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91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E4F78"/>
                </a:solidFill>
              </a:defRPr>
            </a:pPr>
            <a:r>
              <a:rPr sz="3600" b="1">
                <a:solidFill>
                  <a:srgbClr val="1E4F78"/>
                </a:solidFill>
              </a:rPr>
              <a:t>讓機器讀懂一次事件的完整脈絡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F2FF0-CC73-4913-8E60-952151FC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746"/>
                </a:solidFill>
              </a:defRPr>
            </a:pPr>
            <a:r>
              <a:rPr sz="1725" b="0">
                <a:solidFill>
                  <a:srgbClr val="263746"/>
                </a:solidFill>
              </a:rPr>
              <a:t>地端 AI 事件判讀｜六個月、四道決策門的立案提案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6AF7C-4CA3-401C-93DA-24065EE7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F8FFC-E466-4399-92D2-56A1652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81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67E2E"/>
                </a:solidFill>
              </a:defRPr>
            </a:pPr>
            <a:r>
              <a:rPr sz="1125" b="1">
                <a:solidFill>
                  <a:srgbClr val="E67E2E"/>
                </a:solidFill>
              </a:rPr>
              <a:t>今天的瓶頸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BBB81-694E-446F-A529-62301FF2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668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E4F78"/>
                </a:solidFill>
              </a:defRPr>
            </a:pPr>
            <a:r>
              <a:rPr sz="4950" b="1">
                <a:solidFill>
                  <a:srgbClr val="1E4F78"/>
                </a:solidFill>
              </a:rPr>
              <a:t>3,000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5457F-4EC4-424A-B006-8F56BACA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98A"/>
                </a:solidFill>
              </a:defRPr>
            </a:pPr>
            <a:r>
              <a:rPr sz="1350" b="0">
                <a:solidFill>
                  <a:srgbClr val="66798A"/>
                </a:solidFill>
              </a:rPr>
              <a:t>事件／日，由 5 人逐筆覆核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05C74-C723-4CCF-903D-18A93B8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28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035AE-C189-4B15-B14F-35AD227F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7E2E"/>
                </a:solidFill>
              </a:defRPr>
            </a:pPr>
            <a:r>
              <a:rPr sz="1275" b="1">
                <a:solidFill>
                  <a:srgbClr val="E67E2E"/>
                </a:solidFill>
              </a:rPr>
              <a:t>建議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6BFDC-B1CE-45AE-ACE4-E19A0BC4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</a:defRPr>
            </a:pPr>
            <a:r>
              <a:rPr sz="1800" b="1">
                <a:solidFill>
                  <a:srgbClr val="17324A"/>
                </a:solidFill>
              </a:rPr>
              <a:t>建立一套地端視覺語言模型，先做可稽核評估，再跑影子模式。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B16CB-BE89-4345-965B-87D694AD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4F78"/>
                </a:solidFill>
              </a:defRPr>
            </a:pPr>
            <a:r>
              <a:rPr sz="1125" b="1">
                <a:solidFill>
                  <a:srgbClr val="1E4F78"/>
                </a:solidFill>
              </a:rPr>
              <a:t>六個月價值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9A7F9-5EDE-4477-933D-04336DD1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242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</a:rPr>
              <a:t>把爭議回覆壓到 2 天內；人仍逐筆判定。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561D2-47E1-4168-9EF0-C0E5E13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風險界線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C39C6-7712-4DA9-A305-910BBB6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</a:defRPr>
            </a:pPr>
            <a:r>
              <a:rPr sz="1500" b="1">
                <a:solidFill>
                  <a:srgbClr val="B42318"/>
                </a:solidFill>
              </a:rPr>
              <a:t>AI 結案判定對外生效 = 0%。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27DDE-9253-4730-A997-9633A537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1430">
            <a:solidFill>
              <a:srgbClr val="E67E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DDCB3-E383-48DC-8446-F8A65A8D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</a:defRPr>
            </a:pPr>
            <a:r>
              <a:rPr sz="1125" b="1">
                <a:solidFill>
                  <a:srgbClr val="E67E2E"/>
                </a:solidFill>
              </a:rPr>
              <a:t>本次請求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22AE7-A026-4B97-87F6-8AC5BA48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</a:defRPr>
            </a:pPr>
            <a:r>
              <a:rPr sz="1725" b="1">
                <a:solidFill>
                  <a:srgbClr val="17324A"/>
                </a:solidFill>
              </a:rPr>
              <a:t>只核准 W1–6 的量測底座，並指定一位專案贊助人。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80027-5BF7-4070-8669-2190FF51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Po-Kai Huang｜26254793｜421104 Artificial Intelligence for Enterprises｜Assessment 3｜2026.08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E76261-C2DD-4302-BC35-21379493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412B9-5423-428D-82E1-651D3CBC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The company name has been changed for commercial in confidence reasons.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00999-8B38-4425-9B67-51B3ABD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6188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D090BC-DF19-435A-BFA6-0A2BAC7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介紹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E20F4E5-E60E-4266-B512-F9A852EF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自動化停在第二關，瓶頸集中在最後的人工作業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57819-4291-4132-AC88-2E8B562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兩段自動判讀之後，5 位分析人員仍須逐筆重看影片、補脈絡、寫回覆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3D8CB-5F93-4CF3-9677-C4BE142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5E312-0561-4B16-9D91-9487D64D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B4097-36CA-41D3-A27D-BC0FB551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6C36A-0E96-4AEF-ABD0-D41AF26C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CF1B7-653E-4706-8552-2F54D389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5D124-134D-4B76-9825-57C6D64A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838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A08A8-94E1-46B5-A565-6817EBEF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68ED6-9C11-453F-AA0A-16DC291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</a:defRPr>
            </a:pPr>
            <a:r>
              <a:rPr sz="1575" b="1">
                <a:solidFill>
                  <a:srgbClr val="1E4F78"/>
                </a:solidFill>
              </a:rPr>
              <a:t>① 車上即時初判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43ED6-99AE-4454-B9B3-F2A6C3F5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產生事件影片與分類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A55E7-4B30-47DF-96D7-0138E212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790700"/>
            <a:ext cx="266700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2BC3A-E7E0-4705-A2F7-CC42580B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907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4F78"/>
                </a:solidFill>
              </a:defRPr>
            </a:pPr>
            <a:r>
              <a:rPr sz="1575" b="1">
                <a:solidFill>
                  <a:srgbClr val="1E4F78"/>
                </a:solidFill>
              </a:rPr>
              <a:t>② 雲端複判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3AAE5B-7DAB-4696-B573-3D6BB59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24125"/>
            <a:ext cx="2247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已自動化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判定真假並回傳警示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4F885-249F-48D0-A7F2-F1DBC459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90700"/>
            <a:ext cx="37147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9050">
            <a:solidFill>
              <a:srgbClr val="E67E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FF8D2-CB4B-4988-A006-49DA1A04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907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7E2E"/>
                </a:solidFill>
              </a:defRPr>
            </a:pPr>
            <a:r>
              <a:rPr sz="1575" b="1">
                <a:solidFill>
                  <a:srgbClr val="E67E2E"/>
                </a:solidFill>
              </a:rPr>
              <a:t>③ 人工防線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06442-4010-42CB-82BE-F108BF5D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2412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5 人逐筆看完</a:t>
            </a:r>
          </a:p>
          <a:p xmlns:a="http://schemas.openxmlformats.org/drawingml/2006/main">
            <a:pPr algn="ctr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重看影片 → 補畫外脈絡 → 回覆客戶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BA516B-992C-481A-8601-25F5DCC2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</a:defRPr>
            </a:pPr>
            <a:r>
              <a:rPr sz="1125" b="1">
                <a:solidFill>
                  <a:srgbClr val="66798A"/>
                </a:solidFill>
              </a:rPr>
              <a:t>每天需要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73D21-0EE5-4A6A-B131-65E05822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</a:defRPr>
            </a:pPr>
            <a:r>
              <a:rPr sz="2550" b="1">
                <a:solidFill>
                  <a:srgbClr val="1E4F78"/>
                </a:solidFill>
              </a:rPr>
              <a:t>29.8–42.9 人時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23F9A-939F-4C15-BF23-64C5EDA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2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</a:defRPr>
            </a:pPr>
            <a:r>
              <a:rPr sz="1125" b="1">
                <a:solidFill>
                  <a:srgbClr val="66798A"/>
                </a:solidFill>
              </a:rPr>
              <a:t>可用產能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214ABC-6C7B-436D-816C-AAAB1EAF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4F78"/>
                </a:solidFill>
              </a:defRPr>
            </a:pPr>
            <a:r>
              <a:rPr sz="2550" b="1">
                <a:solidFill>
                  <a:srgbClr val="1E4F78"/>
                </a:solidFill>
              </a:rPr>
              <a:t>40 人時／日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AE0CC3-C2C3-4BDC-9C28-4820D1A2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623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</a:defRPr>
            </a:pPr>
            <a:r>
              <a:rPr sz="1125" b="1">
                <a:solidFill>
                  <a:srgbClr val="66798A"/>
                </a:solidFill>
              </a:rPr>
              <a:t>峰值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475AB-460D-427A-B3D9-84148E1F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38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</a:defRPr>
            </a:pPr>
            <a:r>
              <a:rPr sz="2550" b="1">
                <a:solidFill>
                  <a:srgbClr val="B42318"/>
                </a:solidFill>
              </a:rPr>
              <a:t>107%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BDF1D-D506-4FDA-A985-0A15E81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1000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4EA1FC-B615-4B9C-832D-D8C9EAA6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87915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C09D3-F340-46DB-AEC5-2AAC0F09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29175"/>
            <a:ext cx="12096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1E536-B2DA-44D3-8AC9-14A8221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98A"/>
                </a:solidFill>
              </a:defRPr>
            </a:pPr>
            <a:r>
              <a:rPr sz="900" b="0">
                <a:solidFill>
                  <a:srgbClr val="66798A"/>
                </a:solidFill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D226D0-3B3D-4854-8502-AB0BF6C4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40 h 產能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659A2-F996-4499-A617-6F48E957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197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42318"/>
                </a:solidFill>
              </a:defRPr>
            </a:pPr>
            <a:r>
              <a:rPr sz="900" b="1">
                <a:solidFill>
                  <a:srgbClr val="B42318"/>
                </a:solidFill>
              </a:rPr>
              <a:t>42.9 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74061-E20A-409B-B98C-A565C475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</a:defRPr>
            </a:pPr>
            <a:r>
              <a:rPr sz="1875" b="1">
                <a:solidFill>
                  <a:srgbClr val="17324A"/>
                </a:solidFill>
              </a:rPr>
              <a:t>瓶頸不是影片數量，而是畫面外的脈絡與一致判準。</a:t>
            </a:r>
          </a:p>
        </p:txBody>
      </p:sp>
    </p:spTree>
    <p:extLst>
      <p:ext uri="{BB962C8B-B14F-4D97-AF65-F5344CB8AC3E}">
        <p14:creationId xmlns:p14="http://schemas.microsoft.com/office/powerpoint/2010/main" val="616663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137383-35A3-4495-95A7-636AC8DC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AI 機會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415B34C-FBDE-409A-A9DD-F55422F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AI 可介入 43%–78% 的流程；但深挖吞吐量必須先量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AD20D-00CD-4BE5-BBA3-1E0A426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2–5 天的回覆時間裡，撈數據與判讀是同一個可工程化缺口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CDDA4-950F-4D97-A183-0E6087D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FC432-753C-4423-B2B9-0269542B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A97F-E382-41FB-9CBC-1C5F7BF8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51CD0-3FE4-437F-A511-57D175A1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E7145-0D6D-4ADB-87A9-1BE1D3FC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現況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956FE-73CB-4C63-86F5-D2FF77D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6D8B3-1821-495C-A238-11265DFE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669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目標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7FAE0-BB67-4791-8F70-C8F42AAF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775" b="1">
                <a:solidFill>
                  <a:srgbClr val="E67E2E"/>
                </a:solidFill>
              </a:defRPr>
            </a:pPr>
            <a:r>
              <a:rPr sz="2775" b="1">
                <a:solidFill>
                  <a:srgbClr val="E67E2E"/>
                </a:solidFill>
              </a:rPr>
              <a:t>≤ 2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7B62E-AAB0-4713-A568-CBB3121E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4C350-49ED-4CE8-8D99-97A904F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等待／排隊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6D38D-C182-409D-8C72-02E4E7C3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</a:defRPr>
            </a:pPr>
            <a:r>
              <a:rPr sz="1050" b="0">
                <a:solidFill>
                  <a:srgbClr val="66798A"/>
                </a:solidFill>
              </a:rPr>
              <a:t>0–1 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57BD8-513E-4731-871C-7AB27846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05125"/>
            <a:ext cx="1476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1CDBE-E113-4CEF-8FCD-A1E1E3A1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57525"/>
            <a:ext cx="1323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撈數據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16AE2-D450-4B88-9CDA-BD19009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0.5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89D7FC-61AB-4555-B248-2A3AB0A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905125"/>
            <a:ext cx="457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11CF2-ED42-4D82-BCAB-086205F8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57525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判讀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2B2281-3C05-4540-8F74-AC5D6A1C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71850"/>
            <a:ext cx="4419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1–3 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6BEA7-A07B-4ABF-A37E-148A9486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05125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04D52-2DF8-4216-BE9E-56CA507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057525"/>
            <a:ext cx="1228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內部覆核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75187-DBF4-4F67-A076-BCA8A614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371850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</a:defRPr>
            </a:pPr>
            <a:r>
              <a:rPr sz="1050" b="0">
                <a:solidFill>
                  <a:srgbClr val="66798A"/>
                </a:solidFill>
              </a:rPr>
              <a:t>0.5 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C2622-9797-467E-A37D-FCCD4AB0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05125"/>
            <a:ext cx="142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1A391F-7AA3-4C15-A05E-EA950469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575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寫報回信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8EF0F7-493D-40B3-B949-515F2443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7185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98A"/>
                </a:solidFill>
              </a:defRPr>
            </a:pPr>
            <a:r>
              <a:rPr sz="1050" b="0">
                <a:solidFill>
                  <a:srgbClr val="66798A"/>
                </a:solidFill>
              </a:rPr>
              <a:t>0.5 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651A24-50C8-4848-9C5E-5DC11CE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857625"/>
            <a:ext cx="704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76409-AE36-422E-8203-2A460884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7197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E67E2E"/>
                </a:solidFill>
              </a:defRPr>
            </a:pPr>
            <a:r>
              <a:rPr sz="1275" b="1">
                <a:solidFill>
                  <a:srgbClr val="E67E2E"/>
                </a:solidFill>
              </a:rPr>
              <a:t>AI 可介入段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F3912-5F8F-4905-8CCB-9807225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48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67E2E"/>
                </a:solidFill>
              </a:defRPr>
            </a:pPr>
            <a:r>
              <a:rPr sz="2700" b="1">
                <a:solidFill>
                  <a:srgbClr val="E67E2E"/>
                </a:solidFill>
              </a:rPr>
              <a:t>43%–78%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79C58-8875-4D36-B345-1B0D4212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186495-0DA5-4F15-9F87-40CB4333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今日利用率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9E80D3-78E4-4AEC-9174-3099227A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000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</a:defRPr>
            </a:pPr>
            <a:r>
              <a:rPr sz="1725" b="1">
                <a:solidFill>
                  <a:srgbClr val="1E4F78"/>
                </a:solidFill>
              </a:rPr>
              <a:t>74%–107%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C2F42C-91EF-47C7-AB57-E411CB17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981575"/>
            <a:ext cx="32194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4B002-9D87-464F-9A89-9A88B9C6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33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尖峰徵調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1DE5B-091B-4F27-9A09-4E4A701E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81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F78"/>
                </a:solidFill>
              </a:defRPr>
            </a:pPr>
            <a:r>
              <a:rPr sz="1725" b="1">
                <a:solidFill>
                  <a:srgbClr val="1E4F78"/>
                </a:solidFill>
              </a:rPr>
              <a:t>7 位研發工程師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240C00-3EC4-44AC-A95A-8789EED8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981575"/>
            <a:ext cx="3829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880A55-4162-4868-9810-720ED5E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339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7791F"/>
                </a:solidFill>
              </a:defRPr>
            </a:pPr>
            <a:r>
              <a:rPr sz="1050" b="1">
                <a:solidFill>
                  <a:srgbClr val="B7791F"/>
                </a:solidFill>
              </a:rPr>
              <a:t>證據界線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9B5A81-97C3-4495-AAC2-21A9C5D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816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</a:rPr>
              <a:t>批次暫非瓶頸；深挖吞吐 W1–6 驗證</a:t>
            </a:r>
          </a:p>
        </p:txBody>
      </p:sp>
    </p:spTree>
    <p:extLst>
      <p:ext uri="{BB962C8B-B14F-4D97-AF65-F5344CB8AC3E}">
        <p14:creationId xmlns:p14="http://schemas.microsoft.com/office/powerpoint/2010/main" val="812343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96B627-C8E0-47DD-BD8E-676AAC12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發現過程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F34860C-5615-4794-B2EA-954B93F1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一件真實批次顯示：八成三的誤報集中在同一根因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4264F-580B-40BE-A614-6683D3DD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1,647 筆樣本｜5 人 × 3.6 個工作日｜同一判準下拆出可工程化靶心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73738-055A-4050-B1C4-40308CC4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CFC34-7061-470D-8F0B-9F07B4CC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C3DC0-4555-4880-BF0F-6F1F9C01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4E4A2-3453-4A28-98CB-AF1A41B4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6BB2C-7AFC-44D6-87E3-B048F7B4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9F011-DE34-4A3C-BCA8-99B61138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</a:defRPr>
            </a:pPr>
            <a:r>
              <a:rPr sz="2625" b="1">
                <a:solidFill>
                  <a:srgbClr val="1E4F78"/>
                </a:solidFill>
              </a:rPr>
              <a:t>1,647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9CABC-52F9-4474-A549-B7C902F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事件樣本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144D8-5971-46B3-A6CE-DA512646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866900"/>
            <a:ext cx="23336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E89D9-675D-4DA9-9308-B3A7C3FA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28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</a:defRPr>
            </a:pPr>
            <a:r>
              <a:rPr sz="2625" b="1">
                <a:solidFill>
                  <a:srgbClr val="1E4F78"/>
                </a:solidFill>
              </a:rPr>
              <a:t>144 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F9CC5-E16E-4913-AFD3-A245482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90800"/>
            <a:ext cx="1990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人工判讀時間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E4D8FC-7A88-493B-AAE5-D9A21D13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5D5ACF-1BAE-48FA-AD94-DC9E3360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28825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</a:defRPr>
            </a:pPr>
            <a:r>
              <a:rPr sz="2625" b="1">
                <a:solidFill>
                  <a:srgbClr val="1E4F78"/>
                </a:solidFill>
              </a:rPr>
              <a:t>124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310DC-1EF1-4C0F-BEE8-63FDBB34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全部誤報｜ADAS 104 + DMS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99630-20C2-423C-9D5C-0D42B76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62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70550-8590-42D8-8B19-31FA91BF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288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B42318"/>
                </a:solidFill>
              </a:defRPr>
            </a:pPr>
            <a:r>
              <a:rPr sz="2625" b="1">
                <a:solidFill>
                  <a:srgbClr val="B42318"/>
                </a:solidFill>
              </a:rPr>
              <a:t>83%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AB314-9A3E-4D00-9867-1BCDAB8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90800"/>
            <a:ext cx="2419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103 / 124 為交通標誌根因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530A5-DAFC-4E36-9C0E-C59F108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98A"/>
                </a:solidFill>
              </a:defRPr>
            </a:pPr>
            <a:r>
              <a:rPr sz="1200" b="1">
                <a:solidFill>
                  <a:srgbClr val="66798A"/>
                </a:solidFill>
              </a:rPr>
              <a:t>誤報根因集中度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E872F-EEC9-411D-A14A-0A1B5BE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5727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49FE0-9595-4DA2-8D65-A6B874EC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772525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7E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038FE-F411-4AEE-BD6C-8535CEFF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交通標誌辨識 103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E43EAF-B82A-44C9-AF99-93A568CF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243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6798A"/>
                </a:solidFill>
              </a:defRPr>
            </a:pPr>
            <a:r>
              <a:rPr sz="1200" b="1">
                <a:solidFill>
                  <a:srgbClr val="66798A"/>
                </a:solidFill>
              </a:rPr>
              <a:t>其他 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7CBCF-CF2D-404E-9B9D-626D27A0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10572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E4F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60266-87E4-412C-9121-DD705C49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672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</a:defRPr>
            </a:pPr>
            <a:r>
              <a:rPr sz="1125" b="1">
                <a:solidFill>
                  <a:srgbClr val="E67E2E"/>
                </a:solidFill>
              </a:rPr>
              <a:t>決策含義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216C0-9CBF-4139-BD5D-532809EF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53025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A"/>
                </a:solidFill>
              </a:defRPr>
            </a:pPr>
            <a:r>
              <a:rPr sz="1875" b="1">
                <a:solidFill>
                  <a:srgbClr val="17324A"/>
                </a:solidFill>
              </a:rPr>
              <a:t>先做可逐條檢查的規則式脈絡基線，再證明 VLM 帶來的增量。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6A9F91-E657-4A16-9789-C5B05698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</a:defRPr>
            </a:pPr>
            <a:r>
              <a:rPr sz="1200" b="0">
                <a:solidFill>
                  <a:srgbClr val="66798A"/>
                </a:solidFill>
              </a:rPr>
              <a:t>速限資料已存在；不必先買模型，也不必先承諾部署。</a:t>
            </a:r>
          </a:p>
        </p:txBody>
      </p:sp>
    </p:spTree>
    <p:extLst>
      <p:ext uri="{BB962C8B-B14F-4D97-AF65-F5344CB8AC3E}">
        <p14:creationId xmlns:p14="http://schemas.microsoft.com/office/powerpoint/2010/main" val="10798747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567A9-FB17-4F39-9C8C-B22BA77F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發現過程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592FF40-504E-42D3-B888-F864300D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看得見的誤報有證據；看不見的漏放只有一份薄樣本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0BE30-EC71-450B-B5B7-891FB79F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兩側證據強度的落差，正是第一筆錢應該買量測的理由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A812-C890-4521-A883-7CFC6203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88B25-BCED-4BA6-8D2D-941BFA55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27527-FB3F-4821-880F-39811E98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F03D9-114C-4DBB-B0E7-C52C26F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A74E4-DE4D-4C97-B252-96AE5607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8577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C736E-9CAC-4D4F-BC94-0AB4D039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F78"/>
                </a:solidFill>
              </a:defRPr>
            </a:pPr>
            <a:r>
              <a:rPr sz="1875" b="1">
                <a:solidFill>
                  <a:srgbClr val="1E4F78"/>
                </a:solidFill>
              </a:rPr>
              <a:t>看得見｜誤報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7F895-F9F3-485D-B18B-E0123976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</a:defRPr>
            </a:pPr>
            <a:r>
              <a:rPr sz="2550" b="1">
                <a:solidFill>
                  <a:srgbClr val="17324A"/>
                </a:solidFill>
              </a:rPr>
              <a:t>1,647 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61D49-54C0-4B83-A974-1F27663C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717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98A"/>
                </a:solidFill>
              </a:defRPr>
            </a:pPr>
            <a:r>
              <a:rPr sz="1200" b="0">
                <a:solidFill>
                  <a:srgbClr val="66798A"/>
                </a:solidFill>
              </a:rPr>
              <a:t>獨立批次母體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C36C5-C3BB-4D2C-A2E6-12AD3C4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F78"/>
                </a:solidFill>
              </a:defRPr>
            </a:pPr>
            <a:r>
              <a:rPr sz="2100" b="1">
                <a:solidFill>
                  <a:srgbClr val="1E4F78"/>
                </a:solidFill>
              </a:rPr>
              <a:t>124 筆誤報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03B95-3811-4FA2-98D5-852E5A7B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7E2E"/>
                </a:solidFill>
              </a:defRPr>
            </a:pPr>
            <a:r>
              <a:rPr sz="1725" b="1">
                <a:solidFill>
                  <a:srgbClr val="E67E2E"/>
                </a:solidFill>
              </a:rPr>
              <a:t>103 / 124 同一根因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7AE3A-928A-4A58-B874-E454E44E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746"/>
                </a:solidFill>
              </a:defRPr>
            </a:pPr>
            <a:r>
              <a:rPr sz="1275" b="0">
                <a:solidFill>
                  <a:srgbClr val="263746"/>
                </a:solidFill>
              </a:rPr>
              <a:t>證據可直接連到規則基線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7E7C1-5291-4205-989E-D1F9A60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57375"/>
            <a:ext cx="5467350" cy="3181350"/>
          </a:xfrm>
          <a:prstGeom xmlns:a="http://schemas.openxmlformats.org/drawingml/2006/main" prst="roundRect">
            <a:avLst>
              <a:gd name="adj" fmla="val 359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9050">
            <a:solidFill>
              <a:srgbClr val="B423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25146-AD0C-4FF6-BD48-15EA907E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</a:defRPr>
            </a:pPr>
            <a:r>
              <a:rPr sz="1875" b="1">
                <a:solidFill>
                  <a:srgbClr val="B42318"/>
                </a:solidFill>
              </a:rPr>
              <a:t>看不見｜漏放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9F745-98DC-44EF-917E-CB77830D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67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24A"/>
                </a:solidFill>
              </a:defRPr>
            </a:pPr>
            <a:r>
              <a:rPr sz="2550" b="1">
                <a:solidFill>
                  <a:srgbClr val="17324A"/>
                </a:solidFill>
              </a:rPr>
              <a:t>39 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50E0B2-3C5C-458C-9E7C-F011F2B4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一次性人工觸發測試｜自註為下限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452799-C305-4187-B79D-9E32E1C9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861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42318"/>
                </a:solidFill>
              </a:defRPr>
            </a:pPr>
            <a:r>
              <a:rPr sz="2100" b="1">
                <a:solidFill>
                  <a:srgbClr val="B42318"/>
                </a:solidFill>
              </a:rPr>
              <a:t>12 / 39 漏偵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32572-9929-4877-A08F-117A3B1E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其中 6 / 12 為低光或雨天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8A4202-F633-4541-AF9E-16FC73E8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71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746"/>
                </a:solidFill>
              </a:defRPr>
            </a:pPr>
            <a:r>
              <a:rPr sz="1425" b="0">
                <a:solidFill>
                  <a:srgbClr val="263746"/>
                </a:solidFill>
              </a:rPr>
              <a:t>10 / 39 尚無法歸類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17D86-2B08-4679-B313-10E84A83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572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3ABAC-4EA3-4B2E-869C-A6B6FAE3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578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</a:defRPr>
            </a:pPr>
            <a:r>
              <a:rPr sz="1125" b="1">
                <a:solidFill>
                  <a:srgbClr val="E67E2E"/>
                </a:solidFill>
              </a:rPr>
              <a:t>W1–6 交付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B2C55-BE48-404C-A393-762C8559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91150"/>
            <a:ext cx="847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A"/>
                </a:solidFill>
              </a:defRPr>
            </a:pPr>
            <a:r>
              <a:rPr sz="1725" b="1">
                <a:solidFill>
                  <a:srgbClr val="17324A"/>
                </a:solidFill>
              </a:rPr>
              <a:t>凍結評估集｜帶 95% 信賴區間的漏放率｜複核者一致性基準</a:t>
            </a:r>
          </a:p>
        </p:txBody>
      </p:sp>
    </p:spTree>
    <p:extLst>
      <p:ext uri="{BB962C8B-B14F-4D97-AF65-F5344CB8AC3E}">
        <p14:creationId xmlns:p14="http://schemas.microsoft.com/office/powerpoint/2010/main" val="1733362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7C99F0-41DA-4524-9A11-A00B9E6E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策略選擇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43003430-A263-4DB4-BD97-64AAD190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先做規則，再用第 6 週證據決定是否投 VLM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D28C1-C26F-40C2-833F-E72C23CB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四條路用同一把尺比較：量化效果、成本形狀、反悔成本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130D2-E811-423C-BD6E-06B3A85A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80364-A377-4FCC-B03E-A5621357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121D0-1492-409C-9558-3DBBDBF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D0617-D959-4AD8-9534-D70AD888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38BC0-C639-41FB-B6F3-6F06277D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選項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51FB1-AA5F-4BCA-B224-C0C08B92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量化依據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6EFDF-4F50-423E-8F07-8189914E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成本形狀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25977-2A34-4DB5-8FA6-7BC7A53C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可停止性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B0D01-DE6E-4C90-AC64-7840A653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ED8CA-949B-4A4B-857C-B1997F40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</a:rPr>
              <a:t>加人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D0729-A090-438F-8263-77947925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覆蓋全客戶需 17–24 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74EA7-DE07-46C2-B8E9-F4709EEA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線性常態支出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F1BA9-9C20-4126-9B9C-C5B2A444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288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低｜編制留下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072DC-19A7-48F1-BF7A-E6E77EEB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3987AF-ABF7-4555-ABB3-F21BC562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</a:rPr>
              <a:t>調班＋尖峰池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20719-8120-485A-B7A0-88EFE0D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718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只動等待／排隊 0–1 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F736E-6F46-4BBF-A2CF-21A5AEDA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線性、削峰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C0E6A-8716-495F-9917-F5F57974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71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高｜G1 可轉向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1CFC6-2200-4DA4-A68F-A87D6088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D17AB5-8602-4ED0-B587-B0E7AFD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</a:rPr>
              <a:t>規則式脈絡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0D8727-9976-4F1B-8BD5-E94D2D3E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103 / 124 同一根因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10991-9A01-46F0-8671-765AD627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一次性下移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DADB05-BDA6-4AE1-9A0A-AF74CA2A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14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高｜逐條回退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FF0091-32AD-458E-9646-E00EB602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085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E4F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487F3-4BAA-4146-B842-BE075D4F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4F78"/>
                </a:solidFill>
              </a:defRPr>
            </a:pPr>
            <a:r>
              <a:rPr sz="1350" b="1">
                <a:solidFill>
                  <a:srgbClr val="1E4F78"/>
                </a:solidFill>
              </a:rPr>
              <a:t>地端 VLM 影子試驗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AA26F-CA3C-48BE-A91F-E355DD44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W1–6 定義門檻；六個月對外 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FAA6E-F711-4759-BA6E-256ACE06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746"/>
                </a:solidFill>
              </a:defRPr>
            </a:pPr>
            <a:r>
              <a:rPr sz="1200" b="0">
                <a:solidFill>
                  <a:srgbClr val="263746"/>
                </a:solidFill>
              </a:rPr>
              <a:t>次線性潛力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9FA3B9-2B3B-4336-B508-C076FAE6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577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</a:defRPr>
            </a:pPr>
            <a:r>
              <a:rPr sz="1200" b="1">
                <a:solidFill>
                  <a:srgbClr val="1E4F78"/>
                </a:solidFill>
              </a:rPr>
              <a:t>中高｜G1/G2/G3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FA48C9-75CD-4E7F-A138-7EFAEC57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57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E9DB40-6C1E-460E-A6A1-CE33F558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</a:defRPr>
            </a:pPr>
            <a:r>
              <a:rPr sz="1125" b="1">
                <a:solidFill>
                  <a:srgbClr val="E67E2E"/>
                </a:solidFill>
              </a:rPr>
              <a:t>推薦組合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AA2D16-18A7-42F4-BCA2-8B26F063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054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24A"/>
                </a:solidFill>
              </a:defRPr>
            </a:pPr>
            <a:r>
              <a:rPr sz="1650" b="1">
                <a:solidFill>
                  <a:srgbClr val="17324A"/>
                </a:solidFill>
              </a:rPr>
              <a:t>規則式基線現在做；VLM 只核准影子試驗，G1 保留轉回調班方案的出口。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BF45A5-264D-4C1E-9877-EE1D6934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245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</a:defRPr>
            </a:pPr>
            <a:r>
              <a:rPr sz="1050" b="0">
                <a:solidFill>
                  <a:srgbClr val="66798A"/>
                </a:solidFill>
              </a:rPr>
              <a:t>競爭差異：沿用既有兩階段推論與自有脈絡資料，不以堆疊車端算力取勝。</a:t>
            </a:r>
          </a:p>
        </p:txBody>
      </p:sp>
    </p:spTree>
    <p:extLst>
      <p:ext uri="{BB962C8B-B14F-4D97-AF65-F5344CB8AC3E}">
        <p14:creationId xmlns:p14="http://schemas.microsoft.com/office/powerpoint/2010/main" val="1150606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7DC605-D6E6-4941-BDC1-10CF8C2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業務影響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B9D12CD-8515-4A85-AFA7-49D48BC0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真正的說服力，是把方案自己新增的風險也算進去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6ED2F-2DF4-4969-9FC5-B4B925E5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完整風險登錄 10 項；主片只留 6 項最會改變放行決策的風險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1A64F-4656-485D-B9F2-C670CCC9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BFF75-4003-43F8-9F78-5EEE776E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6DBDB-EF1F-43CD-82EF-D1B48EF5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44B97-D033-4B49-8DB4-393CB698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43FF9-8243-4B38-A21B-2C4ECE15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風險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8B474-45AB-449D-A64D-9C8C2CBF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430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緩解與當責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2B59EB-7215-48AD-83D4-AF53EC29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7430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失效／停止訊號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AD844-2A04-43A1-96C4-94D4E009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01115A-99C0-4F0C-8CF5-1D90379D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24A"/>
                </a:solidFill>
              </a:defRPr>
            </a:pPr>
            <a:r>
              <a:rPr sz="1163" b="1">
                <a:solidFill>
                  <a:srgbClr val="17324A"/>
                </a:solidFill>
              </a:rPr>
              <a:t>R2 判準不一致／資料級聯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1018A-542C-4C2E-BA24-D527750C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黃金題＋抽樣雙人複核｜數據負責人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27069-DA57-4A3E-8237-2E54C11A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1621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根因占比偏離基準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3F980-679F-40ED-BED4-680E6706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06AE4-0F38-487B-BCB2-69112493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24A"/>
                </a:solidFill>
              </a:defRPr>
            </a:pPr>
            <a:r>
              <a:rPr sz="1163" b="1">
                <a:solidFill>
                  <a:srgbClr val="17324A"/>
                </a:solidFill>
              </a:rPr>
              <a:t>R3 自動化偏差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D713E-73AE-44AC-A894-66A6FE56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不顯示模型信心＋盲測｜業務負責人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96195-C128-4C7F-876D-C1C7514B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098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盲測組與對照組差異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0DC1C3-3295-4A10-8D5A-8CCCA262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12E1E-AA8D-402C-B6C0-A189E578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24A"/>
                </a:solidFill>
              </a:defRPr>
            </a:pPr>
            <a:r>
              <a:rPr sz="1163" b="1">
                <a:solidFill>
                  <a:srgbClr val="17324A"/>
                </a:solidFill>
              </a:rPr>
              <a:t>R7 缺管理層支持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241C5-BBFB-4BB5-B209-1BC7C570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贊助人指派＋門會出席｜專案贊助人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9B9E3-BB79-4059-8434-1C389E06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575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連續兩次無高階出席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86F8D-73A2-471D-9F0C-546A04F1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86B78-87FF-4477-B42A-25D62C76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2318"/>
                </a:solidFill>
              </a:defRPr>
            </a:pPr>
            <a:r>
              <a:rPr sz="1163" b="1">
                <a:solidFill>
                  <a:srgbClr val="B42318"/>
                </a:solidFill>
              </a:rPr>
              <a:t>R8 既有誤報的法律地位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E280D8-5099-42FB-92E5-9B433F9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052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G1 前取得法務書面意見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29D2D3-7CC2-4FFB-8D5C-D66FB7E4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052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</a:defRPr>
            </a:pPr>
            <a:r>
              <a:rPr sz="1065" b="1">
                <a:solidFill>
                  <a:srgbClr val="B42318"/>
                </a:solidFill>
              </a:rPr>
              <a:t>目前尚無可執行緩解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389E1-9770-4D8C-85FB-881A1623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182B9-FC39-4683-BD4F-1AA1DFEB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2318"/>
                </a:solidFill>
              </a:defRPr>
            </a:pPr>
            <a:r>
              <a:rPr sz="1163" b="1">
                <a:solidFill>
                  <a:srgbClr val="B42318"/>
                </a:solidFill>
              </a:rPr>
              <a:t>R9 自動結案造成漏放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56AEA-4B2C-489D-9C8D-CDB5FC0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529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六個月影子模式＋G1 核定安全紅線類別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4C172A-9FF7-4889-B0A0-A2D71D7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529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</a:defRPr>
            </a:pPr>
            <a:r>
              <a:rPr sz="1065" b="1">
                <a:solidFill>
                  <a:srgbClr val="B42318"/>
                </a:solidFill>
              </a:rPr>
              <a:t>漏濾率差值 95% 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6E11B-4590-4BDF-9A86-3AB4F63D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95900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2B8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8C09DE-B834-48D8-8E65-345EFDFD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42318"/>
                </a:solidFill>
              </a:defRPr>
            </a:pPr>
            <a:r>
              <a:rPr sz="1163" b="1">
                <a:solidFill>
                  <a:srgbClr val="B42318"/>
                </a:solidFill>
              </a:rPr>
              <a:t>R10 自動結案造成冤枉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AD5929-2398-443E-AE81-271BD1E3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0067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263746"/>
                </a:solidFill>
              </a:defRPr>
            </a:pPr>
            <a:r>
              <a:rPr sz="1065" b="0">
                <a:solidFill>
                  <a:srgbClr val="263746"/>
                </a:solidFill>
              </a:rPr>
              <a:t>申訴強制轉人工，且不用同一模型複判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59108F-6079-4A90-89BB-CA2B755B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4006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B42318"/>
                </a:solidFill>
              </a:defRPr>
            </a:pPr>
            <a:r>
              <a:rPr sz="1065" b="1">
                <a:solidFill>
                  <a:srgbClr val="B42318"/>
                </a:solidFill>
              </a:rPr>
              <a:t>申訴率與翻案率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86FB0F-A63C-4B46-B77A-D7F116AA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R9 / R10 是本方案新增的風險；放行責任在移交後的獨立 G4，不在本次核准範圍。</a:t>
            </a:r>
          </a:p>
        </p:txBody>
      </p:sp>
    </p:spTree>
    <p:extLst>
      <p:ext uri="{BB962C8B-B14F-4D97-AF65-F5344CB8AC3E}">
        <p14:creationId xmlns:p14="http://schemas.microsoft.com/office/powerpoint/2010/main" val="136233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1EA7BFB-EDE4-45C8-A29E-4211381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業務影響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9694B211-460C-403E-974B-D960EAAD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六個月只核准影子模式；移交後仍有 7 項未達標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7E701-EDBE-4825-908B-05EF8AB6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移交後若通過獨立放行門，每 1,000 筆爭議最多約 850 筆不再人工覆核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944B6-220F-40A9-8F0A-B415DF9F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D5241-1CDC-457E-B05F-85179FBE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ACF28-48F3-49EE-8603-94A4E761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C9E09-C890-4117-92E9-5200BF02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D6D6E-999C-48CE-85D5-7C0307F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98A"/>
                </a:solidFill>
              </a:defRPr>
            </a:pPr>
            <a:r>
              <a:rPr sz="1125" b="1">
                <a:solidFill>
                  <a:srgbClr val="66798A"/>
                </a:solidFill>
              </a:rPr>
              <a:t>澳洲 AI 倫理八原則（2019）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CF172C-C67E-425A-B316-F62CE022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4F78"/>
                </a:solidFill>
              </a:defRPr>
            </a:pPr>
            <a:r>
              <a:rPr sz="1125" b="1">
                <a:solidFill>
                  <a:srgbClr val="1E4F78"/>
                </a:solidFill>
              </a:rPr>
              <a:t>專案期｜影子模式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3E29A-7D8D-41F2-9AB8-48CDB003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43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移交後｜開到天花板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CA444-63E7-4CD0-A631-A00419FE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BE5B0-6220-4371-BD06-015812B5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1 人類、社會與環境福祉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E0524-1082-4AE7-8568-82D62E9F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00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D6119-3E5B-4ED1-BCCE-77B506C8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336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同人力承接更高量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25D6D-A133-4835-BD17-B690E39B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0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5E808-D076-436A-8573-F86641DD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133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約 850 / 1,000 無人看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8A632-6000-4FD2-9A93-E0C7DFF0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A319E-B3D2-444B-9FE3-DF34D2A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2 以人為本的價值觀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F5AB6-7969-42B4-88C2-41BFA0D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A4DD7-3C41-4291-9D27-E276B18F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193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人仍逐筆判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DF796-4261-467F-AD4E-6A946D90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B72D9-8D54-4E76-9B40-356948B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19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機器做終局判定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8162E-D465-43CB-9222-12BD1F54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559FB4-9931-45D7-AEC3-63D9EDAA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3 公平性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2A61A-1567-4E06-8492-0F5B30E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1D45B-C878-4295-A767-B41DED71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051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配給制未解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8F26CC-88DB-4550-9415-946FB47D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8B0DA4-9608-47C0-9278-9992BB91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05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改由機器信心配給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AF0946-E330-4A72-B323-D20951E1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C7D2D-0C22-46FE-9DAE-25F57925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4 隱私保護與安全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A6FB76-0D39-4EBF-A5A6-64056A3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E11A9F-4B2B-40CF-A8E6-CDBCE25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909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擴大影像調閱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7641EE-BA37-4922-8596-8BD2E413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57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9C25D8-684C-48E5-AF45-A4E5A032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909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不因自動結案額外惡化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267DF-A84B-47E7-ABA3-6EFB9DFC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0063F-3869-46BD-B822-BFEB3B7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5 可靠性與安全性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7166D3-E6E5-464B-96BF-CC3B240C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88F440-4F6D-4AD9-ABB8-47AEBF81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7670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漏放率基準尚缺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67A3AB-EFFF-4CE1-BEA7-57F7DDFF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A76DAE-5B1E-4527-A970-8102D58D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76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尚無部署證據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A3CFAB-EFC1-4EE8-AB5F-6A74F65C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BAE45F-A6DB-4E13-8B67-83B0D56A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8152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6 透明性與解釋性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10ECE9-0F5D-4F5F-88B3-6461D24A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D24244-4A6E-4F37-BF3D-3399C78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6247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只記錄、只比對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E30A03-5902-4251-8FF3-30E5F701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382D29-9C86-48CA-9F47-11675D13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624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客戶揭露層級未定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8579BE-2D24-4E22-BF6B-0D44E3F6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A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A783DE-D78A-4E42-B029-CC01399B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24A"/>
                </a:solidFill>
              </a:defRPr>
            </a:pPr>
            <a:r>
              <a:rPr sz="1125" b="1">
                <a:solidFill>
                  <a:srgbClr val="17324A"/>
                </a:solidFill>
              </a:rPr>
              <a:t>7 可申訴性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6F9B6B-B8D7-4619-924C-53403082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14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B43EA0-70C3-439B-8E16-5EA6E9ED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482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駕駛本人無管道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F442C3-BDDE-42E7-803A-A10C2A1A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14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97636A-62C7-4091-A126-C2B40DEC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部署否決條件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BE6648-1761-4A8D-9302-501B36D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858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6CEC02-CE07-4C4C-9A5F-129A4082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24A"/>
                </a:solidFill>
              </a:defRPr>
            </a:pPr>
            <a:r>
              <a:rPr sz="1125" b="0">
                <a:solidFill>
                  <a:srgbClr val="17324A"/>
                </a:solidFill>
              </a:rPr>
              <a:t>8 問責性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4319D0-59EA-4995-91AD-2E46138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60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F4289E-1454-4DAE-864C-D623E7FF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534025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RACI 與三道專案門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54FA88-6B1D-4B95-85A6-A53B1680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0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F8DD58-54AD-463D-8E0D-6222BFCC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534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單案無人簽名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BD2F4A-AF93-4420-80FC-110EEBFF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0572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3EA892-148D-442A-A838-9771C434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86475"/>
            <a:ext cx="1032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G4 是移交後的獨立部署門；未通過前，任何 AI 結案判定都不得對外生效。</a:t>
            </a:r>
          </a:p>
        </p:txBody>
      </p:sp>
    </p:spTree>
    <p:extLst>
      <p:ext uri="{BB962C8B-B14F-4D97-AF65-F5344CB8AC3E}">
        <p14:creationId xmlns:p14="http://schemas.microsoft.com/office/powerpoint/2010/main" val="6873351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5446DE-7FBF-4D4D-ABC7-7448E6C6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效益與衡量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B82F8BD1-99AD-4A1B-B3ED-D54C20F9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成功不是『模型更準』；而是 2 天內回覆，並保留一票否決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029E0-2EA8-4FD0-83B2-78CD366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業務成果 → 營運驅動 → 否決型護欄，目標與責任落在不同決策門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7B4DE-69BA-4D49-8DF0-6E61FD2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86A58-E7F9-4246-9502-1246E618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07779-B144-4159-9919-F5EC3FF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EDE9F-97CC-42D4-A2F4-D430D356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E2CF7-C2D9-47AD-AA88-E1D09B09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2381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63941-6B9C-4EA7-9ED8-B09FA5EA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2–5 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CEB2F-F80F-46B1-81D9-21A5150F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→ 2 天內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4FD3B-85B3-4327-9129-3392B711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3367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CEAF4"/>
                </a:solidFill>
              </a:defRPr>
            </a:pPr>
            <a:r>
              <a:rPr sz="900" b="0">
                <a:solidFill>
                  <a:srgbClr val="DCEAF4"/>
                </a:solidFill>
              </a:rPr>
              <a:t>主要業務價值指標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22EC9-4BB6-44BF-B49C-FAFA8FD7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4EADD-5E35-4812-BA96-83568052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</a:defRPr>
            </a:pPr>
            <a:r>
              <a:rPr sz="2625" b="1">
                <a:solidFill>
                  <a:srgbClr val="1E4F78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7C124-6A41-4D83-961E-3FC2EA49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期內人工驗證涵蓋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699BE-D1EC-447E-8420-7A4F2F5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A58FDD-CDF7-4E35-B4A1-0910FA6C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E4F78"/>
                </a:solidFill>
              </a:defRPr>
            </a:pPr>
            <a:r>
              <a:rPr sz="2625" b="1">
                <a:solidFill>
                  <a:srgbClr val="1E4F78"/>
                </a:solidFill>
              </a:rPr>
              <a:t>13,000+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75AD1-3965-4A75-B727-6EF2D23E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事件／日目標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2FCA87-4036-45D9-9426-77A6BA4C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65CC5-F53B-464A-85F6-C3DA6740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67E2E"/>
                </a:solidFill>
              </a:defRPr>
            </a:pPr>
            <a:r>
              <a:rPr sz="1875" b="1">
                <a:solidFill>
                  <a:srgbClr val="E67E2E"/>
                </a:solidFill>
              </a:rPr>
              <a:t>NT$520–1,521萬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5BB16-36C9-4ACD-A2F2-710A0259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955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可避免增聘／年｜移交後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68CE7-1050-4D0C-9C94-267129E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</a:defRPr>
            </a:pPr>
            <a:r>
              <a:rPr sz="1050" b="1">
                <a:solidFill>
                  <a:srgbClr val="1E4F78"/>
                </a:solidFill>
              </a:rPr>
              <a:t>營運驅動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BA00C-CAB0-4EB4-8C3A-7E921418F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C3082-E177-4117-8A08-E479E765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</a:defRPr>
            </a:pPr>
            <a:r>
              <a:rPr sz="1200" b="1">
                <a:solidFill>
                  <a:srgbClr val="1E4F78"/>
                </a:solidFill>
              </a:rPr>
              <a:t>單位人工工時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D1804-C829-457C-84FE-89C30ACF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兩條工作流 W6 正式量測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BA8A97-DCDB-4E8D-963C-8FB841B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EE2E31-891E-41E5-8D16-DB177D66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</a:defRPr>
            </a:pPr>
            <a:r>
              <a:rPr sz="1200" b="1">
                <a:solidFill>
                  <a:srgbClr val="1E4F78"/>
                </a:solidFill>
              </a:rPr>
              <a:t>ADAS 誤報率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3278E-16CC-46F7-87B1-FF19DDEB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10.1% 基準 → G1 重訂 &lt;7% 目標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BEFFF-1F0A-4E0A-95A6-CBB7FF09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3286125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B40BB-4938-417B-8C5A-286ED69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14750"/>
            <a:ext cx="2981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</a:defRPr>
            </a:pPr>
            <a:r>
              <a:rPr sz="1200" b="1">
                <a:solidFill>
                  <a:srgbClr val="1E4F78"/>
                </a:solidFill>
              </a:rPr>
              <a:t>尖峰研發人時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61327-0419-4C00-9FD7-FB53BBC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0025"/>
            <a:ext cx="2981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63746"/>
                </a:solidFill>
              </a:defRPr>
            </a:pPr>
            <a:r>
              <a:rPr sz="1050" b="0">
                <a:solidFill>
                  <a:srgbClr val="263746"/>
                </a:solidFill>
              </a:rPr>
              <a:t>期內先建基準；移交後歸零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BD1799-4D66-416A-B96D-89E17AC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10858500" cy="13716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91045-C17F-427B-9DD6-4D52A68E9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</a:defRPr>
            </a:pPr>
            <a:r>
              <a:rPr sz="1050" b="1">
                <a:solidFill>
                  <a:srgbClr val="B42318"/>
                </a:solidFill>
              </a:rPr>
              <a:t>護欄層｜否決型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5BD8B-A360-40F2-AC8B-A5142F53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</a:rPr>
              <a:t>漏放率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588C70-E8E8-435A-AD9C-D1A66709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</a:defRPr>
            </a:pPr>
            <a:r>
              <a:rPr sz="1013" b="0">
                <a:solidFill>
                  <a:srgbClr val="263746"/>
                </a:solidFill>
              </a:rPr>
              <a:t>W6 交 95% CI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CAA6FE-D429-40D7-89CE-01499A81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</a:rPr>
              <a:t>複核者一致性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8FED84-C3ED-4FAA-909D-5B775CA9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</a:defRPr>
            </a:pPr>
            <a:r>
              <a:rPr sz="1013" b="0">
                <a:solidFill>
                  <a:srgbClr val="263746"/>
                </a:solidFill>
              </a:rPr>
              <a:t>否決 G2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3A4C4-4905-4EBE-86F3-4B2BA8DA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</a:rPr>
              <a:t>資料可追溯率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902AE9-2AC9-4A41-9B87-EFD7D7EB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746"/>
                </a:solidFill>
              </a:defRPr>
            </a:pPr>
            <a:r>
              <a:rPr sz="1013" b="0">
                <a:solidFill>
                  <a:srgbClr val="263746"/>
                </a:solidFill>
              </a:rPr>
              <a:t>100%｜無中間值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1C9660-A450-4424-90F5-D3D83BD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1816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漏濾率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5E029F-7C75-4191-BF4E-A094D46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245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42318"/>
                </a:solidFill>
              </a:defRPr>
            </a:pPr>
            <a:r>
              <a:rPr sz="1013" b="1">
                <a:solidFill>
                  <a:srgbClr val="B42318"/>
                </a:solidFill>
              </a:rPr>
              <a:t>差值 95% CI ≤ G1 預註冊 δ</a:t>
            </a:r>
          </a:p>
        </p:txBody>
      </p:sp>
    </p:spTree>
    <p:extLst>
      <p:ext uri="{BB962C8B-B14F-4D97-AF65-F5344CB8AC3E}">
        <p14:creationId xmlns:p14="http://schemas.microsoft.com/office/powerpoint/2010/main" val="6826731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BE0F81-1156-4853-A414-69A3D9C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項目計畫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AFECC876-3174-4D78-951F-D6FD2342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前三包不是繞路：沒有量測，就沒有資格部署模型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B28AC-DDF8-4B15-9D15-B0DE2139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四階段、四臂比較、四道門；只有 WP-E 是 AI 主體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1485C-2D31-4F0A-84EC-06ECD62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36102-18D9-4A4F-A359-5F187350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6435B-5772-455F-B2D8-02BD123D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A2869-9972-4D64-A3D7-4C5AAEC5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4A219-E83F-464E-AC6E-D7A39CF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W1–6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0539B-6614-4371-9390-E9E5A7CC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W7–12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0DC55-7921-4A79-A74F-9F0976E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240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W13–24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49456-147A-4798-889A-9B2DCA02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240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798A"/>
                </a:solidFill>
              </a:defRPr>
            </a:pPr>
            <a:r>
              <a:rPr sz="1050" b="1">
                <a:solidFill>
                  <a:srgbClr val="66798A"/>
                </a:solidFill>
              </a:rPr>
              <a:t>移交後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A7837-4A2D-4FB1-B974-1D0E9F43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B1EDD-E679-4D06-BC4D-8C5D63F4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846D7-8251-4E4D-A9FA-94BEB621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28825"/>
            <a:ext cx="1905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97654-3574-4B3B-ADBC-E7D76F3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</a:defRPr>
            </a:pPr>
            <a:r>
              <a:rPr sz="1050" b="1">
                <a:solidFill>
                  <a:srgbClr val="17324A"/>
                </a:solidFill>
              </a:rPr>
              <a:t>評估底座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4932D-A230-4CA8-9783-0F81A412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81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96320C-3F18-49FD-8805-C5F00115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66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</a:defRPr>
            </a:pPr>
            <a:r>
              <a:rPr sz="990" b="1">
                <a:solidFill>
                  <a:srgbClr val="263746"/>
                </a:solidFill>
              </a:rPr>
              <a:t>WP-A｜凍結集・錯誤率・工時基準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E1E8D-B646-4289-84A8-3B95D6D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</a:defRPr>
            </a:pPr>
            <a:r>
              <a:rPr sz="1050" b="1">
                <a:solidFill>
                  <a:srgbClr val="17324A"/>
                </a:solidFill>
              </a:rPr>
              <a:t>判準品質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AFEDF-C318-4C4A-800D-C51FAA0C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14625"/>
            <a:ext cx="4762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F0E95-8809-45B0-9B8F-2A0AD4E1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</a:defRPr>
            </a:pPr>
            <a:r>
              <a:rPr sz="990" b="1">
                <a:solidFill>
                  <a:srgbClr val="263746"/>
                </a:solidFill>
              </a:rPr>
              <a:t>WP-B｜黃金題・一致性・判準手冊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556481-AA56-430B-A6F7-9A4062C5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</a:defRPr>
            </a:pPr>
            <a:r>
              <a:rPr sz="1050" b="1">
                <a:solidFill>
                  <a:srgbClr val="17324A"/>
                </a:solidFill>
              </a:rPr>
              <a:t>規則基線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C0C64-A69A-43A5-B4B9-A1A295C9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48025"/>
            <a:ext cx="3143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18843-2FF9-4118-8D0F-E7EEA700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</a:defRPr>
            </a:pPr>
            <a:r>
              <a:rPr sz="990" b="1">
                <a:solidFill>
                  <a:srgbClr val="263746"/>
                </a:solidFill>
              </a:rPr>
              <a:t>WP-C｜脈絡規則與可解釋對照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C1B227-1636-42A0-90F5-E7249FC9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</a:defRPr>
            </a:pPr>
            <a:r>
              <a:rPr sz="1050" b="1">
                <a:solidFill>
                  <a:srgbClr val="17324A"/>
                </a:solidFill>
              </a:rPr>
              <a:t>營運自動化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2477B-EE8F-4C3A-B914-77BD0F14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81425"/>
            <a:ext cx="342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399541-18EE-449D-B1C4-35EAFD7C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320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</a:defRPr>
            </a:pPr>
            <a:r>
              <a:rPr sz="990" b="1">
                <a:solidFill>
                  <a:srgbClr val="263746"/>
                </a:solidFill>
              </a:rPr>
              <a:t>WP-D｜證據包・2 天內回覆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416F7-8E89-4AC9-9FD1-C6508223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</a:defRPr>
            </a:pPr>
            <a:r>
              <a:rPr sz="1050" b="1">
                <a:solidFill>
                  <a:srgbClr val="17324A"/>
                </a:solidFill>
              </a:rPr>
              <a:t>地端 VLM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D969F-B61F-401C-A479-119340EB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14825"/>
            <a:ext cx="3524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72546-6288-45D5-9739-43F9167C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00550"/>
            <a:ext cx="3295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</a:defRPr>
            </a:pPr>
            <a:r>
              <a:rPr sz="990" b="1">
                <a:solidFill>
                  <a:srgbClr val="263746"/>
                </a:solidFill>
              </a:rPr>
              <a:t>WP-E｜離線試驗 → 影子模式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D8A147-A6BD-4A15-B88B-069687D8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24A"/>
                </a:solidFill>
              </a:defRPr>
            </a:pPr>
            <a:r>
              <a:rPr sz="1050" b="1">
                <a:solidFill>
                  <a:srgbClr val="17324A"/>
                </a:solidFill>
              </a:rPr>
              <a:t>治理移交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BC21F5-7DE9-4EE9-ACD6-69449D76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48225"/>
            <a:ext cx="2381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2C7313-3A23-4E6B-92A4-EB357E77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339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3746"/>
                </a:solidFill>
              </a:defRPr>
            </a:pPr>
            <a:r>
              <a:rPr sz="990" b="1">
                <a:solidFill>
                  <a:srgbClr val="263746"/>
                </a:solidFill>
              </a:rPr>
              <a:t>WP-F｜儀表板・文件・移交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649A4D-6145-4988-BEF0-FBB6ED90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D1269E-E0D6-4D18-B61C-83325BDE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</a:defRPr>
            </a:pPr>
            <a:r>
              <a:rPr sz="975" b="1">
                <a:solidFill>
                  <a:srgbClr val="1E4F78"/>
                </a:solidFill>
              </a:rPr>
              <a:t>G1｜W6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EF05E-A138-4740-89FB-D445449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門檻預註冊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可轉回調班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E77A0C-2BBC-4867-BA87-4F384891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6B8F47-0C13-43BE-A2AF-7EBC3397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</a:defRPr>
            </a:pPr>
            <a:r>
              <a:rPr sz="975" b="1">
                <a:solidFill>
                  <a:srgbClr val="1E4F78"/>
                </a:solidFill>
              </a:rPr>
              <a:t>G2｜W12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D66042-454A-472E-A87A-56917C1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四臂比較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工具＋人機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567DE6-B898-4742-8E68-F3F2C266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381625"/>
            <a:ext cx="1000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1C85A1-43A1-4A9C-B53F-90C36053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467350"/>
            <a:ext cx="923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4F78"/>
                </a:solidFill>
              </a:defRPr>
            </a:pPr>
            <a:r>
              <a:rPr sz="975" b="1">
                <a:solidFill>
                  <a:srgbClr val="1E4F78"/>
                </a:solidFill>
              </a:rPr>
              <a:t>G3｜W24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94083B-439C-4ED2-BCBC-2D646CBB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695950"/>
            <a:ext cx="923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部署決定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可不部署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481CC4-05A4-43A8-BB7C-AB933E7E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381625"/>
            <a:ext cx="1190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2E9FF8-FDDA-4BF7-9885-06FE10DA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467350"/>
            <a:ext cx="11144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</a:defRPr>
            </a:pPr>
            <a:r>
              <a:rPr sz="975" b="1">
                <a:solidFill>
                  <a:srgbClr val="B42318"/>
                </a:solidFill>
              </a:rPr>
              <a:t>G4｜移交後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57CBFD-A1E7-45B1-A9DC-AA6F760E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95950"/>
            <a:ext cx="11144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獨立放行</a:t>
            </a:r>
          </a:p>
          <a:p xmlns:a="http://schemas.openxmlformats.org/drawingml/2006/main">
            <a:pPr algn="ctr">
              <a:defRPr sz="863" b="0">
                <a:solidFill>
                  <a:srgbClr val="263746"/>
                </a:solidFill>
              </a:defRPr>
            </a:pPr>
            <a:r>
              <a:rPr sz="863" b="0">
                <a:solidFill>
                  <a:srgbClr val="263746"/>
                </a:solidFill>
              </a:rPr>
              <a:t>不在本案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0928F5-49E9-433E-9452-56AB708D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4F78"/>
                </a:solidFill>
              </a:defRPr>
            </a:pPr>
            <a:r>
              <a:rPr sz="1050" b="1">
                <a:solidFill>
                  <a:srgbClr val="1E4F78"/>
                </a:solidFill>
              </a:rPr>
              <a:t>G2 四臂：現行模型｜規則式脈絡｜人機協作｜影子模式（唯一能量到無人結案風險）</a:t>
            </a:r>
          </a:p>
        </p:txBody>
      </p:sp>
    </p:spTree>
    <p:extLst>
      <p:ext uri="{BB962C8B-B14F-4D97-AF65-F5344CB8AC3E}">
        <p14:creationId xmlns:p14="http://schemas.microsoft.com/office/powerpoint/2010/main" val="18798059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9842A-F884-4CC3-B7F0-5459D22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2E"/>
                </a:solidFill>
              </a:defRPr>
            </a:pPr>
            <a:r>
              <a:rPr sz="1050" b="1">
                <a:solidFill>
                  <a:srgbClr val="E67E2E"/>
                </a:solidFill>
              </a:rPr>
              <a:t>決策請求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85845968-4FFD-4017-B56B-E2695D68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E4F78"/>
                </a:solidFill>
              </a:defRPr>
            </a:pPr>
            <a:r>
              <a:rPr sz="2775" b="1">
                <a:solidFill>
                  <a:srgbClr val="1E4F78"/>
                </a:solidFill>
              </a:rPr>
              <a:t>請先核准 6 週量測；不要先核准部署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6858F-2E34-412D-A6D5-9D6C4AD2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98A"/>
                </a:solidFill>
              </a:defRPr>
            </a:pPr>
            <a:r>
              <a:rPr sz="1275" b="0">
                <a:solidFill>
                  <a:srgbClr val="66798A"/>
                </a:solidFill>
              </a:rPr>
              <a:t>成本主體是人，治理成本也由人構成；所有金額皆為量級、非報價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5FD13-20BB-4DA4-AEB5-A5D2C390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755E-143F-4F6C-AE3C-EE1F45B1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8B4A0-AB86-4610-94AC-7C102A4A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內部數字為提案推估或量級；六個月內 AI 結案判定不對外生效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F7047-25C4-4FBA-AF70-5E1FAA37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5DA01-EBCF-424D-A338-BE95A7AB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00625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4288">
            <a:solidFill>
              <a:srgbClr val="1E4F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2DAB0-CD4F-4CB3-9BD4-98FD711C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4F78"/>
                </a:solidFill>
              </a:defRPr>
            </a:pPr>
            <a:r>
              <a:rPr sz="1200" b="1">
                <a:solidFill>
                  <a:srgbClr val="1E4F78"/>
                </a:solidFill>
              </a:rPr>
              <a:t>今天核准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1A2F8B-0957-4D65-868F-A70EAF02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24A"/>
                </a:solidFill>
              </a:defRPr>
            </a:pPr>
            <a:r>
              <a:rPr sz="1800" b="1">
                <a:solidFill>
                  <a:srgbClr val="17324A"/>
                </a:solidFill>
              </a:rPr>
              <a:t>W1–6｜4.85 人月＋指定贊助人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6B894-CB23-4627-A6A0-DAB5CA89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5334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4C4D1-BCE9-4763-908C-CC54F4F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今天不核准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C3336-CFA2-46AD-B30F-D88DBE0B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05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2318"/>
                </a:solidFill>
              </a:defRPr>
            </a:pPr>
            <a:r>
              <a:rPr sz="1725" b="1">
                <a:solidFill>
                  <a:srgbClr val="B42318"/>
                </a:solidFill>
              </a:rPr>
              <a:t>模型部署｜對外自動結案｜完整預算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0CF7A-DCAE-452B-95EC-6C1A051E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1386C-F41F-4D71-B86D-D9873B5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</a:defRPr>
            </a:pPr>
            <a:r>
              <a:rPr sz="2025" b="1">
                <a:solidFill>
                  <a:srgbClr val="1E4F78"/>
                </a:solidFill>
              </a:rPr>
              <a:t>NT$158–177 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47578-A841-4B90-8EA7-D526D4A8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六個月專案人力估算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AECA40-DD60-4FE7-9F0A-7D4BD733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E57850-15DE-4E0B-92CB-7242B631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4F78"/>
                </a:solidFill>
              </a:defRPr>
            </a:pPr>
            <a:r>
              <a:rPr sz="2175" b="1">
                <a:solidFill>
                  <a:srgbClr val="1E4F78"/>
                </a:solidFill>
              </a:rPr>
              <a:t>NT$16–20 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7C8B9-0D1C-47C9-8C21-8F420791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地端設備量級｜一台起步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6C500-EB69-4BD1-B7E8-DD54B5ED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6958AC-BE3A-409C-B504-822624D8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E4F78"/>
                </a:solidFill>
              </a:defRPr>
            </a:pPr>
            <a:r>
              <a:rPr sz="2025" b="1">
                <a:solidFill>
                  <a:srgbClr val="1E4F78"/>
                </a:solidFill>
              </a:rPr>
              <a:t>NT$50–118 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06534-A59B-4816-A948-FB90437C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三年可推算 TCO｜影子模式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D30262-0339-4FE4-9023-E3374FDC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4574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5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72C37-0632-41C7-890C-CCDDBAE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051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42318"/>
                </a:solidFill>
              </a:defRPr>
            </a:pPr>
            <a:r>
              <a:rPr sz="1800" b="1">
                <a:solidFill>
                  <a:srgbClr val="B42318"/>
                </a:solidFill>
              </a:rPr>
              <a:t>NT$173–1,219 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C59BB9-4DD2-4A5C-ACD8-4F988A0E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67150"/>
            <a:ext cx="2114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98A"/>
                </a:solidFill>
              </a:defRPr>
            </a:pPr>
            <a:r>
              <a:rPr sz="1125" b="0">
                <a:solidFill>
                  <a:srgbClr val="66798A"/>
                </a:solidFill>
              </a:rPr>
              <a:t>三年可推算 TCO｜移交後含稽核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98CBC-EF94-4D3A-9805-DE94EA4B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67627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7"/>
          </a:solidFill>
          <a:ln xmlns:a="http://schemas.openxmlformats.org/drawingml/2006/main" w="14288">
            <a:solidFill>
              <a:srgbClr val="E67E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EEE28-F7CE-45EC-8B97-076CD03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7E2E"/>
                </a:solidFill>
              </a:defRPr>
            </a:pPr>
            <a:r>
              <a:rPr sz="1125" b="1">
                <a:solidFill>
                  <a:srgbClr val="E67E2E"/>
                </a:solidFill>
              </a:rPr>
              <a:t>擴編反事實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3DDA93-C168-407D-9483-B5E04A05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</a:rPr>
              <a:t>不做：增聘 12–19 人｜NT$1,248–2,223 萬／年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6E5F2E-58A5-4C8E-9F69-DA1B22E3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625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A"/>
                </a:solidFill>
              </a:defRPr>
            </a:pPr>
            <a:r>
              <a:rPr sz="1350" b="1">
                <a:solidFill>
                  <a:srgbClr val="17324A"/>
                </a:solidFill>
              </a:rPr>
              <a:t>做後：仍須增聘 6–7 人｜可避免 5–13 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71C2FE-5349-43C1-8075-FFA0D5AF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E67E2E"/>
                </a:solidFill>
              </a:defRPr>
            </a:pPr>
            <a:r>
              <a:rPr sz="1065" b="1">
                <a:solidFill>
                  <a:srgbClr val="E67E2E"/>
                </a:solidFill>
              </a:rPr>
              <a:t>可避免增聘：NT$520–1,521 萬／年｜移交後，不是六個月承諾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7763FC-C341-4FBE-80F5-E3539D69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52950"/>
            <a:ext cx="35623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D63E0A-B09F-4696-A16C-B1902906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24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</a:defRPr>
            </a:pPr>
            <a:r>
              <a:rPr sz="1125" b="1">
                <a:solidFill>
                  <a:srgbClr val="B42318"/>
                </a:solidFill>
              </a:rPr>
              <a:t>自動化的代價｜稽核稅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5198F2-CD3B-42D5-9D4C-62F6D147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387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42318"/>
                </a:solidFill>
              </a:defRPr>
            </a:pPr>
            <a:r>
              <a:rPr sz="2025" b="1">
                <a:solidFill>
                  <a:srgbClr val="B42318"/>
                </a:solidFill>
              </a:rPr>
              <a:t>0.39–3.14 FTE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8A1C1C-D0EF-4A07-A922-9A5E8F71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746"/>
                </a:solidFill>
              </a:defRPr>
            </a:pPr>
            <a:r>
              <a:rPr sz="1275" b="1">
                <a:solidFill>
                  <a:srgbClr val="263746"/>
                </a:solidFill>
              </a:rPr>
              <a:t>吃掉毛節省的 3%–52%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F3D8BB-EF41-4BB1-A40D-14B11004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05475"/>
            <a:ext cx="3143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6798A"/>
                </a:solidFill>
              </a:defRPr>
            </a:pPr>
            <a:r>
              <a:rPr sz="923" b="0">
                <a:solidFill>
                  <a:srgbClr val="66798A"/>
                </a:solidFill>
              </a:rPr>
              <a:t>稽核、申訴重判、漂移調查齊備前，不宣稱節省額。</a:t>
            </a:r>
          </a:p>
        </p:txBody>
      </p:sp>
    </p:spTree>
    <p:extLst>
      <p:ext uri="{BB962C8B-B14F-4D97-AF65-F5344CB8AC3E}">
        <p14:creationId xmlns:p14="http://schemas.microsoft.com/office/powerpoint/2010/main" val="10248455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2F862-34BB-49F2-AE71-CC8DDEB4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</a:defRPr>
            </a:pPr>
            <a:r>
              <a:rPr sz="2850" b="1">
                <a:solidFill>
                  <a:srgbClr val="1E4F78"/>
                </a:solidFill>
              </a:rPr>
              <a:t>參考文獻｜References（1 / 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D2D37-9C95-4648-84E1-9AF2736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627E5-ACC1-4727-B758-13C120C0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</a:defRPr>
            </a:pPr>
            <a:r>
              <a:rPr sz="1050" b="0">
                <a:solidFill>
                  <a:srgbClr val="66798A"/>
                </a:solidFill>
              </a:rPr>
              <a:t>APA 7｜公開文獻支撐敘事；內部數字另標假設與推算方式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DDC89-5055-4206-A583-2A326EA4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Department of Industry, Science and Resources. (2019). Australia’s AI ethics principles. Australian Government. https://www.industry.gov.au/publications/australias-ai-ethics-principles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6DDD3-FB65-42C9-AB3A-F2E30B3E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5613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IBM. (2020). AI maturity framework for enterprise applications [White paper]. IBM Corporation. https://www.ibm.com/downloads/cas/OB8M18WR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3B361-BD60-47EC-94DC-28CBDE6A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IBM. (n.d.). University Hospitals Coventry and Warwickshire (UHCW) NHS Trust: Patient-centered care from AI-centered efficiencies [Case study]. https://www.ibm.com/case-studies/uhcw-nhs-trust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63E7B-B035-4570-947D-EC661462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2088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Sambasivan, N., Kapania, S., Highfill, H., Akrong, D., Paritosh, P., &amp; Aroyo, L. M. (2021). “Everyone wants to do the model work, not the data work”: Data cascades in high-stakes AI. CHI ’21. https://doi.org/10.1145/3411764.3445518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B9D5D-1579-4B4D-A655-1BD55FC8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Parasuraman, R., &amp; Manzey, D. H. (2010). Complacency and bias in human use of automation. Human Factors, 52(3), 381–410. https://doi.org/10.1177/0018720810376055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68AB8-3C4C-4606-ABDF-F55E5E6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5613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Goddard, K., Roudsari, A., &amp; Wyatt, J. C. (2012). Automation bias: A systematic review. JAMIA, 19(1), 121–127. https://doi.org/10.1136/amiajnl-2011-000089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F157A-6D95-4145-B41A-5AD99D67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Rudin, C. (2019). Stop explaining black box machine learning models for high stakes decisions and use interpretable models instead. Nature Machine Intelligence, 1(5), 206–215. https://doi.org/10.1038/s42256-019-0048-x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E132C-6D5D-455E-BCA1-82E68B48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72088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Sculley, D., Holt, G., Golovin, D., et al. (2015). Hidden technical debt in machine learning systems. NeurIPS 28, 2503–2511. https://proceedings.neurips.cc/paper/2015/hash/86df7dcfd896fcaf2674f757a2463eba-Abstract.html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58DC6-ACB2-41D3-AF7D-3E8810A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7725F-A03C-4516-9259-A1CCEA99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The company name has been changed for commercial in confidence reasons.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D67F3-3164-42B3-9262-E17E7186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5BCD68-30C3-4EAA-8D3A-A22A9EA7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4F78"/>
                </a:solidFill>
              </a:defRPr>
            </a:pPr>
            <a:r>
              <a:rPr sz="2850" b="1">
                <a:solidFill>
                  <a:srgbClr val="1E4F78"/>
                </a:solidFill>
              </a:rPr>
              <a:t>參考文獻｜References（2 / 2）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5B019-CE04-432D-8158-0ED88D05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049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950B-52F3-40FA-8E15-8393F06E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98A"/>
                </a:solidFill>
              </a:defRPr>
            </a:pPr>
            <a:r>
              <a:rPr sz="1050" b="0">
                <a:solidFill>
                  <a:srgbClr val="66798A"/>
                </a:solidFill>
              </a:rPr>
              <a:t>APA 7｜公開文獻支撐敘事；內部數字另標假設與推算方式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9966F-E4F7-4AFF-94DF-277923AC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Ensign, D., Friedler, S. A., Neville, S., Scheidegger, C., &amp; Venkatasubramanian, S. (2018). Runaway feedback loops in predictive policing. PMLR, 81, 160–171. https://proceedings.mlr.press/v81/ensign18a.html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F3444-EBDB-41A1-AA3B-345D40F0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5613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Guo, C., Pleiss, G., Sun, Y., &amp; Weinberger, K. Q. (2017). On calibration of modern neural networks. PMLR, 70, 1321–1330. https://proceedings.mlr.press/v70/guo17a.html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9947E-9391-4DF5-BACD-75274A95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Northcutt, C. G., Athalye, A., &amp; Mueller, J. (2021). Pervasive label errors in test sets destabilize machine learning benchmarks. NeurIPS Datasets and Benchmarks. https://arxiv.org/abs/2103.14749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10C0-239F-4FEC-9105-658C1F09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2088"/>
            <a:ext cx="5191125" cy="1042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National Institute of Standards and Technology. (2023). Artificial intelligence risk management framework (AI RMF 1.0) (NIST AI 100-1). https://doi.org/10.6028/NIST.AI.100-1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74F76-306C-4060-9985-BBC85F43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191125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Australian Human Rights Commission. (2020). Using artificial intelligence to make decisions: Addressing the problem of algorithmic bias [Technical paper]. https://humanrights.gov.au/sites/default/files/document/publication/ahrc_technical_paper_algorithmic_bias_2020.pdf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9872B-9DE8-494F-BDF4-4BA9F231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75025"/>
            <a:ext cx="5191125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Press, G. (2016, March 23). Cleaning big data: Most time-consuming, least enjoyable data science task, survey says. Forbes. https://www.forbes.com/sites/gilpress/2016/03/23/data-preparation-most-time-consuming-least-enjoyable-data-science-task-survey-says/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3838B-D3AF-46FA-92F1-3AF08E2F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2675"/>
            <a:ext cx="5191125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63746"/>
                </a:solidFill>
              </a:defRPr>
            </a:pPr>
            <a:r>
              <a:rPr sz="990" b="0">
                <a:solidFill>
                  <a:srgbClr val="263746"/>
                </a:solidFill>
              </a:rPr>
              <a:t>Hopp, W. J., &amp; Spearman, M. L. (2011). Factory physics (3rd ed., chaps. 7–9). Waveland Press.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46AFD-05C3-47D8-8A30-46AEBBB7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91F4C-B86B-47D6-8AA8-3209E71C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05575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98A"/>
                </a:solidFill>
              </a:defRPr>
            </a:pPr>
            <a:r>
              <a:rPr sz="863" b="0">
                <a:solidFill>
                  <a:srgbClr val="66798A"/>
                </a:solidFill>
              </a:rPr>
              <a:t>The company name has been changed for commercial in confidence reasons.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75877-0664-4142-91F4-9A173CDF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48652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798A"/>
                </a:solidFill>
              </a:defRPr>
            </a:pPr>
            <a:r>
              <a:rPr sz="900" b="1">
                <a:solidFill>
                  <a:srgbClr val="66798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967347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2026-08-13T13:52:55.9690000Z</dcterms:created>
  <dcterms:modified xsi:type="dcterms:W3CDTF">2026-08-13T13:52:55.9690000Z</dcterms:modified>
</coreProperties>
</file>