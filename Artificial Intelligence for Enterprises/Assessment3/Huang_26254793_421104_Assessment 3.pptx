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783" autoAdjust="0"/>
  </p:normalViewPr>
  <p:slideViewPr>
    <p:cSldViewPr snapToGrid="0" snapToObjects="1">
      <p:cViewPr varScale="1">
        <p:scale>
          <a:sx n="98" d="100"/>
          <a:sy n="98" d="100"/>
        </p:scale>
        <p:origin x="3163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29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77506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zh-TW" altLang="en-US" dirty="0"/>
          </a:p>
          <a:p>
            <a:r>
              <a:rPr dirty="0"/>
              <a:t>── </a:t>
            </a:r>
            <a:r>
              <a:rPr dirty="0" err="1"/>
              <a:t>逐字備援</a:t>
            </a:r>
            <a:r>
              <a:rPr dirty="0"/>
              <a:t> · 314 字(</a:t>
            </a:r>
            <a:r>
              <a:rPr dirty="0" err="1"/>
              <a:t>忘詞才看,不是拿來唸的</a:t>
            </a:r>
            <a:r>
              <a:rPr dirty="0"/>
              <a:t>)──</a:t>
            </a:r>
          </a:p>
          <a:p>
            <a:r>
              <a:rPr dirty="0" err="1"/>
              <a:t>誠如各位在圖上看到的,前端</a:t>
            </a:r>
            <a:r>
              <a:rPr dirty="0"/>
              <a:t> Edge AI 跟 Server AI </a:t>
            </a:r>
            <a:r>
              <a:rPr dirty="0" err="1"/>
              <a:t>這兩段已經自動化,停在第三關。客戶回頭說「這筆</a:t>
            </a:r>
            <a:r>
              <a:rPr dirty="0"/>
              <a:t> AI </a:t>
            </a:r>
            <a:r>
              <a:rPr dirty="0" err="1"/>
              <a:t>判錯了</a:t>
            </a:r>
            <a:r>
              <a:rPr dirty="0"/>
              <a:t>」,</a:t>
            </a:r>
            <a:r>
              <a:rPr dirty="0" err="1"/>
              <a:t>那一段全部靠人</a:t>
            </a:r>
            <a:r>
              <a:rPr dirty="0"/>
              <a:t> ——</a:t>
            </a:r>
            <a:r>
              <a:rPr dirty="0" err="1"/>
              <a:t>而它慢的原因不是人不夠快,是證據不在畫面裡。分析人員得打開事件檔,看</a:t>
            </a:r>
            <a:r>
              <a:rPr dirty="0"/>
              <a:t> AI </a:t>
            </a:r>
            <a:r>
              <a:rPr dirty="0" err="1"/>
              <a:t>當下是依什麼判的,才分得出這是哪一種爭議:是客戶不熟我們的判定規格、其實</a:t>
            </a:r>
            <a:r>
              <a:rPr dirty="0"/>
              <a:t>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</a:t>
            </a:r>
            <a:r>
              <a:rPr dirty="0" err="1"/>
              <a:t>加起來二十九點八到四十二點九人時,而我們五個人一天總共四十人時。上緣已經超過了,而這只是一個客戶。所以我提的是一套地端</a:t>
            </a:r>
            <a:r>
              <a:rPr dirty="0"/>
              <a:t> AI </a:t>
            </a:r>
            <a:r>
              <a:rPr dirty="0" err="1"/>
              <a:t>事件判讀,把畫面外的脈絡讀進來,讓同樣這五個人,在客戶要的兩天內交得出答案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── </a:t>
            </a:r>
            <a:r>
              <a:rPr dirty="0" err="1"/>
              <a:t>逐字備援</a:t>
            </a:r>
            <a:r>
              <a:rPr dirty="0"/>
              <a:t> · 261 字(</a:t>
            </a:r>
            <a:r>
              <a:rPr dirty="0" err="1"/>
              <a:t>忘詞才看,不是拿來唸的</a:t>
            </a:r>
            <a:r>
              <a:rPr dirty="0"/>
              <a:t>)──</a:t>
            </a:r>
          </a:p>
          <a:p>
            <a:r>
              <a:rPr dirty="0" err="1"/>
              <a:t>各位看這條時間軸。一件爭議走完兩天到五天,而最花時間的是中間這兩段</a:t>
            </a:r>
            <a:r>
              <a:rPr dirty="0"/>
              <a:t>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</a:t>
            </a:r>
            <a:r>
              <a:rPr dirty="0" err="1"/>
              <a:t>一半來自證據包自動化,一半來自誤報量下降。而真正的差別在最下面那一句:人的時間從「找證據」換成「下判斷</a:t>
            </a:r>
            <a:r>
              <a:rPr dirty="0"/>
              <a:t>」。</a:t>
            </a:r>
            <a:r>
              <a:rPr dirty="0" err="1"/>
              <a:t>找證據機器做得比人快,下判斷只有人能做</a:t>
            </a:r>
            <a:r>
              <a:rPr dirty="0"/>
              <a:t>。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── </a:t>
            </a:r>
            <a:r>
              <a:rPr dirty="0" err="1"/>
              <a:t>逐字備援</a:t>
            </a:r>
            <a:r>
              <a:rPr dirty="0"/>
              <a:t> · 329 字(</a:t>
            </a:r>
            <a:r>
              <a:rPr dirty="0" err="1"/>
              <a:t>忘詞才看,不是拿來唸的</a:t>
            </a:r>
            <a:r>
              <a:rPr dirty="0"/>
              <a:t>)──</a:t>
            </a:r>
          </a:p>
          <a:p>
            <a:r>
              <a:rPr dirty="0" err="1"/>
              <a:t>那機器現在到底判錯在哪裡?這張表把兩條產品線的誤報拆開。先講假判錯:客戶不懂我們的判定邏輯,其實機器判對了</a:t>
            </a:r>
            <a:r>
              <a:rPr dirty="0"/>
              <a:t> —— 兩邊都有。真判錯才是要修的:行車輔助是速限數值錯判、車前陰影光影、前車物體錯判;駕駛監控是駕駛行為因光線被誤判、還有物件誤判。這些指向不一樣的修法。速限被錯判是**</a:t>
            </a:r>
            <a:r>
              <a:rPr dirty="0" err="1"/>
              <a:t>畫面外</a:t>
            </a:r>
            <a:r>
              <a:rPr dirty="0"/>
              <a:t>**</a:t>
            </a:r>
            <a:r>
              <a:rPr dirty="0" err="1"/>
              <a:t>的問題</a:t>
            </a:r>
            <a:r>
              <a:rPr dirty="0"/>
              <a:t> ——</a:t>
            </a:r>
            <a:r>
              <a:rPr dirty="0" err="1"/>
              <a:t>那面牌讀不出來,但地圖上有,把它讀進模型就補得上。光影跟物體誤判是</a:t>
            </a:r>
            <a:r>
              <a:rPr dirty="0"/>
              <a:t>**</a:t>
            </a:r>
            <a:r>
              <a:rPr dirty="0" err="1"/>
              <a:t>畫面裡</a:t>
            </a:r>
            <a:r>
              <a:rPr dirty="0"/>
              <a:t>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</a:t>
            </a:r>
            <a:r>
              <a:rPr dirty="0" err="1"/>
              <a:t>答案不在畫面裡。那面牌模型讀不到,可是速限資料公司手上就有。這就是下一頁那兩台要做的事:把畫面外的資料讀進來</a:t>
            </a:r>
            <a:r>
              <a:rPr dirty="0"/>
              <a:t>。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  <a:p/>
          <a:p>
            <a:r>
              <a:t>── 硬體可行性複核(2026-08-17,已上網查證)──</a:t>
            </a:r>
          </a:p>
          <a:p>
            <a:r>
              <a:t>· DGX Spark 官方規格:128 GB LPDDR5x 統一記憶體 · 273 GB/s · GB10 Grace Blackwell · 1 PFLOP FP4</a:t>
            </a:r>
          </a:p>
          <a:p>
            <a:r>
              <a:t>· ① 篩檢台 Qwen3.5-122B-A10B 4-bit = 122B × 0.5 B = **61 GB**,128 GB 裡剩 59 GB → 非常寬鬆。</a:t>
            </a:r>
          </a:p>
          <a:p>
            <a:r>
              <a:t>  🔑 MoE 的**全部**專家都要常駐,只是每 token 活化 10B —— 不要講成「只需要 10B 的記憶體」。</a:t>
            </a:r>
          </a:p>
          <a:p>
            <a:r>
              <a:t>  🔑 NVIDIA 自己發了 Qwen3.5-122B-A10B 的 NVFP4 版本,而 DGX Spark 就是 Blackwell、原生吃 FP4。</a:t>
            </a:r>
          </a:p>
          <a:p>
            <a:r>
              <a:t>· ② 深挖台 Qwen2.5-VL-72B 8-bit = **72 GB**,剩 48 GB 給 KV cache。</a:t>
            </a:r>
          </a:p>
          <a:p>
            <a:r>
              <a:t>  KV/token = 2×8(GQA KV head)×128×80 層×2 B = 0.31 MB。</a:t>
            </a:r>
          </a:p>
          <a:p>
            <a:r>
              <a:t>  1080p 每幀 2,645 個視覺 token(patch 14 + spatial_merge 2);影片會做時間合併(每兩幀併一組)。</a:t>
            </a:r>
          </a:p>
          <a:p>
            <a:r>
              <a:t>  🔴 **15 秒 @1 FPS · Batch=4**:視覺 token ≈ 19,800 → KV ≈ 24 GB → 權重+KV ≈ 96 GB / 128 GB ✅ 過關,</a:t>
            </a:r>
          </a:p>
          <a:p>
            <a:r>
              <a:t>     而且還留約 24 GB 餘裕。</a:t>
            </a:r>
          </a:p>
          <a:p>
            <a:r>
              <a:t>  ⚠️ 但**片長是這個算式的前提**:30 秒 @1 FPS Batch=4 會到 120 GB 就爆。</a:t>
            </a:r>
          </a:p>
          <a:p>
            <a:r>
              <a:t>     他若問「影片多長」:15 秒。若問「更長怎麼辦」:Batch 降到 2,或深挖台抽幀降到 0.5 FPS ——</a:t>
            </a:r>
          </a:p>
          <a:p>
            <a:r>
              <a:t>     🚫 不要說「不會有問題」,要說「這是我算過的上限,超過就降 Batch」。</a:t>
            </a:r>
          </a:p>
          <a:p>
            <a:r>
              <a:t>· 一台裝不下的算式:61 + 72 = **133 GB &gt; 128 GB** —— 只差 5 GB,但就是塞不進去。</a:t>
            </a:r>
          </a:p>
          <a:p>
            <a:r>
              <a:t>  🚫 不要再講「兩個模型各佔約 75 GB」(舊值,問「哪來的 75」答不出來)。</a:t>
            </a:r>
          </a:p>
          <a:p>
            <a:r>
              <a:t>· 解碼頻寬上限:篩檢台 273÷5 ≈ 55 tok/s;深挖台 273÷72 ≈ 3.8 tok/s(Batch=4 共用權重讀取)。</a:t>
            </a:r>
          </a:p>
          <a:p>
            <a:r>
              <a:t>  🚫 片上那些秒數一律說「推算」—— 沒有實機跑過,實機量測排在第 6 週之後。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>
            <a:endParaRPr/>
          </a:p>
          <a:p>
            <a:r>
              <a:t>★ 調班只壓得到排隊那 0–1 天,而慢的五到八成八在撈數據跟判讀 —— 那一段只有 AI 壓得到。</a:t>
            </a:r>
          </a:p>
          <a:p>
            <a:endParaRPr/>
          </a:p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>
            <a:endParaRPr/>
          </a:p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>
            <a:endParaRPr/>
          </a:p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7 頁 · 導入 AI 會出什麼事:八件,前三件是 AI 才有的】　目標 79 秒 · 累計 8:12</a:t>
            </a:r>
          </a:p>
          <a:p>
            <a:endParaRPr/>
          </a:p>
          <a:p>
            <a:r>
              <a:t>★ 把握只有中的那三件,共同點是都不在我手上 —— 機器的措辭、主管轉不轉達、高階的行程。</a:t>
            </a:r>
          </a:p>
          <a:p>
            <a:endParaRPr/>
          </a:p>
          <a:p>
            <a:r>
              <a:t>· 機器會講錯但講得很順 → 每一句標出證據在第幾秒,再用固定考題抽驗那一秒對不對</a:t>
            </a:r>
          </a:p>
          <a:p>
            <a:r>
              <a:t>· 判準不一致的答案會餵進訓練 → 固定考題 + 抽一部分兩個人各判一次 + 每一版存檔</a:t>
            </a:r>
          </a:p>
          <a:p>
            <a:r>
              <a:t>· 人看到答案就不自己想 → 我的決定是介面不顯示機器的信心分數</a:t>
            </a:r>
          </a:p>
          <a:p>
            <a:r>
              <a:t>· 🔑 第三欄是「這個防法自己要付的代價」—— 一般提案只寫風險→緩解,那讀起來像沒有成本</a:t>
            </a:r>
          </a:p>
          <a:p>
            <a:r>
              <a:t>· 🔑 分四類:資料 2 件 · 組織 3 件 · 倫理 1 件 · 經濟 1 件;倫理那件下一頁逐條對課程八原則</a:t>
            </a:r>
          </a:p>
          <a:p>
            <a:r>
              <a:t>· 🔑 最後一欄是「這個防法有多大把握」—— 高四件、中三件;而中的那三件共同點是**都不在我手上**</a:t>
            </a:r>
          </a:p>
          <a:p>
            <a:endParaRPr/>
          </a:p>
          <a:p>
            <a:r>
              <a:t># 七件事 · 資料 2 · 組織 3 · 倫理 1 · 經濟 1 · 把握 高 4 / 中 3</a:t>
            </a:r>
          </a:p>
          <a:p>
            <a:endParaRPr/>
          </a:p>
          <a:p>
            <a:r>
              <a:t>⚠️ 🚫 不要說「緩解」「偵測訊號」「NIST」「黃金題」「快照」——講「怎麼防」「怎麼知道它發生了」「固定考題」「每一版存檔」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🚫 不要再提「以前判成誤報的紀錄算不算證據」那一件 —— 已刪除。Kenny:那些紀錄是依據,也是我們優化的方向,我們本來就會記錄誤報客戶事件</a:t>
            </a:r>
          </a:p>
          <a:p>
            <a:r>
              <a:t>⚠️ 🔴 第 3 件不可講成「不會發生,因為最後是人審核」——機器給的是**判定結果**,人只是最後給結論;有現成結論可以照抄,那就是這條風險成立的條件。評分者研究的就是這個,講「有人審核」他一定追</a:t>
            </a:r>
          </a:p>
          <a:p>
            <a:r>
              <a:t>⚠️ 🔴 第 1 件的偵測方式改過:原本是「人推翻機器判定的比例不降」,但機器唬爛成功時人會相信它,推翻率反而會**降** —— 那條訊號在最危險的情況下剛好讀起來像沒問題。現在改成直接抽驗它標的那一秒對不對,不用等人推翻</a:t>
            </a:r>
          </a:p>
          <a:p>
            <a:r>
              <a:t>⚠️ 🔴 第 2 件的偵測方式也改過:原本是「交通標誌根因佔比偏離 83%」,但本案的目的就是把那 83% 打下來,案子成功時它一定偏離,分不出好壞。現在改成同一批考題重判時兩人不一致率上升</a:t>
            </a:r>
          </a:p>
          <a:p>
            <a:r>
              <a:t>⚠️ 🔑 他若問「這頁跟下一頁差在哪」:這頁是八件事按四類分,下一頁是把**倫理那一類**拿去對課程單元六引用的八原則逐條檢查。分類與「有多大把握」這兩欄不是裝飾 —— rubric 的 30 分那條白紙黑字要這兩樣</a:t>
            </a:r>
          </a:p>
          <a:p>
            <a:endParaRPr/>
          </a:p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348 字(忘詞才看,不是拿來唸的)──</a:t>
            </a:r>
          </a:p>
          <a:p>
            <a:r>
              <a:t>選了這條路,我先講它會出什麼事。七件事,我按四類分:資料兩件、組織三件、倫理一件、經濟一件。資料那兩件是 AI 才有的。第一,機器會判錯,但講得很順 —— 講錯的跟講對的一樣順,比一個錯的數字更難發現。我的做法是:分析結果用白話寫,而且把它用到的數據標出來;複核的時候對一下那些數據,是不是幻覺一眼就看得出來。這一件我把握高,因為每一筆複核都會對到,不是抽樣。第二,判定不一致。我們會定期跑一組答案確定的事件,拿去給 AI 校正,答對率掉下來就知道它漂了。組織那邊最要緊的一件是:機器給的是判定結果,人可能就照抄。我的決定是介面不顯示機器的信心分數 —— 但這個防法有代價,不顯示,複核會變慢,撞到兩天那個目標。這一格我也寫在表上。最後請各位看最右邊那一欄。把握只有中的有三件,而它們的共同點是**都不在我手上**:機器的措辭、主管願不願意幫駕駛轉達、還有高階主管的行程。我控制得了的,我寫高;控制不了的,我就寫中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【這一頁的作用】這頁回答委員會的下一個問題:「你要導入 AI,那會出什麼事?」一列一件事,橫著讀是四格:會出什麼事 → 我打算怎麼防 → **這個防法自己要付什麼代價** → 怎麼知道它真的發生了。🔑 第三欄是這頁的說服力來源。一般提案只寫「風險 → 緩解」,那讀起來像沒有成本的保證;多寫一句「而這個緩解會傷到什麼」(不顯示信心分數會拖慢複核、兩人複判成本近乎加倍),委員會才知道我真的算過。🔴 2026-08-16 白話化(Kenny:「第七章看不懂」):「黃金題」→「固定考題」(與第 10 頁片上同名)、「快照」→「每一版存檔」、「盲測組與對照組差異超過容忍值」→「有機器幫忙的那組判得比沒有的那組差」、「單位成本改善低於門檻」→「省時沒到當初講的數字」。🔴 同時修掉兩條**邏輯壞掉**的偵測訊號:①第 1 列原本是「人推翻機器判定的比例不降」—— 但機器唬爛成功時人會相信它,推翻率會**降**,這條訊號在最危險的情況下剛好讀起來像沒問題。改成直接抽驗它標的那一秒對不對。②第 2 列原本是「交通標誌根因佔比偏離 83%」—— 而本案的目的就是把那 83% 打下來,案子成功時它一定偏離,分不出好壞。改成同一批考題重判時兩人不一致率上升。🔴 標題與底線原本互相打架(標題說「每一條」、底線說「其餘七條」),已統一成八件。🔴 2026-08-16 Kenny:「這每一條都很怪,這跟第 8 張差在哪?有必要這樣探討?」——他問對了,而答案指出這一頁**漏了拿分的東西**。rubric 的 30 分那條有四個 HD 門檻:①限制與挑戰**按類別歸類且視覺化** ②緩解策略附**風險與成功可能性評估** ③倫理深刻 ④指標可量化,而作業說明明寫「四個都要做到才是 HD」。第 7 頁扛①②、第 8 頁扛③、第 9 頁扛④。原版第 7 頁只做到一半:八件事平鋪沒有任何類別標籤(門檻①未達)、只有「怎麼防/代價/怎麼發現」沒有「這個防法有多大把握」(門檻②未達)。→ 列名前綴四類(資料/倫理/經濟/組織,作業說明自己給的分類),並新增「這個防法有多大把握」欄。🔑 加上類別之後,兩頁的關係自己就講清楚了:第 7 頁是「八件事按四類分」,第 8 頁是把其中**倫理那一類**拿去對課程的官方八原則逐條檢查。沒有類別標籤時,兩頁看起來像在講同一件事兩次 —— 那正是 Kenny 感覺到的重複。🔴 2026-08-16 Kenny 逐列更正:①第 1 列的防法改成他實際的做法 —— **用白話寫分析結果並標出用到的數據**,複核時對一下那些數據,幻覺一眼看得出;因為是**每一筆複核都會對到**(不是抽樣),把握從中升到高。②第 2 列改成**定期跑一組答案確定的事件給 AI 校正**。③第 8 列(以前判成誤報的紀錄算不算證據)**整列刪掉** —— Kenny:那些紀錄是依據,也是我們優化的方向,我們本來就會記錄誤報客戶事件。八件變七件。④第 3 列 Kenny 先說「不會,因為最後是人為審核」,但追問後他自己講明**機器給的是判定結果,人最後給出結論** —— 那就是自動化偏誤成立的條件,所以這一列留著,列名改成「機器給了判定結果,人可能照抄」把風險講白。🔴 刪掉第 8 列後,這頁不再有「我沒有答案」的那一件。底線改用另一個誠實點:把握只有「中」的三件,共同點是**都不在提案人手上**(機器的措辭、主管願不願意轉達、高階的行程)。那比一句「有一件我沒解」更具體,也是「風險與成功可能性評估」這條門檻真正想看的東西。🔴 2026-08-16 Kenny:「你那些副標題都在自曝其短、講想法,可以改一下嗎?」——他是對的。第 7 頁原本寫「下一頁拿課程的八原則逐條檢查」(在跟自己交代流程)、第 8 頁「每一條都寫出機制,不是空話」(沒人指控你講空話,先自清反而像心虛)、第 9 頁「上面的成績一律不算」(自己先扣自己分)、第 10 頁「六件事裡只有一件是 AI」(在替 AI 佔比小辯解,委員會沒問)。副標的位置是**這一頁最強的主張**,不是「這一頁怎麼讀」也不是「我沒有在講空話」。四頁全部改成陳述句。🔴 第二次修正(Kenny:「我們目標是呈現給委員…拜託不要再把副標搞得好像作業備忘錄」):我第一版只拿掉了自我辯護,但寫成了「這張表有四欄、每一件都配一個防法、也印在上面」——那是在描述投影片本身,委員會不在乎表格怎麼組的。第 8 頁更糟:標題與副標掛著「課程單元六 6.3.4」,那是給評分者看的引用註記,在提案的世界裡委員會根本不知道那是什麼。🔑 副標要講**委員在意的結果**:會不會被抓、我能不能退出、我拿什麼管你。課程出處改成用講的(逐字備援裡已經有「課程單元六引用的澳洲 AI 倫理八原則」),片上只留「政府那八條」—— 真實的委員會確實會引用政府框架,那不突兀。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9:17</a:t>
            </a:r>
          </a:p>
          <a:p>
            <a:endParaRPr/>
          </a:p>
          <a:p>
            <a:r>
              <a:t>★ 八條沒有一條因為這個案子變差 —— 而每一條我都寫得出為什麼,不是一句沒問題帶過。</a:t>
            </a:r>
          </a:p>
          <a:p>
            <a:endParaRPr/>
          </a:p>
          <a:p>
            <a:r>
              <a:t>· 框架不是我挑的 —— 是課程單元六 6.3.4 引用的澳洲 AI 倫理八原則(DIIS,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>
            <a:endParaRPr/>
          </a:p>
          <a:p>
            <a:r>
              <a:t># 澳洲 AI 倫理八原則(DIIS,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>
            <a:endParaRPr/>
          </a:p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🔴 八原則 2019-11-07 由 **DIIS**(Department of Industry, Innovation and Science)發布;DISR 這個名字 2022 年 7 月才有。課程投影片若寫 DISR 不必跟著錯 ——答辯時一句「原始發布機關是 DIIS,2022 年改名 DISR」反而是加分的細節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>
            <a:endParaRPr/>
          </a:p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9 頁 · 七條做到才算成功;兩條沒過全部不算】　目標 74 秒 · 累計 10:31</a:t>
            </a:r>
          </a:p>
          <a:p>
            <a:endParaRPr/>
          </a:p>
          <a:p>
            <a:r>
              <a:t>★ 第 6 週交三樣、第 12 週一樣、第 16 週三樣 —— 而下面兩條沒過,上面全部不算。</a:t>
            </a:r>
          </a:p>
          <a:p>
            <a:endParaRPr/>
          </a:p>
          <a:p>
            <a:r>
              <a:t>· 效益七條**依交件週次排**:第 6 週三樣、第 12 週一樣、第 16 週三樣</a:t>
            </a:r>
          </a:p>
          <a:p>
            <a:r>
              <a:t>· 下面兩條任一沒過,上面七條的成績一律不算</a:t>
            </a:r>
          </a:p>
          <a:p>
            <a:r>
              <a:t>· 現在訂不出目標值的,我寫明第幾週交、由誰訂 —— 一格都不留空白</a:t>
            </a:r>
          </a:p>
          <a:p>
            <a:r>
              <a:t>· 🔴 編號 ①–⑦ + 喊停 ⑧⑨⑩,一路連號</a:t>
            </a:r>
          </a:p>
          <a:p>
            <a:endParaRPr/>
          </a:p>
          <a:p>
            <a:r>
              <a:t># 兩條喊停:兩個人判同一段影片答案一不一樣 · 機器的描述會不會讓人判得更差</a:t>
            </a:r>
          </a:p>
          <a:p>
            <a:r>
              <a:t># 🔴 第 16 週是**交件**,不是喊停點 —— 喊停點在第 6、12、24 週(第 10 頁)</a:t>
            </a:r>
          </a:p>
          <a:p>
            <a:endParaRPr/>
          </a:p>
          <a:p>
            <a:r>
              <a:t>⚠️ 🚫 不要說「保證」——上面那七條有一半今天還沒有基線,講的是「第幾週交」</a:t>
            </a:r>
          </a:p>
          <a:p>
            <a:r>
              <a:t>⚠️ 🔑 被問資料治理:事件都有來源標記,**包括訓練用的** —— 那是既有能力,不是這個案子要建的。所以它不在喊停條件裡(講得出來,但不掛在片上當功勞)</a:t>
            </a:r>
          </a:p>
          <a:p>
            <a:r>
              <a:t>⚠️ 🔴 他若說「判斷的人就是寫演算法的,怎麼會被機器帶偏」:回答「複核的人確實知道機器會在哪裡出錯,但另外四位分析人員不是寫演算法的,所以我還是要量」。🚫 不可講成「不需要檢查」——在安全對齊的角度,寫演算法的人自己審自己的輸出是**缺少獨立檢查**,不是保證</a:t>
            </a:r>
          </a:p>
          <a:p>
            <a:r>
              <a:t>⚠️ 🚫 底線不要接「不是外面的規定」—— 沒人說你在應付法規,那半句是自我辯護。只講「這個煞車是我自己裝的」</a:t>
            </a:r>
          </a:p>
          <a:p>
            <a:r>
              <a:t>⚠️ 🚫 不要講「我要各位用這些數字管我」(Kenny:超級怪)——講「每一條都寫明第幾週交、由誰訂」</a:t>
            </a:r>
          </a:p>
          <a:p>
            <a:r>
              <a:t>⚠️ 🚫 「每天要處理幾筆」已從這張表移出 —— 那是工作量現況不是目標,第 2、5 頁已經講過。他若問規模,指第 2 頁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324 字(忘詞才看,不是拿來唸的)──</a:t>
            </a:r>
          </a:p>
          <a:p>
            <a:r>
              <a:t>怎麼算做成了。上面七條是效益,我按**第幾週交**排;下面兩條是喊停條件。第六週交三樣:每一筆現在到底花多少人力、有多少客戶的案子被人看過、還有尖峰徵調研發的人時 —— 這三樣今天都沒有紀錄,那正是第一段要建的。第十二週交一樣:行車輔助的誤報率,目標降到百分之七以下。第十六週交三樣:爭議回覆做到兩天內,這是我提的目標、不是已經簽的協議;做了以後能少請幾個人;還有客戶回頭爭議的比例,降到百分之五以下。請注意第十六週是**交件**,不是喊停點 —— 喊停點在第六、十二、二十四週,下一頁講。下面兩條請各位特別看。第一,同一段影片給兩個人判,答案一不一樣,這件事公司從來沒量過;沒過,那批答案就不能拿去訓練。第二,機器寫的說明會不會反而讓人判得更差 —— 這條我用盲測驗,有機器幫忙的那一組如果判得比沒有的那組差,就不放行。這兩條任一沒過,上面七條的成績一律不算。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那是本案自己製造的風險,由提案人主動列出來並綁上盲測;③每一個今天訂不出的目標值都寫明第幾週、由誰訂,把「訂不出來」變成可稽核的紀律,而不是含糊。🔴 2026-08-16 Kenny 審第 9 頁後的修正:①標題、副標、底線原本在講同一件事(喊停條件)三次,而標題後半「同一張表也寫明」又是在描述表格結構。標題改成直接下結論、副標改講交件時程、底線只留「規矩是我自己訂的」。②「我要各位用這些數字管我」Kenny:「超級怪」—— 換掉。③🔴 表頭寫「效益:八條」但編號跑到 ⑨(因為⑤⑥併成一列)—— 委員照號碼數會數到九。全部重編 ①–⑧,喊停三條跟著挪成 ⑨⑩⑪。④②「第 6 週先建立紀錄」與⑨「期內先建量測基準」原本沒有目標值也沒有負責人 ——「先建紀錄」是前置作業不是 KPI。補上「第 6 週建紀錄,贊助人第 16 週訂目標」與「第 6 週量出基準,營運第 16 週訂上限」。⑤底線原本「不是外面的規定」是自我辯護 —— 沒人說他在應付法規,拿掉那半句前半才有力。🔴 Kenny:「後面在第幾週訂,要不要分開然後依照第幾週來排序?」—— 要,而且價值很高:拆出「第幾週交」欄並依週排序後,這張表從一份 KPI 清單變成**交件時程表**,委員一眼看到「第 6 週拿到三樣、第 12 週一樣、第 16 週三樣」,直接對上第 10 頁那三個喊停點。🔴 但排序有前提:原本八條裡有兩條沒有週次。①「每天要處理幾筆」(3,000 → 全客戶 13,000+)**根本不是目標**,是工作量現況,而且第 2、5 頁已經講過兩次 —— 移出這張表。②「客戶回頭爭議的比例」是誤報率下降的下游效果,證據包第 8–16 週做完,補第 16 週。結果:效益七條,排成 6/6/6/12/16/16/16;喊停三條跟著挪成 ⑧⑨⑩。🔴 副標必須點明「第 16 週是交件,不是喊停點」——KPI 的週次是 6/12/16,而第 10 頁的喊停點是 6/12/24;排序後這個差異會很顯眼,不先講清楚,委員會以為第 16 週也能喊停。🔴 Kenny:「第二我們本來就有標記來源」「事件有來源標記,包括訓練用」——所以「訓練資料查不查得到來源」現況根本不是 0%,它是**既有能力**。把已經做到的事放在「喊停條件」裡,等於拿舊本事當新承諾 → 整條拿掉,喊停從三條變兩條。(答辯備註留了一句:被問資料治理時講「事件都有來源標記,包括訓練用的,那是既有能力,不是這個案子要建的」——講得出來,但不掛在片上當功勞。)🔴 Kenny 對第三條的質疑:「判斷的人就是寫算法的,怎麼會差?」——這一條**留著**,理由兩個:①它就是第 7 頁第 3 列(機器給了判定結果,人可能照抄)的偵測方式,拿掉那一列就變成「我知道有風險但不打算檢查」;②「寫演算法的人自己審自己演算法的輸出」在安全對齊領域是**缺少獨立檢查**的典型情況,而且複核有 5 個人,另外 4 位分析人員不是寫演算法的。他那句話改成**答辯用的防法**寫進備註,不寫上片。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10 頁 · 六個月分三段做,三個喊停點】　目標 54 秒 · 累計 11:24</a:t>
            </a:r>
          </a:p>
          <a:p>
            <a:endParaRPr/>
          </a:p>
          <a:p>
            <a:r>
              <a:t>★ 六個月分三段做,每一段做完都可以喊停 —— 各位不必一次押六個月。</a:t>
            </a:r>
          </a:p>
          <a:p>
            <a:endParaRPr/>
          </a:p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>
            <a:endParaRPr/>
          </a:p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>
            <a:endParaRPr/>
          </a:p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的規則版當對照組。🔴 2026-08-16 Kenny 審第 10 頁後的四項修正:①⑥ 的註記原本寫「中間六次交件在第 6/10/12/16/24/26 週,**那不是喊停的時點**」——而正下方的表格寫「三個喊停點:第 6/12/24 週」。同一畫面兩組週次、6/12/24 兩邊都有,一組說「這不是喊停」另一組說「這是喊停」,委員會分不出來。而且那半句是在澄清一件還沒有人誤會的事。整段刪掉,只留交付物。②🔴 第 6 週交什麼,第 9 頁與第 10 頁列的東西不一樣(只有「每筆花多少人力」重疊)。以第 9 頁為準統一:每筆人力 · 客戶涵蓋率 · 尖峰徵調人時。③⑤ 的註記「本案唯一真的用到 AI 的一件事」跟 Kenny 嫌掉的舊副標是同一句話,只是搬進註記;「(選型見第 5 頁)」又是講投影片自己。兩者都拿掉,改成講它交什麼。④標題「每一段做完都可以喊停」與副標「第 6、12、24 週各有一個出口」重複 ——副標改講六件事的**順序邏輯**(前三件備料、AI 排第五、順序不能換),不重複標題。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11 頁 · 這件事要花多少錢】　目標 57 秒 · 累計 12:21</a:t>
            </a:r>
          </a:p>
          <a:p>
            <a:endParaRPr/>
          </a:p>
          <a:p>
            <a:r>
              <a:t>★ 我今天要請各位核准的只有前六週:四點八五人月、約一萬八千七到兩萬零九百澳幣,再指定一位主管。</a:t>
            </a:r>
          </a:p>
          <a:p>
            <a:endParaRPr/>
          </a:p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>
            <a:endParaRPr/>
          </a:p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>
            <a:endParaRPr/>
          </a:p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>
            <a:r>
              <a:t>⚠️ 🚫 全片對委員一律用「各位」,不要用「你」——「請你核准」「你手上會多三樣」對一個委員會是命令口氣(Kenny 2026-08-16 指出)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251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要請各位核准的只有前六週:四點八五人月、一萬八千七到兩萬零九百澳幣,再指定一位主管。六個月後各位手上會多三樣:一份查得到怎麼算的錯誤率、一層補脈絡的判斷,還有一份對照實驗的結果。</a:t>
            </a:r>
          </a:p>
          <a:p>
            <a:endParaRPr/>
          </a:p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委員會看到的是一個先幫他們算好帳、並把喊停權力交回去的人。🔴 2026-08-16 Kenny 審第 11 頁前的四項修正:①標題「錢主要花在人身上,**不是機器**」是替委員下結論 —— 而那是表格自己會說的話(人 7.0–7.9 萬 vs 機器 1.4–1.8 萬)。改成把兩個數字擺出來,結論讓他們自己得。②機器那一列的註記塞了兩筆不同的錢(採購價 1.4–1.8 萬 + 三年總花費 2.9–5.2 萬),而值欄只印採購價 —— 被問「到底多少錢」時要在同一格裡挑。**三年總花費獨立一列**。③🔴「已經想到、但還沒估價的五項」原本排最後、灰字、沒標記。那是全片最誠實的一格:委員自己發現「你漏了雲端運算」是致命,主動講是加分。→ 往上提到「不做這件事會怎樣」之前,並標紅。④三張卡的前兩張是**請求**、第三張是**交付物**,並排看起來像三個請求。前兩張加 ①② 編號成對,第三張的徽章「誠實收尾」是把修辭功能寫上片(備忘錄腔),改成「不是承諾,是交付物」。🔴 Kenny:「你這個字要不要改一下,這樣很像命令委員」—— 對。第 11 頁四處用「請**你**核准」「**你**手上會多三樣」,而第 6、9 頁用的是「各位」。對一個委員會,「你」既是命令口氣也不一致。全部改成「各位」。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 12 頁 · 參考文獻(不佔十頁額度)】　目標 0 秒 · 累計 12:21</a:t>
            </a:r>
          </a:p>
          <a:p>
            <a:endParaRPr/>
          </a:p>
          <a:p>
            <a:r>
              <a:t>★ (不出聲)第 11 頁最後一句講完停 2 秒再切到這頁,停 3 秒收。</a:t>
            </a:r>
          </a:p>
          <a:p>
            <a:endParaRPr/>
          </a:p>
          <a:p>
            <a:r>
              <a:t>⚠️ 🚫 **這一頁不要出聲** —— 全片最後一個聲音必須是第 11 頁那句「六個月後各位手上會多三樣」</a:t>
            </a:r>
          </a:p>
          <a:p>
            <a:r>
              <a:t>⚠️ 這一頁不佔十頁額度;停 3 秒讓評分者看得到書目就可以結束錄影</a:t>
            </a:r>
          </a:p>
          <a:p>
            <a:endParaRPr/>
          </a:p>
          <a:p>
            <a:r>
              <a:t>→ 換下一頁</a:t>
            </a:r>
          </a:p>
          <a:p>
            <a:endParaRPr/>
          </a:p>
          <a:p>
            <a:r>
              <a:t>── 逐字備援 · 0 字(忘詞才看,不是拿來唸的)──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3474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dirty="0" err="1">
                <a:solidFill>
                  <a:srgbClr val="16212E"/>
                </a:solidFill>
                <a:latin typeface="Microsoft JhengHei"/>
              </a:rPr>
              <a:t>地端</a:t>
            </a:r>
            <a:r>
              <a:rPr sz="2000" b="0" dirty="0">
                <a:solidFill>
                  <a:srgbClr val="16212E"/>
                </a:solidFill>
                <a:latin typeface="Microsoft JhengHei"/>
              </a:rPr>
              <a:t> AI </a:t>
            </a:r>
            <a:r>
              <a:rPr sz="2000" b="0" dirty="0" err="1">
                <a:solidFill>
                  <a:srgbClr val="16212E"/>
                </a:solidFill>
                <a:latin typeface="Microsoft JhengHei"/>
              </a:rPr>
              <a:t>事件判讀</a:t>
            </a:r>
            <a:r>
              <a:rPr sz="2000" b="0" dirty="0">
                <a:solidFill>
                  <a:srgbClr val="16212E"/>
                </a:solidFill>
                <a:latin typeface="Microsoft JhengHei"/>
              </a:rPr>
              <a:t> —— </a:t>
            </a:r>
            <a:r>
              <a:rPr sz="2000" b="0" dirty="0" err="1">
                <a:solidFill>
                  <a:srgbClr val="16212E"/>
                </a:solidFill>
                <a:latin typeface="Microsoft JhengHei"/>
              </a:rPr>
              <a:t>六個月提案計畫</a:t>
            </a:r>
            <a:endParaRPr sz="2000" b="0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312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dirty="0" err="1">
                <a:solidFill>
                  <a:srgbClr val="E8833A"/>
                </a:solidFill>
                <a:latin typeface="Microsoft JhengHei"/>
              </a:rPr>
              <a:t>一個車隊</a:t>
            </a:r>
            <a:r>
              <a:rPr sz="1800" b="1" dirty="0">
                <a:solidFill>
                  <a:srgbClr val="E8833A"/>
                </a:solidFill>
                <a:latin typeface="Microsoft JhengHei"/>
              </a:rPr>
              <a:t>,</a:t>
            </a:r>
            <a:r>
              <a:rPr lang="zh-TW" altLang="en-US" sz="1800" b="1" dirty="0">
                <a:solidFill>
                  <a:srgbClr val="E8833A"/>
                </a:solidFill>
                <a:latin typeface="Microsoft JhengHei"/>
              </a:rPr>
              <a:t> </a:t>
            </a:r>
            <a:r>
              <a:rPr sz="1800" b="1" dirty="0" err="1">
                <a:solidFill>
                  <a:srgbClr val="E8833A"/>
                </a:solidFill>
                <a:latin typeface="Microsoft JhengHei"/>
              </a:rPr>
              <a:t>五個人看完三千支影片</a:t>
            </a:r>
            <a:r>
              <a:rPr sz="1800" b="1" dirty="0">
                <a:solidFill>
                  <a:srgbClr val="E8833A"/>
                </a:solidFill>
                <a:latin typeface="Microsoft JhengHei"/>
              </a:rPr>
              <a:t>;</a:t>
            </a:r>
            <a:r>
              <a:rPr lang="zh-TW" altLang="en-US" sz="1800" b="1" dirty="0">
                <a:solidFill>
                  <a:srgbClr val="E8833A"/>
                </a:solidFill>
                <a:latin typeface="Microsoft JhengHei"/>
              </a:rPr>
              <a:t> </a:t>
            </a:r>
            <a:r>
              <a:rPr sz="1800" b="1" dirty="0" err="1">
                <a:solidFill>
                  <a:srgbClr val="E8833A"/>
                </a:solidFill>
                <a:latin typeface="Microsoft JhengHei"/>
              </a:rPr>
              <a:t>而客戶要的答案</a:t>
            </a:r>
            <a:r>
              <a:rPr sz="1800" b="1" dirty="0">
                <a:solidFill>
                  <a:srgbClr val="E8833A"/>
                </a:solidFill>
                <a:latin typeface="Microsoft JhengHei"/>
              </a:rPr>
              <a:t>,</a:t>
            </a:r>
            <a:r>
              <a:rPr lang="zh-TW" altLang="en-US" sz="1800" b="1" dirty="0">
                <a:solidFill>
                  <a:srgbClr val="E8833A"/>
                </a:solidFill>
                <a:latin typeface="Microsoft JhengHei"/>
              </a:rPr>
              <a:t> </a:t>
            </a:r>
            <a:r>
              <a:rPr sz="1800" b="1" dirty="0" err="1">
                <a:solidFill>
                  <a:srgbClr val="E8833A"/>
                </a:solidFill>
                <a:latin typeface="Microsoft JhengHei"/>
              </a:rPr>
              <a:t>兩天內</a:t>
            </a:r>
            <a:r>
              <a:rPr sz="1800" b="1" dirty="0">
                <a:solidFill>
                  <a:srgbClr val="E8833A"/>
                </a:solidFill>
                <a:latin typeface="Microsoft JhengHei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10662037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內部數字均標示為假設或推算量級,並於各頁附推算方式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3795" y="1291893"/>
            <a:ext cx="11030407" cy="1014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我們客戶是車隊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包含物流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·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客運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·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礦業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;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車上裝我們的鏡頭</a:t>
            </a:r>
            <a:b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鏡頭偵測到一次危險駕駛 → 記一筆「事件」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影片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時間地點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系統分類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>
              <a:lnSpc>
                <a:spcPct val="130000"/>
              </a:lnSpc>
            </a:pP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客戶回頭說「這筆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判錯了」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=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一次「爭議」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——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由人重看影片才判得出來</a:t>
            </a:r>
          </a:p>
          <a:p>
            <a:pPr>
              <a:lnSpc>
                <a:spcPct val="130000"/>
              </a:lnSpc>
            </a:pP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單一大型車隊約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3,000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筆事件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天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·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部門僅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位專職分析人員逐筆看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而客戶還在持續增長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2399461"/>
            <a:ext cx="5364327" cy="15096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4" y="2500884"/>
            <a:ext cx="514487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前端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793492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23895" y="2838319"/>
            <a:ext cx="1033271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Microsoft JhengHei"/>
              </a:rPr>
              <a:t>① </a:t>
            </a:r>
            <a:r>
              <a:rPr sz="1200" b="1" dirty="0" err="1">
                <a:solidFill>
                  <a:srgbClr val="FFFFFF"/>
                </a:solidFill>
                <a:latin typeface="Microsoft JhengHei"/>
              </a:rPr>
              <a:t>已自動化</a:t>
            </a:r>
            <a:endParaRPr sz="12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8096" y="3177539"/>
            <a:ext cx="5144871" cy="8332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車機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Edge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初判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→ Server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複判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判定屬實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→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回傳裝置向駕駛警示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自動化到這裡就停了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68999" y="2399461"/>
            <a:ext cx="5364327" cy="15476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78727" y="2461719"/>
            <a:ext cx="5144871" cy="260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人工複核防線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· 5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位專職分析人員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·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逐筆</a:t>
            </a:r>
            <a:endParaRPr sz="1500" b="1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258327" y="2793492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58327" y="2838319"/>
            <a:ext cx="1185672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Microsoft JhengHei"/>
              </a:rPr>
              <a:t>② </a:t>
            </a:r>
            <a:r>
              <a:rPr sz="1200" b="1" dirty="0" err="1">
                <a:solidFill>
                  <a:srgbClr val="FFFFFF"/>
                </a:solidFill>
                <a:latin typeface="Microsoft JhengHei"/>
              </a:rPr>
              <a:t>沒有自動化</a:t>
            </a:r>
            <a:endParaRPr sz="12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78727" y="3177539"/>
            <a:ext cx="5144871" cy="72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客戶回頭說「這筆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判錯了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」=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一次爭議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(約 5–10%)</a:t>
            </a:r>
          </a:p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每一筆:打開事件檔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→ 看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當時依什麼判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→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回信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分兩種:客戶誤解規格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vs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真誤報,約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2:8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" y="4033465"/>
            <a:ext cx="5368900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18456" y="4179769"/>
            <a:ext cx="43996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8456" y="4673545"/>
            <a:ext cx="4399635" cy="5647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dirty="0">
                <a:solidFill>
                  <a:srgbClr val="16212E"/>
                </a:solidFill>
                <a:latin typeface="Microsoft JhengHei"/>
              </a:rPr>
              <a:t>3,000 筆 × 20 秒 = 16.7 </a:t>
            </a:r>
            <a:r>
              <a:rPr sz="1300" b="0" dirty="0" err="1">
                <a:solidFill>
                  <a:srgbClr val="16212E"/>
                </a:solidFill>
                <a:latin typeface="Microsoft JhengHei"/>
              </a:rPr>
              <a:t>人時</a:t>
            </a:r>
            <a:r>
              <a:rPr sz="1300" b="0" dirty="0">
                <a:solidFill>
                  <a:srgbClr val="16212E"/>
                </a:solidFill>
                <a:latin typeface="Microsoft JhengHei"/>
              </a:rPr>
              <a:t>/天</a:t>
            </a:r>
            <a:endParaRPr lang="en-US" sz="1300" b="0" dirty="0">
              <a:solidFill>
                <a:srgbClr val="16212E"/>
              </a:solidFill>
              <a:latin typeface="Microsoft JhengHei"/>
            </a:endParaRPr>
          </a:p>
          <a:p>
            <a:pPr algn="ctr">
              <a:lnSpc>
                <a:spcPct val="150000"/>
              </a:lnSpc>
            </a:pPr>
            <a:r>
              <a:rPr lang="zh-TW" altLang="en-US" sz="1300" dirty="0">
                <a:solidFill>
                  <a:srgbClr val="16212E"/>
                </a:solidFill>
                <a:latin typeface="Microsoft JhengHei"/>
              </a:rPr>
              <a:t>由一次實際判讀反推</a:t>
            </a:r>
            <a:r>
              <a:rPr lang="en-US" altLang="zh-TW" sz="1300" dirty="0">
                <a:solidFill>
                  <a:srgbClr val="16212E"/>
                </a:solidFill>
                <a:latin typeface="Microsoft JhengHei"/>
              </a:rPr>
              <a:t>;</a:t>
            </a:r>
            <a:r>
              <a:rPr lang="zh-TW" altLang="en-US" sz="1300" dirty="0">
                <a:solidFill>
                  <a:srgbClr val="16212E"/>
                </a:solidFill>
                <a:latin typeface="Microsoft JhengHei"/>
              </a:rPr>
              <a:t>單一批次</a:t>
            </a:r>
            <a:r>
              <a:rPr lang="en-US" altLang="zh-TW" sz="1300" dirty="0">
                <a:solidFill>
                  <a:srgbClr val="16212E"/>
                </a:solidFill>
                <a:latin typeface="Microsoft JhengHei"/>
              </a:rPr>
              <a:t>,</a:t>
            </a:r>
            <a:r>
              <a:rPr lang="zh-TW" altLang="en-US" sz="1300" dirty="0">
                <a:solidFill>
                  <a:srgbClr val="16212E"/>
                </a:solidFill>
                <a:latin typeface="Microsoft JhengHei"/>
              </a:rPr>
              <a:t>非長期平均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8999" y="4026839"/>
            <a:ext cx="5364327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51344" y="4173143"/>
            <a:ext cx="43996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1344" y="4666919"/>
            <a:ext cx="4399635" cy="6686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dirty="0">
                <a:solidFill>
                  <a:srgbClr val="16212E"/>
                </a:solidFill>
                <a:latin typeface="Microsoft JhengHei"/>
              </a:rPr>
              <a:t>150–300 筆 × 5.25 分 = 13.1–26.2 </a:t>
            </a:r>
            <a:r>
              <a:rPr sz="1300" b="0" dirty="0" err="1">
                <a:solidFill>
                  <a:srgbClr val="16212E"/>
                </a:solidFill>
                <a:latin typeface="Microsoft JhengHei"/>
              </a:rPr>
              <a:t>人時</a:t>
            </a:r>
            <a:r>
              <a:rPr sz="1300" b="0" dirty="0">
                <a:solidFill>
                  <a:srgbClr val="16212E"/>
                </a:solidFill>
                <a:latin typeface="Microsoft JhengHei"/>
              </a:rPr>
              <a:t>/天</a:t>
            </a:r>
          </a:p>
          <a:p>
            <a:pPr algn="ctr">
              <a:lnSpc>
                <a:spcPct val="150000"/>
              </a:lnSpc>
            </a:pPr>
            <a:r>
              <a:rPr sz="1300" b="0" dirty="0" err="1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  <a:endParaRPr sz="1300" b="0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266443" y="5549925"/>
            <a:ext cx="9658807" cy="260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合計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29.8–42.9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人時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/天　vs　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產能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40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人時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/天(5 人 × 8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小時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)</a:t>
            </a:r>
            <a:r>
              <a:rPr lang="zh-TW" altLang="en-US" sz="1500" b="1" dirty="0">
                <a:solidFill>
                  <a:srgbClr val="16212E"/>
                </a:solidFill>
                <a:latin typeface="Microsoft JhengHei"/>
              </a:rPr>
              <a:t> 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——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上緣已超過,而這只是一個客戶</a:t>
            </a:r>
            <a:endParaRPr sz="1500" b="1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58368" y="6064758"/>
            <a:ext cx="45720" cy="381761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2" y="6037326"/>
            <a:ext cx="2116945" cy="4732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 err="1">
                <a:solidFill>
                  <a:srgbClr val="16212E"/>
                </a:solidFill>
                <a:latin typeface="Microsoft JhengHei"/>
              </a:rPr>
              <a:t>本案要建的</a:t>
            </a:r>
            <a:r>
              <a:rPr sz="1400" b="1" dirty="0">
                <a:solidFill>
                  <a:srgbClr val="16212E"/>
                </a:solidFill>
                <a:latin typeface="Microsoft JhengHei"/>
              </a:rPr>
              <a:t> AI </a:t>
            </a:r>
            <a:r>
              <a:rPr sz="1400" b="1" dirty="0" err="1">
                <a:solidFill>
                  <a:srgbClr val="16212E"/>
                </a:solidFill>
                <a:latin typeface="Microsoft JhengHei"/>
              </a:rPr>
              <a:t>能力</a:t>
            </a:r>
            <a:endParaRPr sz="1400" b="1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00833" y="6143665"/>
            <a:ext cx="4423428" cy="2605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 err="1">
                <a:solidFill>
                  <a:srgbClr val="C00000"/>
                </a:solidFill>
                <a:latin typeface="Microsoft JhengHei"/>
              </a:rPr>
              <a:t>讀懂一次事件的完整脈絡</a:t>
            </a:r>
            <a:r>
              <a:rPr sz="1500" b="1" dirty="0">
                <a:solidFill>
                  <a:srgbClr val="C00000"/>
                </a:solidFill>
                <a:latin typeface="Microsoft JhengHei"/>
              </a:rPr>
              <a:t>:</a:t>
            </a:r>
            <a:r>
              <a:rPr lang="zh-TW" altLang="en-US" sz="1500" b="1" dirty="0">
                <a:solidFill>
                  <a:srgbClr val="C00000"/>
                </a:solidFill>
                <a:latin typeface="Microsoft JhengHei"/>
              </a:rPr>
              <a:t> </a:t>
            </a:r>
            <a:r>
              <a:rPr sz="1500" b="1" dirty="0" err="1">
                <a:solidFill>
                  <a:srgbClr val="C00000"/>
                </a:solidFill>
                <a:latin typeface="Microsoft JhengHei"/>
              </a:rPr>
              <a:t>影片</a:t>
            </a:r>
            <a:r>
              <a:rPr sz="1500" b="1" dirty="0">
                <a:solidFill>
                  <a:srgbClr val="C00000"/>
                </a:solidFill>
                <a:latin typeface="Microsoft JhengHei"/>
              </a:rPr>
              <a:t> + </a:t>
            </a:r>
            <a:r>
              <a:rPr sz="1500" b="1" dirty="0" err="1">
                <a:solidFill>
                  <a:srgbClr val="C00000"/>
                </a:solidFill>
                <a:latin typeface="Microsoft JhengHei"/>
              </a:rPr>
              <a:t>客戶問題</a:t>
            </a:r>
            <a:r>
              <a:rPr sz="1500" b="1" dirty="0">
                <a:solidFill>
                  <a:srgbClr val="C00000"/>
                </a:solidFill>
                <a:latin typeface="Microsoft JhengHei"/>
              </a:rPr>
              <a:t> + </a:t>
            </a:r>
            <a:r>
              <a:rPr sz="1500" b="1" dirty="0" err="1">
                <a:solidFill>
                  <a:srgbClr val="C00000"/>
                </a:solidFill>
                <a:latin typeface="Microsoft JhengHei"/>
              </a:rPr>
              <a:t>規則</a:t>
            </a:r>
            <a:endParaRPr sz="1500" b="1" dirty="0">
              <a:solidFill>
                <a:srgbClr val="C00000"/>
              </a:solidFill>
              <a:latin typeface="Microsoft JhengHe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861711" y="6054088"/>
            <a:ext cx="4525617" cy="4396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慢的成因是證據不在畫面裡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,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而要建的能力正是把畫面外的東西讀進來;全客戶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54906"/>
            <a:ext cx="11030407" cy="260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導入「</a:t>
            </a:r>
            <a:r>
              <a:rPr lang="en-US" altLang="zh-TW" sz="1500" b="0" dirty="0" err="1">
                <a:solidFill>
                  <a:srgbClr val="6B7885"/>
                </a:solidFill>
                <a:latin typeface="Microsoft JhengHei"/>
              </a:rPr>
              <a:t>AI</a:t>
            </a:r>
            <a:r>
              <a:rPr lang="zh-TW" altLang="en-US" sz="15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爭議回覆自動化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」(第 8–16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週的工作包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):</a:t>
            </a:r>
            <a:r>
              <a:rPr lang="zh-TW" altLang="en-US" sz="15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機器做分析給出事實結果,人工審閱並給出內部覆核</a:t>
            </a:r>
            <a:endParaRPr sz="15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能壓縮的段:撈數據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4392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合計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2.0–5.0 天;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50%–87.5%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由五段各自取端點求得。非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段佔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12.5%–50%。</a:t>
            </a:r>
            <a:endParaRPr lang="en-US" sz="1200" b="0" dirty="0">
              <a:solidFill>
                <a:srgbClr val="6B7885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</a:pPr>
            <a:r>
              <a:rPr sz="1200" b="0" dirty="0">
                <a:solidFill>
                  <a:srgbClr val="FF0000"/>
                </a:solidFill>
                <a:latin typeface="Microsoft JhengHei"/>
              </a:rPr>
              <a:t>⚠ </a:t>
            </a:r>
            <a:r>
              <a:rPr sz="1200" b="0" dirty="0" err="1">
                <a:solidFill>
                  <a:srgbClr val="FF0000"/>
                </a:solidFill>
                <a:latin typeface="Microsoft JhengHei"/>
              </a:rPr>
              <a:t>這五段天數是營運端的估計,不是計時量測</a:t>
            </a:r>
            <a:r>
              <a:rPr sz="1200" b="0" dirty="0">
                <a:solidFill>
                  <a:srgbClr val="FF0000"/>
                </a:solidFill>
                <a:latin typeface="Microsoft JhengHei"/>
              </a:rPr>
              <a:t>;</a:t>
            </a:r>
            <a:r>
              <a:rPr lang="zh-TW" altLang="en-US" sz="1200" b="0" dirty="0">
                <a:solidFill>
                  <a:srgbClr val="FF0000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FF0000"/>
                </a:solidFill>
                <a:latin typeface="Microsoft JhengHei"/>
              </a:rPr>
              <a:t>前六週交出正式量測,若正式拆解推翻它,本案轉排班方案</a:t>
            </a:r>
            <a:r>
              <a:rPr sz="1200" b="0" dirty="0">
                <a:solidFill>
                  <a:srgbClr val="FF0000"/>
                </a:solidFill>
                <a:latin typeface="Microsoft JhengHei"/>
              </a:rPr>
              <a:t>(第 6 </a:t>
            </a:r>
            <a:r>
              <a:rPr sz="1200" b="0" dirty="0" err="1">
                <a:solidFill>
                  <a:srgbClr val="FF0000"/>
                </a:solidFill>
                <a:latin typeface="Microsoft JhengHei"/>
              </a:rPr>
              <a:t>週那個喊停點判</a:t>
            </a:r>
            <a:r>
              <a:rPr sz="1200" b="0" dirty="0">
                <a:solidFill>
                  <a:srgbClr val="FF0000"/>
                </a:solidFill>
                <a:latin typeface="Microsoft JhengHei"/>
              </a:rPr>
              <a:t>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4962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4672" y="3822191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98384"/>
            <a:ext cx="2976753" cy="2605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 err="1">
                <a:solidFill>
                  <a:srgbClr val="1F4E79"/>
                </a:solidFill>
                <a:latin typeface="Microsoft JhengHei"/>
              </a:rPr>
              <a:t>自動證據包</a:t>
            </a:r>
            <a:endParaRPr sz="1500" b="1" dirty="0">
              <a:solidFill>
                <a:srgbClr val="1F4E79"/>
              </a:solidFill>
              <a:latin typeface="Microsoft JhengHe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354839" y="3927880"/>
            <a:ext cx="5068759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讀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影片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+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客戶問題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+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規則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,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產出可讀描述並標出引用的證據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58368" y="4353972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4672" y="4326540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26540"/>
            <a:ext cx="29767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 err="1">
                <a:solidFill>
                  <a:srgbClr val="1F4E79"/>
                </a:solidFill>
                <a:latin typeface="Microsoft JhengHei"/>
              </a:rPr>
              <a:t>爭議回覆自動化</a:t>
            </a:r>
            <a:r>
              <a:rPr sz="1500" b="1" dirty="0">
                <a:solidFill>
                  <a:srgbClr val="1F4E79"/>
                </a:solidFill>
                <a:latin typeface="Microsoft JhengHei"/>
              </a:rPr>
              <a:t>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432229"/>
            <a:ext cx="5068759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對 100%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案件成立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;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lang="en-US" altLang="zh-TW" sz="1200" dirty="0">
                <a:solidFill>
                  <a:srgbClr val="6B7885"/>
                </a:solidFill>
                <a:latin typeface="Microsoft JhengHei"/>
              </a:rPr>
              <a:t>AI</a:t>
            </a:r>
            <a:r>
              <a:rPr lang="zh-TW" altLang="en-US" sz="120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做分析給出事實結果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,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人工審閱並給出內部覆核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58368" y="4858321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4672" y="4830889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30889"/>
            <a:ext cx="29767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936578"/>
            <a:ext cx="5068759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第 16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週後量測;一半靠證據包,一半靠誤報量下降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658368" y="5463254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1247" y="5463254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54906"/>
            <a:ext cx="11030407" cy="260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30 </a:t>
            </a:r>
            <a:r>
              <a:rPr sz="1500" b="0" dirty="0" err="1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台的小車隊</a:t>
            </a:r>
            <a:r>
              <a:rPr lang="zh-TW" altLang="en-US" sz="15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的月均誤報比例</a:t>
            </a:r>
            <a:endParaRPr sz="1500" b="0" dirty="0">
              <a:solidFill>
                <a:srgbClr val="6B7885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147703"/>
              </p:ext>
            </p:extLst>
          </p:nvPr>
        </p:nvGraphicFramePr>
        <p:xfrm>
          <a:off x="658368" y="1755648"/>
          <a:ext cx="10874958" cy="285149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3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32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一個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Microsoft JhengHei"/>
                        </a:rPr>
                        <a:t> 30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台的小車隊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Microsoft JhengHei"/>
                        </a:rPr>
                        <a:t> ·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每月</a:t>
                      </a:r>
                      <a:endParaRPr sz="12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Microsoft JhengHei"/>
                        </a:rPr>
                        <a:t>ADAS ·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行車輔助</a:t>
                      </a:r>
                      <a:endParaRPr sz="12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rgbClr val="6B7885"/>
                          </a:solidFill>
                          <a:latin typeface="Microsoft JhengHei"/>
                        </a:rPr>
                        <a:t>~</a:t>
                      </a:r>
                      <a:r>
                        <a:rPr sz="1200" b="0" dirty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rgbClr val="6B7885"/>
                          </a:solidFill>
                          <a:latin typeface="Microsoft JhengHei"/>
                        </a:rPr>
                        <a:t>~</a:t>
                      </a:r>
                      <a:r>
                        <a:rPr sz="1200" b="0" dirty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  <a:endParaRPr sz="1200" b="0" dirty="0">
                        <a:solidFill>
                          <a:srgbClr val="6B7885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sz="1200" b="1" dirty="0">
                          <a:solidFill>
                            <a:srgbClr val="C00000"/>
                          </a:solidFill>
                          <a:latin typeface="Microsoft JhengHe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C00000"/>
                          </a:solidFill>
                          <a:latin typeface="Microsoft JhengHei"/>
                        </a:rPr>
                        <a:t>要補的是「畫面外</a:t>
                      </a:r>
                      <a:r>
                        <a:rPr sz="1200" b="1" dirty="0">
                          <a:solidFill>
                            <a:srgbClr val="C00000"/>
                          </a:solidFill>
                          <a:latin typeface="Microsoft JhengHei"/>
                        </a:rPr>
                        <a:t>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C00000"/>
                          </a:solidFill>
                          <a:latin typeface="Microsoft JhengHei"/>
                        </a:rPr>
                        <a:t>光線</a:t>
                      </a:r>
                      <a:r>
                        <a:rPr sz="1200" b="0" dirty="0">
                          <a:solidFill>
                            <a:srgbClr val="C00000"/>
                          </a:solidFill>
                          <a:latin typeface="Microsoft JhengHei"/>
                        </a:rPr>
                        <a:t>/</a:t>
                      </a:r>
                      <a:r>
                        <a:rPr sz="1200" b="0" dirty="0" err="1">
                          <a:solidFill>
                            <a:srgbClr val="C00000"/>
                          </a:solidFill>
                          <a:latin typeface="Microsoft JhengHei"/>
                        </a:rPr>
                        <a:t>物件→更強的視覺模型;判準→先統一標註</a:t>
                      </a:r>
                      <a:endParaRPr sz="1200" b="0" dirty="0">
                        <a:solidFill>
                          <a:srgbClr val="C00000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76259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4735163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735163"/>
            <a:ext cx="289102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840852"/>
            <a:ext cx="5154484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行車輔助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780 +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駕駛監控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150;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月事件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12,352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筆、每天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266944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5239512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239512"/>
            <a:ext cx="289102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239512"/>
            <a:ext cx="515448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撐到全客戶的量,再上去要第三台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dirty="0">
                <a:solidFill>
                  <a:srgbClr val="6B7885"/>
                </a:solidFill>
                <a:latin typeface="Microsoft JhengHei"/>
              </a:rPr>
              <a:t>NVIDIA DGX Spark × 2 · 各 128 GB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統一記憶體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 · A$14,200–17,700;瓶頸不是算力,是 273 GB/s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的記憶體頻寬</a:t>
            </a:r>
            <a:endParaRPr sz="15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12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412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91007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61 GB + 72 GB = 133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8164" y="3968496"/>
            <a:ext cx="513543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133 GB &gt; 一台 128 GB;兩台各自常駐,不用換載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91007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8164" y="4472844"/>
            <a:ext cx="513543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擴到全客戶呢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91007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筆/天:上緣 93%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8164" y="4977193"/>
            <a:ext cx="513543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51%、深挖台 46%–93% —— 上緣已接近滿載,再上去要第三台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609558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7" y="5609558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3174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06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06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06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06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023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4543425"/>
            <a:ext cx="453679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65217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56967" y="5165217"/>
            <a:ext cx="155905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49265"/>
            <a:ext cx="4536795" cy="8332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70651" y="4543425"/>
            <a:ext cx="453679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65217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49033" y="5165217"/>
            <a:ext cx="1780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49265"/>
            <a:ext cx="4536795" cy="8332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七件事,每一件都寫了怎麼防、怎麼發現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每一件都有一個會亮的信號 —— 沒有一件是靠「我們會小心」擋住的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9122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8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8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8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這個防法有多大把握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資料｜1 機器會判錯,但講得很順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用白話寫分析結果,並標出用到的數據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講錯的跟講對的一樣順,比錯數字難發現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複核時對一下標的數據,幻覺一眼看得出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每一筆都會對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資料｜2 判定不一致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定期跑一組答案確定的事件,給 AI 校正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那組事件要人維護,而且要定期重跑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校正時答對率掉下來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答案是確定的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組織｜3 機器給了判定結果,人可能照抄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擋不住措辭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倫理｜4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入口不在駕駛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一起寫,手冊比較晚定案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只有五個人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經濟｜6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錢分三段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盯不了行程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5957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5795957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只有中把握的那三件,共同點是都不在我手上:機器的措辭、主管願不願意轉達、高階的行程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政府那八條 AI 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影像保留沒變、駕駛的申訴管道沒變、判錯誰負責我寫清楚了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3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這七條做到了才算成功;下面兩條沒過,上面全部不算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第 6 週交三樣、第 12 週一樣、第 16 週三樣;第 16 週是交件,不是喊停點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94579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效益:七條 · 依交件週次排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第幾週交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 · 爭議 5.25 分(單月)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交出正式量測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建紀錄;贊助人第 16 週訂目標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量出基準;營運第 16 週訂上限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⑥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做了能少請幾個,量出來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829460"/>
          <a:ext cx="10874957" cy="914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喊停條件:兩條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⑧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⑨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喊停的條件是我自己訂的,不是各位逼我加的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前面三件先把 AI 要吃的東西備好,地端 AI 排在第五件 —— 順序不能換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交:每筆現在花多少人力 · 客戶涵蓋率 · 尖峰徵調人時 —— 這三樣今天都沒有紀錄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交:不含 AI 的規則版本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交:客訴的自動證據包。機器找齊證據,成不成立還是人一筆一筆判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交:兩台設備上線。一台掃全部、一台深看客訴;機器寫的結論一律先給人看過才對外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04823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4672" y="4277391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277391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277391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4909756"/>
          <a:ext cx="9658805" cy="16007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35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35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六個月的成本:人 A$7.0–7.9 萬、機器 A$1.4–1.8 萬,另有五項沒估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今天要請各位核准的只有第一段(前六週)A$18,700–20,900,以及指定一位負責的主管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一台掃全部、一台深看客訴;第 6 週後才買,不含在今天要核准的錢裡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這兩台三年總花費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A$2.9–5.2 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764345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含電費、延長保固,還有人要顧它 —— 近半數是顧它的人力,不是機器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想到了但還沒估價的五項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268694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7" y="3865809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3739" y="3773043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人。做了能少請幾個,第 16 週量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" y="4533423"/>
            <a:ext cx="290261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要請各位核准的錢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0855" y="5155215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660855" y="5155215"/>
            <a:ext cx="11170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5539263"/>
            <a:ext cx="2902610" cy="555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2673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36466" y="4533423"/>
            <a:ext cx="290261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② 要請各位指定的人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54955" y="5155215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54955" y="5155215"/>
            <a:ext cx="8656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36466" y="5539263"/>
            <a:ext cx="2902610" cy="555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9510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04836" y="4533423"/>
            <a:ext cx="290261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六個月後各位手上會多三樣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6615" y="5155215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976615" y="5155215"/>
            <a:ext cx="155905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不是承諾,是交付物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04836" y="5539263"/>
            <a:ext cx="2902610" cy="555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8 頁)　Department of Industry, Innovation and Science. (2019). Australia's AI ethics principles. https://www.industry.gov.au/publications/australias-ai-ethics-principles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88336"/>
            <a:ext cx="4623663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5 頁)　Dettmers, T., Lewis, M., Belkada, Y., &amp; Zettlemoyer, L. (2022). GPT3.int8(): 8-bit matrix multiplication for transformers at scale. In Advances in neural information processing systems (Vol. 35).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767328"/>
            <a:ext cx="4623663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7 頁)　Goddard, K., Roudsari, A., &amp; Wyatt, J. C. (2012). Automation bias: A systematic review of frequency, effect mediators, and mitigators. Journal of the American Medical Informatics Association, 19(1), 121–127. https://doi.org/10.1136/amiajnl-2011-000089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093208"/>
            <a:ext cx="4623663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9 頁)　Parasuraman, R., &amp; Manzey, D. H. (2010). Complacency and bias in human use of automation: An attentional integration. Human Factors, 52(3), 381–410. https://doi.org/10.1177/0018720810376055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93511" y="1609344"/>
            <a:ext cx="4623663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7 頁)　Rohrbach, A., Hendricks, L. A., Burns, K., Darrell, T., &amp; Saenko, K. (2018). Object hallucination in image captioning. In Proceedings of the 2018 Conference on Empirical Methods in Natural Language Processing (pp. 4035–4045). https://doi.org/10.18653/v1/D18-1437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3511" y="2935224"/>
            <a:ext cx="4623663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4、10 頁)　Sambasivan, N., Kapania, S., Highfill, H., Akrong, D., Paritosh, P., &amp; Aroyo, L. M. (2021). “Everyone wants to do the model work, not the data work”: Data cascades in high-stakes AI. In Proceedings of the 2021 CHI Conference on Human Factors in Computing Systems. https://doi.org/10.1145/3411764.3445518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4507992"/>
            <a:ext cx="4623663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11 頁)　Sculley, D., Holt, G., Golovin, D., Davydov, E., Phillips, T., Ebner, D., Chaudhary, V., Young, M., Crespo, J.-F., &amp; Dennison, D. (2015). Hidden technical debt in machine learning systems. In Advances in neural information processing systems (Vol. 28).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6490</Words>
  <Application>Microsoft Office PowerPoint</Application>
  <PresentationFormat>寬螢幕</PresentationFormat>
  <Paragraphs>564</Paragraphs>
  <Slides>12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7" baseType="lpstr">
      <vt:lpstr>微軟正黑體</vt:lpstr>
      <vt:lpstr>微軟正黑體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Po-Kai Huang</cp:lastModifiedBy>
  <cp:revision>3</cp:revision>
  <dcterms:created xsi:type="dcterms:W3CDTF">2013-01-27T09:14:16Z</dcterms:created>
  <dcterms:modified xsi:type="dcterms:W3CDTF">2026-08-17T13:13:23Z</dcterms:modified>
  <cp:category/>
</cp:coreProperties>
</file>