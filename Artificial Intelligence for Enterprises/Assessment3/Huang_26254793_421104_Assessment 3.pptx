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【rows[2]本案要建的 AI 能力】16 倍的成因就是證據不在畫面裡,而要建的能力正是把畫面外的東西讀進來</a:t>
            </a:r>
          </a:p>
          <a:p>
            <a:r>
              <a:t>【這一頁的作用】委員會裡不是每個人都懂這條產線,聽不懂就不會核准。這頁先用三張卡把「事件 → 複判 → 爭議」講成外行也懂的一句話,並當場定義什麼是一個事件、什麼是一次爭議、那 5 個人具體在做什麼;再用 16 倍的單價差把痛點釘死在「證據不在畫面裡」,而那正是本案要建的 VLM 能力的靶心。成因與解法印在同一頁,委員會才知道我們要買的不是產能,是把畫面外的脈絡讀進來的能力。合計 29.8–42.9 對上產能 40,也替下一頁的尖峰論證先埋好伏筆。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【rows[0]今天的利用率】平均編制口徑,不是任何一天的同時在線人力;下緣 74% 仍在產能內 —— 本頁主張的是尖峰做不到,不是天天做不完</a:t>
            </a:r>
          </a:p>
          <a:p>
            <a:r>
              <a:t>【rows[1]客戶端已經在承受】客戶期望 2 天內、單純案件當天 —— 客戶期望,非已簽訂之服務水準協議;此為營運端估計,尚未以工單時戳量測,W1–6 交出正式逾時率</a:t>
            </a:r>
          </a:p>
          <a:p>
            <a:r>
              <a:t>【rows[2]尖峰徵調 7 位研發工程師】離開本職支援、非常態編制 —— 開發產能被拿去補分析產能</a:t>
            </a:r>
          </a:p>
          <a:p>
            <a:r>
              <a:t>【rows[3]量已經不是瓶頸】⚠ 估算,非實測;此數只含每日全量批次初篩,不含客戶爭議深挖那條路徑(其吞吐量由 W1–6 量測)。瓶頸是判準與驗證,不是量</a:t>
            </a:r>
          </a:p>
          <a:p>
            <a:r>
              <a:t>【這一頁的作用】這頁回答委員會最會問的兩題:為什麼是現在、為什麼是 AI 而不是加人。五段天數必須印出來,委員會才親眼看到 43%–78% 落在模型碰得到的那兩段;而那條因果句(兩段慢的原因是同一個技術缺陷)把整頁從營運圖表升級成 AI 立案 —— 沒有它,這只證明「有件事很花時間」。同一頁又自己標明證據等級(營運端估計,非量測)並給出反向出口(推翻就轉排班),把核准變成一個低風險決定;右側的利用率上緣破百與徵調 7 位研發,則把時效缺口接回錢與機會成本。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【matrix[3]這兩個比例共用同一把尺】尺的一致性我們從來沒量過 —— 不比誰準,只指出錯的性質不同</a:t>
            </a:r>
          </a:p>
          <a:p>
            <a:r>
              <a:t>【rows[0]該樣本全部誤報】母體換算:效益與衡量那頁用的「104 / 1,029 ≈ 10.1%」只算 ADAS 那一側 —— 兩頁分子不同不是矛盾,是母體不同</a:t>
            </a:r>
          </a:p>
          <a:p>
            <a:r>
              <a:t>【rows[1]同一個根因】該樣本全部誤報中,根因為交通標誌辨識者;公司自己的口徑</a:t>
            </a:r>
          </a:p>
          <a:p>
            <a:r>
              <a:t>【這一頁的作用】委員會要的不是「我們很忙」,是「痛點有多嚴重、而且解得掉」。這頁先用一件真的做完的案子把嚴重性量出來(1,647 筆吃掉 5 個人 3.6 個工作日 = 144 人時),再把病拆成兩種(行車輔助錯的是模型、駕駛監控錯的是人),最後匯流到一個可工程化的靶心:八成三的誤報同一個根因,而解它要的速限資料公司已經有、今天就能動。這是整份提案裡投報最可信的一格 —— 靶心明確、資產已備、且母體與證據等級全部自己標了出來,答辯時沒有可攻擊的空隙。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【rows[0]這份測試是什麼】獨立樣本,非 1,647 筆母體;一次性測試,不是常設量測 - 這是公司到今天唯一的漏放數字</a:t>
            </a:r>
          </a:p>
          <a:p>
            <a:r>
              <a:t>【rows[3]其中:低光或雨天的超速標誌漏偵】與誤報第一大根因同源:交通標誌辨識 - 誤報與漏放接在同一條線索上</a:t>
            </a:r>
          </a:p>
          <a:p>
            <a:r>
              <a:t>【rows[4]待客戶說明用途,無法歸類】四分之一的樣本連歸類都做不到 - 這一列本身就是「樣本有多薄」的證據</a:t>
            </a:r>
          </a:p>
          <a:p>
            <a:r>
              <a:t>【rows[5]我對這條線索的定性】W1-6 由評估底座那一包做成帶信賴區間的估計;不成立就換靶心,G1(第 6 週)判</a:t>
            </a:r>
          </a:p>
          <a:p>
            <a:r>
              <a:t>【matrix[1]處理】感測器故障;人工標註本身就會錯 - 而標註錯誤足以改變模型的評比結論(Northcutt et al., 2021);跨系統重複記錄</a:t>
            </a:r>
          </a:p>
          <a:p>
            <a:r>
              <a:t>【matrix[2]處理後的理解程度】目前不一致:同一段影片,不同複核者會給不同標籤(低頭 vs 閉眼、保溫瓶 vs 手機),而這個不一致從來沒有被量測過</a:t>
            </a:r>
          </a:p>
          <a:p>
            <a:r>
              <a:t>【這一頁的作用】這一頁把「為什麼第一筆錢要買量測,而不是買模型」變成委員會看得見的東西:左邊誤報有母體、有比例、有根因,右邊漏放只有一份 39 筆、自註為下限、還有四分之一無法歸類 - 兩側證據強度的落差本身就是提案的理由。同時它用真實案例數據(1,647 筆樣本、103/124、39 筆測試、6/12)證明痛點不是修辭,再用 Ensign 的回饋迴路說明「沒有人回看的那一流」為什麼會讓錯誤永久留下,把痛點從『這次判錯了』升級成『這個錯誤系統性地不會被發現』。最後主動把最強的線索降級成假說並綁到 G1,誠實度因此是被證明的而不是被宣稱的。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【matrix[0]選項 0</a:t>
            </a:r>
          </a:p>
          <a:p>
            <a:r>
              <a:t>加人】以現行做法增聘專職複核人力,覆蓋全部既有客戶</a:t>
            </a:r>
          </a:p>
          <a:p>
            <a:r>
              <a:t>【matrix[0]選項 0</a:t>
            </a:r>
          </a:p>
          <a:p>
            <a:r>
              <a:t>加人】線性:量幾倍,人就要幾倍 → 需 17-24 人(現有 5 人)〔提案推算,非核定編制〕</a:t>
            </a:r>
          </a:p>
          <a:p>
            <a:r>
              <a:t>【matrix[0]選項 0</a:t>
            </a:r>
          </a:p>
          <a:p>
            <a:r>
              <a:t>加人】停不下來:編制是常態支出,而那個迴路照樣轉</a:t>
            </a:r>
          </a:p>
          <a:p>
            <a:r>
              <a:t>【matrix[0]選項 0</a:t>
            </a:r>
          </a:p>
          <a:p>
            <a:r>
              <a:t>加人】拒絕 - 加人只是沿著同一條成本曲線移動,不是把曲線整條外推(完整算式與迴路見下方卡片)</a:t>
            </a:r>
          </a:p>
          <a:p>
            <a:r>
              <a:t>【matrix[0]name】選項 0</a:t>
            </a:r>
          </a:p>
          <a:p>
            <a:r>
              <a:t>加人</a:t>
            </a:r>
          </a:p>
          <a:p>
            <a:r>
              <a:t>【matrix[1]選項 0b</a:t>
            </a:r>
          </a:p>
          <a:p>
            <a:r>
              <a:t>調班 + 尖峰人力池】重排班表,把尖峰徵調的 7 位研發工程師從臨時支援變成有編組、有訓練的正式安排(尖峰徵調是現在就在跑的簡易版)</a:t>
            </a:r>
          </a:p>
          <a:p>
            <a:r>
              <a:t>【matrix[1]選項 0b</a:t>
            </a:r>
          </a:p>
          <a:p>
            <a:r>
              <a:t>調班 + 尖峰人力池】仍線性,但斜率略低;削得掉尖峰,削不掉每日底量。⚠️ 斜率與削峰幅度目前沒有量測</a:t>
            </a:r>
          </a:p>
          <a:p>
            <a:r>
              <a:t>【matrix[1]選項 0b</a:t>
            </a:r>
          </a:p>
          <a:p>
            <a:r>
              <a:t>調班 + 尖峰人力池】隨時可停、可退回原班表 - 五條路裡反悔成本最低的一條</a:t>
            </a:r>
          </a:p>
          <a:p>
            <a:r>
              <a:t>【matrix[1]選項 0b</a:t>
            </a:r>
          </a:p>
          <a:p>
            <a:r>
              <a:t>調班 + 尖峰人力池】待 G1 判定,本案不預先否決它 - 它是最便宜的解。營運端三個限制〔第一手經驗,不是量測〕:新人約三個月才判得準 · 影像有隱私限制不能外包 · 過去擴大人力判準反而更亂;另一項:排班只動得了排隊那 0-1 天</a:t>
            </a:r>
          </a:p>
          <a:p>
            <a:r>
              <a:t>【matrix[1]name】選項 0b</a:t>
            </a:r>
          </a:p>
          <a:p>
            <a:r>
              <a:t>調班 + 尖峰人力池</a:t>
            </a:r>
          </a:p>
          <a:p>
            <a:r>
              <a:t>【matrix[2]選項 1</a:t>
            </a:r>
          </a:p>
          <a:p>
            <a:r>
              <a:t>規則式脈絡融合(不用機器學習)】定位 + 地圖速限硬規則比對,把畫面外的脈絡接到事件上</a:t>
            </a:r>
          </a:p>
          <a:p>
            <a:r>
              <a:t>【matrix[2]選項 1</a:t>
            </a:r>
          </a:p>
          <a:p>
            <a:r>
              <a:t>規則式脈絡融合(不用機器學習)】一次性建置,之後整段下移一階、後續仍線性</a:t>
            </a:r>
          </a:p>
          <a:p>
            <a:r>
              <a:t>【matrix[2]選項 1</a:t>
            </a:r>
          </a:p>
          <a:p>
            <a:r>
              <a:t>規則式脈絡融合(不用機器學習)】可逐條檢查、可回退到規則本身</a:t>
            </a:r>
          </a:p>
          <a:p>
            <a:r>
              <a:t>【matrix[2]選項 1</a:t>
            </a:r>
          </a:p>
          <a:p>
            <a:r>
              <a:t>規則式脈絡融合(不用機器學習)】先做 - 某小型車隊單月樣本中 103 / 124 = 83% 的誤報同一根因,而速限資料自有;高風險決策場景應優先使用可逐條檢查的可解釋方法,而不是對黑箱做事後解釋(Rudin, 2019)。它同時是選項 2 的對照基線</a:t>
            </a:r>
          </a:p>
          <a:p>
            <a:r>
              <a:t>【matrix[2]name】選項 1</a:t>
            </a:r>
          </a:p>
          <a:p>
            <a:r>
              <a:t>規則式脈絡融合(不用機器學習)</a:t>
            </a:r>
          </a:p>
          <a:p>
            <a:r>
              <a:t>【matrix[3]選項 2</a:t>
            </a:r>
          </a:p>
          <a:p>
            <a:r>
              <a:t>地端視覺語言模型事件判讀】讓機器讀懂一次事件的完整脈絡(影片 + 客戶問題 + 規則),產出可交付的描述與證據包</a:t>
            </a:r>
          </a:p>
          <a:p>
            <a:r>
              <a:t>【matrix[3]選項 2</a:t>
            </a:r>
          </a:p>
          <a:p>
            <a:r>
              <a:t>地端視覺語言模型事件判讀】前期一次性投入,之後次線性 - 事件量繼續長,人時不跟著等比長。這是五條裡唯一不是線性的形狀</a:t>
            </a:r>
          </a:p>
          <a:p>
            <a:r>
              <a:t>【matrix[3]選項 2</a:t>
            </a:r>
          </a:p>
          <a:p>
            <a:r>
              <a:t>地端視覺語言模型事件判讀】三道門都可停:G1(W6)· G2(W12)· G3(W24);且六個月內對外自動結案 0%</a:t>
            </a:r>
          </a:p>
          <a:p>
            <a:r>
              <a:t>【matrix[3]選項 2</a:t>
            </a:r>
          </a:p>
          <a:p>
            <a:r>
              <a:t>地端視覺語言模型事件判讀】採用 - 前三包不是流程改善,是評估它的必要前置:量測底座 = 評估基準(沒有它不知道模型判得對不對)· 判準統一 = 驗證資料(判準不一致的標註餵給模型就是垃圾進垃圾出)· 規則式 = 對照基線(要證明模型有增量,得先有一個不用它的基準)</a:t>
            </a:r>
          </a:p>
          <a:p>
            <a:r>
              <a:t>【matrix[3]name】選項 2</a:t>
            </a:r>
          </a:p>
          <a:p>
            <a:r>
              <a:t>地端視覺語言模型事件判讀</a:t>
            </a:r>
          </a:p>
          <a:p>
            <a:r>
              <a:t>【matrix[4]選項 3</a:t>
            </a:r>
          </a:p>
          <a:p>
            <a:r>
              <a:t>公司既有的雲端判讀規劃】不在本案範圍,由技術長辦公室決定</a:t>
            </a:r>
          </a:p>
          <a:p>
            <a:r>
              <a:t>【matrix[4]選項 3</a:t>
            </a:r>
          </a:p>
          <a:p>
            <a:r>
              <a:t>公司既有的雲端判讀規劃】前置條件,不是競爭關係 - 雲端判定真假,誰判定雲端?本案提供它需要的可稽核量測與乾淨標註</a:t>
            </a:r>
          </a:p>
          <a:p>
            <a:r>
              <a:t>【matrix[4]name】選項 3</a:t>
            </a:r>
          </a:p>
          <a:p>
            <a:r>
              <a:t>公司既有的雲端判讀規劃</a:t>
            </a:r>
          </a:p>
          <a:p>
            <a:r>
              <a:t>【這一頁的作用】這一頁要讓委員會相信兩件事。第一,這個 AI 提案是被比較過的:五條路用同一組欄位並排 - 做什麼、成本形狀、能不能停、為什麼 - 差別因此不再是五段等長的描述,而是四種可以一眼分辨的曲線(線性 / 線性但削峰 / 一次性下移一階 / 次線性 / 尚未開始),而唯一不是線性的那一條就是採用案。第二,這個提案是可以被否決的:最便宜的調班沒有被畫醜也沒有被預先否決,選項 0 用最保守、對本案最不利的算法拒絕,G1 有兩個同粗的出口,其中一個出口通向不做本案。最後把 85% 降級成一個要在 W12 被凍結測試集驗、而且六個月內一筆都不對外生效的推估 - 委員會今天核准的是一道可以否決自己的量測,不是一個 85% 的承諾。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【matrix[0]R1 技術局限 · 成功 中</a:t>
            </a:r>
          </a:p>
          <a:p>
            <a:r>
              <a:t>模型不可解釋 → 複核者不信任】解釋:輸出可讀的描述與</a:t>
            </a:r>
          </a:p>
          <a:p>
            <a:r>
              <a:t>引用到的證據 (Rudin, 2019)</a:t>
            </a:r>
          </a:p>
          <a:p>
            <a:r>
              <a:t>【matrix[0]R1 技術局限 · 成功 中</a:t>
            </a:r>
          </a:p>
          <a:p>
            <a:r>
              <a:t>模型不可解釋 → 複核者不信任】錯的描述一樣通順,</a:t>
            </a:r>
          </a:p>
          <a:p>
            <a:r>
              <a:t>比錯的分數更難察覺</a:t>
            </a:r>
          </a:p>
          <a:p>
            <a:r>
              <a:t>【matrix[0]R1 技術局限 · 成功 中</a:t>
            </a:r>
          </a:p>
          <a:p>
            <a:r>
              <a:t>模型不可解釋 → 複核者不信任】推翻模型判定的比例不降;</a:t>
            </a:r>
          </a:p>
          <a:p>
            <a:r>
              <a:t>只看得到人有看的那些</a:t>
            </a:r>
          </a:p>
          <a:p>
            <a:r>
              <a:t>【matrix[0]name】R1 技術局限 · 成功 中</a:t>
            </a:r>
          </a:p>
          <a:p>
            <a:r>
              <a:t>模型不可解釋 → 複核者不信任</a:t>
            </a:r>
          </a:p>
          <a:p>
            <a:r>
              <a:t>【matrix[1]R2 數據 · 成功 中</a:t>
            </a:r>
          </a:p>
          <a:p>
            <a:r>
              <a:t>資料級聯:判準與脈絡資料】審計:黃金題 + 抽樣雙人</a:t>
            </a:r>
          </a:p>
          <a:p>
            <a:r>
              <a:t>複核 + 來源版本快照</a:t>
            </a:r>
          </a:p>
          <a:p>
            <a:r>
              <a:t>【matrix[1]R2 數據 · 成功 中</a:t>
            </a:r>
          </a:p>
          <a:p>
            <a:r>
              <a:t>資料級聯:判準與脈絡資料】雙人複核使複核成本</a:t>
            </a:r>
          </a:p>
          <a:p>
            <a:r>
              <a:t>近倍增,需以抽樣控制</a:t>
            </a:r>
          </a:p>
          <a:p>
            <a:r>
              <a:t>【matrix[1]R2 數據 · 成功 中</a:t>
            </a:r>
          </a:p>
          <a:p>
            <a:r>
              <a:t>資料級聯:判準與脈絡資料】交通標誌根因佔比偏離基準</a:t>
            </a:r>
          </a:p>
          <a:p>
            <a:r>
              <a:t>基準 = 某小型車隊單月樣本 83%</a:t>
            </a:r>
          </a:p>
          <a:p>
            <a:r>
              <a:t>【matrix[1]name】R2 數據 · 成功 中</a:t>
            </a:r>
          </a:p>
          <a:p>
            <a:r>
              <a:t>資料級聯:判準與脈絡資料</a:t>
            </a:r>
          </a:p>
          <a:p>
            <a:r>
              <a:t>【matrix[2]R3 數據｜自動化偏差 · 成功 中</a:t>
            </a:r>
          </a:p>
          <a:p>
            <a:r>
              <a:t>(Parasuraman &amp; Manzey, 2010)】教育・介面 (Goddard et al., 2012)</a:t>
            </a:r>
          </a:p>
          <a:p>
            <a:r>
              <a:t>介面不顯示信心 (Guo et al., 2017)</a:t>
            </a:r>
          </a:p>
          <a:p>
            <a:r>
              <a:t>【matrix[2]R3 數據｜自動化偏差 · 成功 中</a:t>
            </a:r>
          </a:p>
          <a:p>
            <a:r>
              <a:t>(Parasuraman &amp; Manzey, 2010)】不顯示信心使複核變慢,</a:t>
            </a:r>
          </a:p>
          <a:p>
            <a:r>
              <a:t>與時效缺口相衝</a:t>
            </a:r>
          </a:p>
          <a:p>
            <a:r>
              <a:t>【matrix[2]R3 數據｜自動化偏差 · 成功 中</a:t>
            </a:r>
          </a:p>
          <a:p>
            <a:r>
              <a:t>(Parasuraman &amp; Manzey, 2010)】盲測組與對照組判定差異</a:t>
            </a:r>
          </a:p>
          <a:p>
            <a:r>
              <a:t>超過設計書所訂容忍值</a:t>
            </a:r>
          </a:p>
          <a:p>
            <a:r>
              <a:t>【matrix[2]name】R3 數據｜自動化偏差 · 成功 中</a:t>
            </a:r>
          </a:p>
          <a:p>
            <a:r>
              <a:t>(Parasuraman &amp; Manzey, 2010)</a:t>
            </a:r>
          </a:p>
          <a:p>
            <a:r>
              <a:t>【matrix[3]R4 倫理 · 成功 低</a:t>
            </a:r>
          </a:p>
          <a:p>
            <a:r>
              <a:t>駕駛本人沒有申訴管道】問責:申訴機制到位前,</a:t>
            </a:r>
          </a:p>
          <a:p>
            <a:r>
              <a:t>產出不供個人考核使用</a:t>
            </a:r>
          </a:p>
          <a:p>
            <a:r>
              <a:t>【matrix[3]R4 倫理 · 成功 低</a:t>
            </a:r>
          </a:p>
          <a:p>
            <a:r>
              <a:t>駕駛本人沒有申訴管道】限制用途會降低</a:t>
            </a:r>
          </a:p>
          <a:p>
            <a:r>
              <a:t>客戶端採用意願</a:t>
            </a:r>
          </a:p>
          <a:p>
            <a:r>
              <a:t>【matrix[3]R4 倫理 · 成功 低</a:t>
            </a:r>
          </a:p>
          <a:p>
            <a:r>
              <a:t>駕駛本人沒有申訴管道】駕駛端申訴無處可收,</a:t>
            </a:r>
          </a:p>
          <a:p>
            <a:r>
              <a:t>件數恆為零</a:t>
            </a:r>
          </a:p>
          <a:p>
            <a:r>
              <a:t>【matrix[3]name】R4 倫理 · 成功 低</a:t>
            </a:r>
          </a:p>
          <a:p>
            <a:r>
              <a:t>駕駛本人沒有申訴管道</a:t>
            </a:r>
          </a:p>
          <a:p>
            <a:r>
              <a:t>【matrix[4]R5 社會性 · 成功 高</a:t>
            </a:r>
          </a:p>
          <a:p>
            <a:r>
              <a:t>複核團隊抵觸角色改變】教育:角色轉型說明 +</a:t>
            </a:r>
          </a:p>
          <a:p>
            <a:r>
              <a:t>判準手冊共同編寫</a:t>
            </a:r>
          </a:p>
          <a:p>
            <a:r>
              <a:t>【matrix[4]R5 社會性 · 成功 高</a:t>
            </a:r>
          </a:p>
          <a:p>
            <a:r>
              <a:t>複核團隊抵觸角色改變】參與式做法拉長</a:t>
            </a:r>
          </a:p>
          <a:p>
            <a:r>
              <a:t>判準定案時程</a:t>
            </a:r>
          </a:p>
          <a:p>
            <a:r>
              <a:t>【matrix[4]R5 社會性 · 成功 高</a:t>
            </a:r>
          </a:p>
          <a:p>
            <a:r>
              <a:t>複核團隊抵觸角色改變】複核團隊留任率或</a:t>
            </a:r>
          </a:p>
          <a:p>
            <a:r>
              <a:t>黃金題參與率下滑</a:t>
            </a:r>
          </a:p>
          <a:p>
            <a:r>
              <a:t>【matrix[4]name】R5 社會性 · 成功 高</a:t>
            </a:r>
          </a:p>
          <a:p>
            <a:r>
              <a:t>複核團隊抵觸角色改變</a:t>
            </a:r>
          </a:p>
          <a:p>
            <a:r>
              <a:t>【matrix[5]R6 經濟 · 成功 中</a:t>
            </a:r>
          </a:p>
          <a:p>
            <a:r>
              <a:t>期內回本難證 · 與雲端競合】審計:三道決策門</a:t>
            </a:r>
          </a:p>
          <a:p>
            <a:r>
              <a:t>逐段釋出額度</a:t>
            </a:r>
          </a:p>
          <a:p>
            <a:r>
              <a:t>【matrix[5]R6 經濟 · 成功 中</a:t>
            </a:r>
          </a:p>
          <a:p>
            <a:r>
              <a:t>期內回本難證 · 與雲端競合】分段釋出使長週期</a:t>
            </a:r>
          </a:p>
          <a:p>
            <a:r>
              <a:t>工作包難以排人</a:t>
            </a:r>
          </a:p>
          <a:p>
            <a:r>
              <a:t>【matrix[5]R6 經濟 · 成功 中</a:t>
            </a:r>
          </a:p>
          <a:p>
            <a:r>
              <a:t>期內回本難證 · 與雲端競合】決策門審查時單位成本</a:t>
            </a:r>
          </a:p>
          <a:p>
            <a:r>
              <a:t>改善低於門檻</a:t>
            </a:r>
          </a:p>
          <a:p>
            <a:r>
              <a:t>【matrix[5]name】R6 經濟 · 成功 中</a:t>
            </a:r>
          </a:p>
          <a:p>
            <a:r>
              <a:t>期內回本難證 · 與雲端競合</a:t>
            </a:r>
          </a:p>
          <a:p>
            <a:r>
              <a:t>【matrix[6]R7 組織與管理 · 成功 高</a:t>
            </a:r>
          </a:p>
          <a:p>
            <a:r>
              <a:t>缺管理層支持(誠實命中)】問責:贊助人指派 +</a:t>
            </a:r>
          </a:p>
          <a:p>
            <a:r>
              <a:t>決策門出席為放行前提</a:t>
            </a:r>
          </a:p>
          <a:p>
            <a:r>
              <a:t>【matrix[6]R7 組織與管理 · 成功 高</a:t>
            </a:r>
          </a:p>
          <a:p>
            <a:r>
              <a:t>缺管理層支持(誠實命中)】決策門增加治理負擔</a:t>
            </a:r>
          </a:p>
          <a:p>
            <a:r>
              <a:t>與會議成本</a:t>
            </a:r>
          </a:p>
          <a:p>
            <a:r>
              <a:t>【matrix[6]R7 組織與管理 · 成功 高</a:t>
            </a:r>
          </a:p>
          <a:p>
            <a:r>
              <a:t>缺管理層支持(誠實命中)】決策門連續兩次</a:t>
            </a:r>
          </a:p>
          <a:p>
            <a:r>
              <a:t>無高階出席</a:t>
            </a:r>
          </a:p>
          <a:p>
            <a:r>
              <a:t>【matrix[6]name】R7 組織與管理 · 成功 高</a:t>
            </a:r>
          </a:p>
          <a:p>
            <a:r>
              <a:t>缺管理層支持(誠實命中)</a:t>
            </a:r>
          </a:p>
          <a:p>
            <a:r>
              <a:t>【matrix[7]R8 政治法律政策 · 尚無緩解</a:t>
            </a:r>
          </a:p>
          <a:p>
            <a:r>
              <a:t>「曾判為誤報」的舉證地位】問責:法務書面意見</a:t>
            </a:r>
          </a:p>
          <a:p>
            <a:r>
              <a:t>於 G1(第 6 週)前到位</a:t>
            </a:r>
          </a:p>
          <a:p>
            <a:r>
              <a:t>【matrix[7]R8 政治法律政策 · 尚無緩解</a:t>
            </a:r>
          </a:p>
          <a:p>
            <a:r>
              <a:t>「曾判為誤報」的舉證地位】無 —— 目前沒有</a:t>
            </a:r>
          </a:p>
          <a:p>
            <a:r>
              <a:t>可執行的緩解措施</a:t>
            </a:r>
          </a:p>
          <a:p>
            <a:r>
              <a:t>【matrix[7]R8 政治法律政策 · 尚無緩解</a:t>
            </a:r>
          </a:p>
          <a:p>
            <a:r>
              <a:t>「曾判為誤報」的舉證地位】客戶回頭標記的案件中</a:t>
            </a:r>
          </a:p>
          <a:p>
            <a:r>
              <a:t>出現援引我方誤報的爭議</a:t>
            </a:r>
          </a:p>
          <a:p>
            <a:r>
              <a:t>【matrix[7]name】R8 政治法律政策 · 尚無緩解</a:t>
            </a:r>
          </a:p>
          <a:p>
            <a:r>
              <a:t>「曾判為誤報」的舉證地位</a:t>
            </a:r>
          </a:p>
          <a:p>
            <a:r>
              <a:t>【matrix[8]R9 倫理｜自動結案的漏放</a:t>
            </a:r>
          </a:p>
          <a:p>
            <a:r>
              <a:t>本案自己造成的 · 放行門在移交後】問責:六個月影子模式(對外 0%)</a:t>
            </a:r>
          </a:p>
          <a:p>
            <a:r>
              <a:t>碰撞 / 疲勞 / 行人不自動結案</a:t>
            </a:r>
          </a:p>
          <a:p>
            <a:r>
              <a:t>【matrix[8]R9 倫理｜自動結案的漏放</a:t>
            </a:r>
          </a:p>
          <a:p>
            <a:r>
              <a:t>本案自己造成的 · 放行門在移交後】抽樣稽核吃掉自動化</a:t>
            </a:r>
          </a:p>
          <a:p>
            <a:r>
              <a:t>省下來的一部分(見資源頁)</a:t>
            </a:r>
          </a:p>
          <a:p>
            <a:r>
              <a:t>【matrix[8]R9 倫理｜自動結案的漏放</a:t>
            </a:r>
          </a:p>
          <a:p>
            <a:r>
              <a:t>本案自己造成的 · 放行門在移交後】漏濾率(否決型):自動結案桶</a:t>
            </a:r>
          </a:p>
          <a:p>
            <a:r>
              <a:t>與人工桶的漏放率差值 95% CI</a:t>
            </a:r>
          </a:p>
          <a:p>
            <a:r>
              <a:t>【matrix[8]name】R9 倫理｜自動結案的漏放</a:t>
            </a:r>
          </a:p>
          <a:p>
            <a:r>
              <a:t>本案自己造成的 · 放行門在移交後</a:t>
            </a:r>
          </a:p>
          <a:p>
            <a:r>
              <a:t>【matrix[9]R10 倫理｜自動結案的冤枉</a:t>
            </a:r>
          </a:p>
          <a:p>
            <a:r>
              <a:t>本案自己造成的 · 放行門在移交後】問責:申訴即強制轉人工</a:t>
            </a:r>
          </a:p>
          <a:p>
            <a:r>
              <a:t>且不得由同一模型複判</a:t>
            </a:r>
          </a:p>
          <a:p>
            <a:r>
              <a:t>【matrix[9]R10 倫理｜自動結案的冤枉</a:t>
            </a:r>
          </a:p>
          <a:p>
            <a:r>
              <a:t>本案自己造成的 · 放行門在移交後】轉人工的量與時效</a:t>
            </a:r>
          </a:p>
          <a:p>
            <a:r>
              <a:t>回到人力瓶頸上</a:t>
            </a:r>
          </a:p>
          <a:p>
            <a:r>
              <a:t>【matrix[9]R10 倫理｜自動結案的冤枉</a:t>
            </a:r>
          </a:p>
          <a:p>
            <a:r>
              <a:t>本案自己造成的 · 放行門在移交後】申訴率與</a:t>
            </a:r>
          </a:p>
          <a:p>
            <a:r>
              <a:t>申訴翻案率</a:t>
            </a:r>
          </a:p>
          <a:p>
            <a:r>
              <a:t>【matrix[9]name】R10 倫理｜自動結案的冤枉</a:t>
            </a:r>
          </a:p>
          <a:p>
            <a:r>
              <a:t>本案自己造成的 · 放行門在移交後</a:t>
            </a:r>
          </a:p>
          <a:p>
            <a:r>
              <a:t>【這一頁的作用】直接修 Kenny 第 6 點:原版 2D 位移圖看得到「移動了多少」卻看不到「哪一條對應什麼解法」。改成一列一條風險、同一列並排緩解 → 緩解自己的代價 → 偵測訊號,委員會用眼睛掃一行就答得出「這條誰負責、怎麼知道它壞了」。三條紅底是本頁的說服力來源:R8 承認沒有解、R9/R10 承認是這個 AI 方案自己製造的新風險(自動結案的漏放與冤枉),並且把它們的放行責任明確推到本案之外那道門 —— 主動揭露換取委員會對其餘七條的信任。成功可能性標在每條風險名右側,補上評分要求的第三個維度。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【matrix[0]對照框架:澳洲 AI 倫理八原則 2019 年版</a:t>
            </a:r>
          </a:p>
          <a:p>
            <a:r>
              <a:t>(Department of Industry, Science and Resources, 2019)】本頁只用 2019 年版</a:t>
            </a:r>
          </a:p>
          <a:p>
            <a:r>
              <a:t>理由:逐條可公開查證</a:t>
            </a:r>
          </a:p>
          <a:p>
            <a:r>
              <a:t>【matrix[0]對照框架:澳洲 AI 倫理八原則 2019 年版</a:t>
            </a:r>
          </a:p>
          <a:p>
            <a:r>
              <a:t>(Department of Industry, Science and Resources, 2019)】2025 已有後續採用指引</a:t>
            </a:r>
          </a:p>
          <a:p>
            <a:r>
              <a:t>移交前重跑一次對照</a:t>
            </a:r>
          </a:p>
          <a:p>
            <a:r>
              <a:t>【matrix[0]name】對照框架:澳洲 AI 倫理八原則 2019 年版</a:t>
            </a:r>
          </a:p>
          <a:p>
            <a:r>
              <a:t>(Department of Industry, Science and Resources, 2019)</a:t>
            </a:r>
          </a:p>
          <a:p>
            <a:r>
              <a:t>【matrix[1]name】1 人類、社會與環境福祉</a:t>
            </a:r>
          </a:p>
          <a:p>
            <a:r>
              <a:t>期內同樣人力承接更高複核量;移交後那約 850 筆無人覆核〔推估,非實測〕</a:t>
            </a:r>
          </a:p>
          <a:p>
            <a:r>
              <a:t>【matrix[2]name】2 以人為本的價值觀</a:t>
            </a:r>
          </a:p>
          <a:p>
            <a:r>
              <a:t>期內人仍逐筆判;移交後駕駛承受的是機器單方面的決定</a:t>
            </a:r>
          </a:p>
          <a:p>
            <a:r>
              <a:t>【matrix[3]name】3 公平性 (Australian Human Rights Commission, 2020)</a:t>
            </a:r>
          </a:p>
          <a:p>
            <a:r>
              <a:t>期內排序仍依客戶購買量;移交後配給依據換成機器的信心</a:t>
            </a:r>
          </a:p>
          <a:p>
            <a:r>
              <a:t>【matrix[4]name】4 隱私保護與安全</a:t>
            </a:r>
          </a:p>
          <a:p>
            <a:r>
              <a:t>擴大影像調閱與判定紀錄保存;唯一不因自動結案而惡化的一條</a:t>
            </a:r>
          </a:p>
          <a:p>
            <a:r>
              <a:t>【matrix[5]name】5 可靠性與安全性</a:t>
            </a:r>
          </a:p>
          <a:p>
            <a:r>
              <a:t>漏放率目前不存在,只有一份 39 筆人工觸發測試(獨立樣本,自註為下限)</a:t>
            </a:r>
          </a:p>
          <a:p>
            <a:r>
              <a:t>【matrix[6]name】6 透明性與解釋性</a:t>
            </a:r>
          </a:p>
          <a:p>
            <a:r>
              <a:t>對客戶揭露到哪一層尚未決定;移交後客戶不會知道那是機器判的</a:t>
            </a:r>
          </a:p>
          <a:p>
            <a:r>
              <a:t>【matrix[7]7 可申訴性</a:t>
            </a:r>
          </a:p>
          <a:p>
            <a:r>
              <a:t>只有車隊安全主管能標記,駕駛本人不能提出質疑】未達成</a:t>
            </a:r>
          </a:p>
          <a:p>
            <a:r>
              <a:t>部署否決條件</a:t>
            </a:r>
          </a:p>
          <a:p>
            <a:r>
              <a:t>【matrix[7]name】7 可申訴性</a:t>
            </a:r>
          </a:p>
          <a:p>
            <a:r>
              <a:t>只有車隊安全主管能標記,駕駛本人不能提出質疑</a:t>
            </a:r>
          </a:p>
          <a:p>
            <a:r>
              <a:t>【matrix[8]name】8 問責性</a:t>
            </a:r>
          </a:p>
          <a:p>
            <a:r>
              <a:t>RACI 與三道決策門管的是專案;那 850 筆裡某一筆判錯,沒有人簽過名</a:t>
            </a:r>
          </a:p>
          <a:p>
            <a:r>
              <a:t>【這一頁的作用】直接修 Kenny 第 7 點的後半:這一頁先用標題回答「為什麼一個 AI 提案要談倫理」—— 因為這個方案的產出就是把每 1,000 筆爭議裡約 850 筆變成沒有人看過的判定,那是它的代價,不是外掛的合規章節。雙欄評等讓委員會當場知道自己今天批的是哪一欄(專案期,影子模式,人仍逐筆判),而移交後那七盞紅燈全部掛在第 24 週那道門上;第 4 條保持白底是刻意的對照 —— 它是唯一不因自動結案而惡化的一條。全頁綠燈零條不是失分,是把「移交條件」寫成可稽核的待辦清單,也把前六週的預算正當化成把紅燈變回琥珀的唯一路徑。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【matrix[0]業務① 客戶爭議回覆時效｜主要業務價值指標】單件爭議從分析到回信的完整鏈路,平均 2–5 天;約半數超過兩天(營運端估計,不是量測,W6 交出正式量測)</a:t>
            </a:r>
          </a:p>
          <a:p>
            <a:r>
              <a:t>【matrix[0]業務① 客戶爭議回覆時效｜主要業務價值指標】2 天內;單純案件當天〔提案目標 · 客戶期望,非已簽訂之服務水準協議〕。改善來源有兩項:證據包自動化、誤報量下降;各自佔多少由 W16 量測後給出</a:t>
            </a:r>
          </a:p>
          <a:p>
            <a:r>
              <a:t>【matrix[0]name】業務① 客戶爭議回覆時效｜主要業務價值指標</a:t>
            </a:r>
          </a:p>
          <a:p>
            <a:r>
              <a:t>【matrix[1]業務② 獲得人工驗證判定的客戶涵蓋率】現況為配給制,依購買量與問題嚴重性排序;涵蓋率無紀錄,W6 建立</a:t>
            </a:r>
          </a:p>
          <a:p>
            <a:r>
              <a:t>【matrix[1]業務② 獲得人工驗證判定的客戶涵蓋率】本案期內維持 100%(影子模式,機器不對外結案)。移交後開到天花板時會降到約 15% —— 那是本案造成的,不是本案要解的;移交後目標值須與自動結案的放行門一起訂</a:t>
            </a:r>
          </a:p>
          <a:p>
            <a:r>
              <a:t>【matrix[2]業務③ 可服務的每日事件量上限】現況撐一個大型車隊約 3,000 筆/天</a:t>
            </a:r>
          </a:p>
          <a:p>
            <a:r>
              <a:t>【matrix[2]業務③ 可服務的每日事件量上限】支撐全客戶 13,000+ 筆/天〔提案目標;所需人力由 G2 後依實測單位工時重估〕。驅動因子不在我方控制內 —— 由客戶的開通時點決定</a:t>
            </a:r>
          </a:p>
          <a:p>
            <a:r>
              <a:t>【matrix[3]業務④ 可避免的年度增聘成本】不做本案、以現行做法覆蓋全部既有客戶需 17–24 人(現有 5 人)</a:t>
            </a:r>
          </a:p>
          <a:p>
            <a:r>
              <a:t>【matrix[3]業務④ 可避免的年度增聘成本】做本案、移交後開到天花板需 11–12 人(仍須增聘 6–7 人)→ 可避免 5–13 人 ≈ 每年 NT$520–1,521 萬〔以初階工程師公開薪資量級推算,非核定預算〕</a:t>
            </a:r>
          </a:p>
          <a:p>
            <a:r>
              <a:t>【matrix[4]營運⑤⑥ 兩條工作流的每筆人工工時】批次複核約 20 秒/筆(全量;營運端實務估計,尚未以計時量測驗證)· 深入判讀約 5.25 分鐘/筆(5 人 × 3.6 個分析日 = 144 人時 ÷ 1,647 筆反推,單一批次的實際節奏,不是長期平均)</a:t>
            </a:r>
          </a:p>
          <a:p>
            <a:r>
              <a:t>【matrix[4]營運⑤⑥ 兩條工作流的每筆人工工時】兩者的正式量測都提前到 W6,與時間拆解同批交出;目標值於 G1 訂定 —— 全客戶人力推算與可避免成本都掛在這兩個單價上</a:t>
            </a:r>
          </a:p>
          <a:p>
            <a:r>
              <a:t>【matrix[5]營運⑦ ADAS · 行車輔助誤報率】某小型車隊單月樣本 104 / 1,029 ≈ 10.1%(該樣本全部誤報 124 筆 = ADAS 104 + 駕駛監控約 20;本列只算 ADAS 側)</a:t>
            </a:r>
          </a:p>
          <a:p>
            <a:r>
              <a:t>【matrix[5]營運⑦ ADAS · 行車輔助誤報率】降至 7% 以下〔提案目標;以該樣本為基準,G1 後依重新校準的量測重訂〕。只在人機系統軌量,第 12 週判 —— 🚫 不掛在模型本身</a:t>
            </a:r>
          </a:p>
          <a:p>
            <a:r>
              <a:t>【matrix[6]營運⑧ 客戶回頭標記率(越低越好)】現況 5–10%;同時是「駕駛端無效警示率」的可觀測代理</a:t>
            </a:r>
          </a:p>
          <a:p>
            <a:r>
              <a:t>【matrix[7]營運⑨ 尖峰徵調研發人時】尖峰徵調 7 位研發工程師(離開本職 · 非常態編制 · 非專職)</a:t>
            </a:r>
          </a:p>
          <a:p>
            <a:r>
              <a:t>【matrix[7]營運⑨ 尖峰徵調研發人時】期內建立峰值徵調人時的量測基準,目標值於 G2 訂定;歸零列為移交後目標</a:t>
            </a:r>
          </a:p>
          <a:p>
            <a:r>
              <a:t>【matrix[0]⑩ 漏放率】不存在。唯一量測是一份 39 筆人工觸發測試,獨立樣本,公司自註為下限</a:t>
            </a:r>
          </a:p>
          <a:p>
            <a:r>
              <a:t>【matrix[0]⑩ 漏放率】W6 交出帶 95% 信賴區間的點估計;上限值於 G1 由委員會核定</a:t>
            </a:r>
          </a:p>
          <a:p>
            <a:r>
              <a:t>【matrix[1]⑪ 複核者一致性】否決 G2 准不准開放對照重訓 · 複核營運主管</a:t>
            </a:r>
          </a:p>
          <a:p>
            <a:r>
              <a:t>【matrix[3]⑬ 漏濾率(本輪新增)】定義:被分到「有把握、可直接結案」桶,但描述錯誤且該錯誤足以改變判定結論的比例。基準不存在 —— 自動結案機制尚未建立</a:t>
            </a:r>
          </a:p>
          <a:p>
            <a:r>
              <a:t>【matrix[3]⑬ 漏濾率(本輪新增)】W12 由影子模式軌交出「自動結案桶與人工桶的漏放率差值」的 95% 信賴區間;非劣性邊際 δ 由委員會於 G1(W6)事前預註冊 —— 資料 W12 才交,判準必須寫在跑實驗之前</a:t>
            </a:r>
          </a:p>
          <a:p>
            <a:r>
              <a:t>【matrix[3]⑬ 漏濾率(本輪新增)】否決自動結案能不能對外生效 —— 沒有它,分流率就等於把那部分風險藏進「機器有把握」那一桶 · 技術負責人</a:t>
            </a:r>
          </a:p>
          <a:p>
            <a:r>
              <a:t>【這一頁的作用】這頁把「衡量」從外掛的合規章節,改寫成 AI 提案本身的兩個問題:怎麼證明它有效、什麼情況下喊停。對委員會的作用有三個:①上兩層告訴他們這筆錢買的是客戶等多久拿到分析(不是準確率),而且業務指標由營運指標支撐、有階序;②護欄層讓他們知道自己手上握著一票否決,尤其⑬漏濾率是自動結案能不能對外生效的唯一否決點 —— 提案人主動把刀柄遞出去;③每一個今天訂不出的目標值都寫明由哪道門、第幾週、誰負責訂,把「訂不出來」變成可稽核的紀律而不是含糊。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【rows[0]WP-A 評估底座｜AI 的前置】交:公司第一份可稽核的錯誤率(含 95% 信賴區間)· 冷凍評估集 · 兩條工作流的單位工時正式基準 · 每案「結案方向」的黃金答案標籤 · 爭議處理的時間拆解、兩天逾時率、尖峰到件分布。公開數據:資料工作佔掉分析人員約八成時間 (Press, 2016) —— 前三包份量偏重是產業常態,不是計畫灌水</a:t>
            </a:r>
          </a:p>
          <a:p>
            <a:r>
              <a:t>【rows[1]WP-B 標註品質｜AI 的前置】交:誤報的操作型定義 · 判準手冊 · 一致性儀表板。判準不一致的標註餵給模型就是垃圾進垃圾出 (Northcutt et al., 2021)</a:t>
            </a:r>
          </a:p>
          <a:p>
            <a:r>
              <a:t>【rows[2]WP-C 脈絡特徵工程｜AI 的前置】交:規則式脈絡層(刻意先做不含模型的版本,它同時是地端 VLM 的對照基線)· 誤報下降量測 (Rudin, 2019)。規則式今天就能做,排第五週是因為沒有前六週的基準線就證不出它有效 —— 這個取捨我提出來,決定權在各位</a:t>
            </a:r>
          </a:p>
          <a:p>
            <a:r>
              <a:t>【rows[3]WP-D 爭議回覆自動化｜併行的營運自動化】交:自動證據包 · 回覆時效改善。🔑 這是六個月裡真正對外交付的商業價值,而且人仍然每一筆都判 —— 它完全不依賴任何自動結案</a:t>
            </a:r>
          </a:p>
          <a:p>
            <a:r>
              <a:t>【rows[4]WP-E 地端 VLM 事件判讀｜🔴 本案唯一的 AI 主體】一套地端視覺語言模型,篩檢與深挖兩種負載由同一台設備分時處理;實際選型與量化規格於 G1 依 W1–6 的量測定案(概念層次)。W8–12 最小離線試驗 → W12–24 只跑影子模式:機器照樣出結論但不對外送,人照常逐筆判,兩邊比對。總投入 4.50 人月不變,係 WP-E 內部人力前移,不增加總人月</a:t>
            </a:r>
          </a:p>
          <a:p>
            <a:r>
              <a:t>【rows[5]WP-F 治理與移交｜AI 之後】交:移交文件 · 常態儀表板。六個里程碑 M1–M6 落在 W6 / W10 / W12 / W16 / W24 / W26,那是交東西的時點,不是可喊停的時點</a:t>
            </a:r>
          </a:p>
          <a:p>
            <a:r>
              <a:t>【matrix[0]① 現行影像模型】現況的基準線。沒有它,後面三臂就沒有「比什麼」</a:t>
            </a:r>
          </a:p>
          <a:p>
            <a:r>
              <a:t>【matrix[1]② 規則式脈絡基線】不含模型能解掉多少誤報。它是地端 VLM 的對照基線 —— 如果它就夠,本案的模型端該縮</a:t>
            </a:r>
          </a:p>
          <a:p>
            <a:r>
              <a:t>【matrix[2]③ 人機協作】人工觸碰時間 · P90 回覆時間 · 判定品質。這是六個月內真正會上線的形態,誤報率也只能在這一軌量</a:t>
            </a:r>
          </a:p>
          <a:p>
            <a:r>
              <a:t>【matrix[3]④ 影子模式】機器自己結案但不對外送,人照常逐筆判,兩邊比對</a:t>
            </a:r>
          </a:p>
          <a:p>
            <a:r>
              <a:t>【matrix[3]④ 影子模式】🔴 自動結案桶與人工桶的漏放率差值(95% 信賴區間),對照 G1 事前預註冊的非劣性邊際 δ;另計冤枉率(該翻案而未翻案)。前三臂全部含人,而要部署的是無人系統 —— 只有這一臂算得出自動結案的漏放率。🚫 判準是比差值、比事前邊際,不是兩條信賴區間的端點互比</a:t>
            </a:r>
          </a:p>
          <a:p>
            <a:r>
              <a:t>【這一頁的作用】這頁要讓委員會相信兩件事,而不是相信「我有計畫」。第一:六包裡只有一包是 AI,其餘五包不是繞路 —— 沒有凍結評估集就量不出模型判得準不準,判準不一致的標註餵給模型就是垃圾進垃圾出,所以順序本身就是風險控制。第二:每一道門都寫出「什麼條件下這個案子會停」,包括 G1 可以整案轉向排班方案、G3 可以直接不部署模型端。四臂表則正面回答答辯必問的那一題:六個月怎麼可能算得出無人系統的風險 —— 答案是第四臂影子模式,前三臂全部含人,只有它算得出自動結案的漏放率。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【rows[0]人力(18.2 人月,六包 × 五種角色 + 專案負責人)】18.2 人月 × 月薪 NT$6.7–7.5 萬(年薪 80–90 萬 ÷ 12)× 間接費率 1.3。三個輸入都印在上面:薪資量級、間接費率、匯率(1 A$ ≈ NT$21,概算),三項都是提案人設定的假設 —— 它是量級,不是報價。唯一叫法為「人力成本估算」,🚫 不得稱總成本</a:t>
            </a:r>
          </a:p>
          <a:p>
            <a:r>
              <a:t>【rows[1]地端設備(一台起步)】市場採購量級,非核定採購價;本頁唯一不由算式推得的金額。規格等級與選型於 G1 依 W1–6 量測定案。採購時點在 G1 之後、W8 之前,不在第一段額度內。設備 = 一個初階工程師年成本(NT$104–117 萬)的 14%–19%;硬體僅佔已估成本的 8%–12%。🚫 不得寫成「用 16–20 萬取代千萬元增聘」—— 機器只打得到那一段裡的一部分,證據整理完人還是要覆核</a:t>
            </a:r>
          </a:p>
          <a:p>
            <a:r>
              <a:t>【rows[2]三年可推算 TCO(兩個數字,🚫 不得合併)】設備 16–20(一次性)+ 電力三年 0.7–1.9〔假設 1.9–3.8 kWh/日 · NT$3.5–4.5/kWh〕+ 延保三年 2.4–6.0〔假設硬體價 5–10%/年〕+ 維運監控與模型更新三年 31.2–70.2。維運人力佔 59%–62%,電力只佔設備價 4%–12%(低功耗工作站級,不是機房 GPU 伺服器)。上界跳這麼大不是估算失準,是治理成本的真實形狀 —— 要多細的精度就要付多少人。🚫 唯一叫法為「三年可推算 TCO」,不得稱三年總成本</a:t>
            </a:r>
          </a:p>
          <a:p>
            <a:r>
              <a:t>【rows[3]🔴 稽核稅 —— 自動化不是免費的】移交後爭議段毛節省 48.3–96.7 人時/天 = 6.0–12.1 FTE;但自動結案必須抽樣盲測稽核,樣本量由精度反推(整體 ±1% 需 753 筆/月 = 0.39 FTE;分層 8 類各 ±1% 需 6,024 筆/月 = 3.14 FTE)→ 淨節省 2.9–11.7 FTE。提案推估,非實測。🚫 在稽核稅、申訴重判與漂移調查三項齊備前,不宣稱任何節省額</a:t>
            </a:r>
          </a:p>
          <a:p>
            <a:r>
              <a:t>【rows[4]可避免的年度增聘(移交後,不是六個月的交付)】不做本案、以現行做法覆蓋全部既有客戶需 17–24 人(現有 5 人);做本案、移交後開到天花板仍需 11–12 人 —— 仍須增聘 6–7 人,🚫 不是「不用增聘」也不是「可以縮編」。以初階工程師公開薪資量級推算,非核定預算,非本案承諾的節省額;🚫 不得與設備價相減成 ROI</a:t>
            </a:r>
          </a:p>
          <a:p>
            <a:r>
              <a:t>【rows[5]已辨識、尚未估價的五項非人力成本】① 影片儲存 ② 雲端運算(伺服器端推論)③ 圖資更新 ④ 測試環境建置 ⑤ AI 訓練資料蒐集。當責:技術負責人與數據負責人於 G1 前補齊量級,它決定第二段額度要不要上修。🚫 因這五項未估價,人力與設備相加後只能稱「已估成本」,不得稱總成本 —— 已辨識而未估價,和沒想到,是兩件事</a:t>
            </a:r>
          </a:p>
          <a:p>
            <a:r>
              <a:t>【這一頁的作用】這頁要在委員會心裡完成三次收斂。第一次:看到「地端 AI」就問「那台機器多少錢」—— 設備價、它相對一個人年成本的 14%–19%、它在已估成本裡的 8%–12%,三秒內收斂成「成本主體是人,不是設備」,避免答辯變成硬體採購的離題辯論。第二次:所有金額都標明是量級不是報價、三個假設輸入都印在畫面上、五項未估價成本逐項列名、TCO 拆成兩個不合併的數字 —— 誠實度不能在唯一的金額上破功。第三次也是最關鍵的一次:稽核稅那一格由提案人自己算出自動化的代價(吃掉毛節省 3%–52%),而放行條件框把「年度擴編暴露」明講成反事實成本、綁上 G2 的可驗證門檻 —— 委員會因此看到的不是一個在推銷 AI 的人,而是一個先幫他們算好帳、並把喊停的權力交回去的人。最後的請求只有兩樣:核准第一段 W1–6,以及指定一個贊助人。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188720"/>
            <a:ext cx="981425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4E79"/>
                </a:solidFill>
                <a:latin typeface="Microsoft JhengHei"/>
              </a:rPr>
              <a:t>讓機器讀懂一次事件的完整脈絡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359152"/>
            <a:ext cx="98142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16212E"/>
                </a:solidFill>
                <a:latin typeface="Microsoft JhengHei"/>
              </a:rPr>
              <a:t>地端 AI 事件判讀 —— 六個月、三道決策門的立案提案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017520"/>
            <a:ext cx="2926080" cy="32004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29184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8833A"/>
                </a:solidFill>
                <a:latin typeface="Microsoft JhengHei"/>
              </a:rPr>
              <a:t>今天,五個人要看完三千支影片;而客戶要的答案,兩天內。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50208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885"/>
                </a:solidFill>
                <a:latin typeface="Microsoft JhengHei"/>
              </a:rPr>
              <a:t>車隊行車影像 AI · 單一大型車隊約 3,000 筆事件/天 · 5 位專職分析人員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718304"/>
            <a:ext cx="79397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6212E"/>
                </a:solidFill>
                <a:latin typeface="Microsoft JhengHei"/>
              </a:rPr>
              <a:t>Po-Kai Huang(學號 26254793)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6212E"/>
                </a:solidFill>
                <a:latin typeface="Microsoft JhengHei"/>
              </a:rPr>
              <a:t>421104 Artificial Intelligence for Enterprises · Assessment 3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6212E"/>
                </a:solidFill>
                <a:latin typeface="Microsoft JhengHei"/>
              </a:rPr>
              <a:t>2026 年 8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6217920"/>
            <a:ext cx="9311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The company name has been changed for commercial in confidence reasons.　內部數字均標示為假設或推算量級,並於各頁附推算方式。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介紹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自動化停在第二關,剩下的全由 5 個人逐筆看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車上初判 → 雲端複判 → 人工複核;而人工這段有兩種單價,差約 16 倍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527450" cy="16412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83664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車上裝置 · 即時初判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04873" y="2505456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4873" y="2505456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① 已自動化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889503"/>
            <a:ext cx="3307994" cy="379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鏡頭在車上即時初判,偵測到一次可能的危險就記下一筆「事件」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一個「事件」= 一段影片 + 時間地點 + 系統給的分類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單一大型車隊約 3,000 筆/天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2122" y="1755648"/>
            <a:ext cx="3527450" cy="16412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1850" y="1883664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雲端 · 複判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78627" y="2505456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78627" y="2505456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② 已自動化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1850" y="2889503"/>
            <a:ext cx="3307994" cy="379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初判結果上傳,雲端再判一次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判定屬實 → 回傳裝置向駕駛警示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自動化到這裡就停了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5876" y="1755648"/>
            <a:ext cx="3527450" cy="16412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5604" y="1883664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人工防線 · 5 位專職分析人員 · 逐筆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2382" y="2505456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2382" y="2505456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③ 沒有自動化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5604" y="2889503"/>
            <a:ext cx="3307994" cy="379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這 5 個人做的事:重看影片 → 判成立或誤報 → 離開畫面查證據 → 書面回覆客戶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一次「爭議」= 客戶回頭說「這筆判錯了」;約 5–10% 的事件會被客戶回頭標記 —— 那筆是客戶先看到,我們後知道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尖峰時另徵調 7 位研發工程師離開本職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598099"/>
            <a:ext cx="5300319" cy="10200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744403"/>
            <a:ext cx="50077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Microsoft JhengHei"/>
              </a:rPr>
              <a:t>例行批次複核 · 全量,每一筆都看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238179"/>
            <a:ext cx="5007711" cy="233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約 20 秒 / 筆</a:t>
            </a:r>
          </a:p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營運端的實務估計,尚未以計時量測驗證</a:t>
            </a:r>
          </a:p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當責:複核營運主管 · 第 6 週交出正式基準 · G1 驗收後才據以重估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7" y="3598099"/>
            <a:ext cx="5300319" cy="10200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9311" y="3744403"/>
            <a:ext cx="50077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Microsoft JhengHei"/>
              </a:rPr>
              <a:t>客戶爭議深入判讀 · 只發生在客戶回頭標記的 5–10%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9311" y="4238179"/>
            <a:ext cx="5007711" cy="233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約 5.25 分鐘 / 筆</a:t>
            </a:r>
          </a:p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由一次實際判讀反推:5 人 × 3.6 個工作日 × 8 小時 ÷ 1,647 筆</a:t>
            </a:r>
          </a:p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樣本:某小型車隊 · 單月 · 4 台車 · 23 天;不含整理與回信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691258"/>
            <a:ext cx="1087495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差約 16 倍(5.25 分 ÷ 20 秒 ≈ 15.7)—— 差別不在人,在證據在不在畫面裡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85618"/>
            <a:ext cx="45720" cy="238125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258186"/>
            <a:ext cx="2116945" cy="3295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今天的量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6481" y="5258186"/>
            <a:ext cx="2787914" cy="3295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29.8–42.9 人時/天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3652" y="5258186"/>
            <a:ext cx="3753794" cy="3295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單一大型車隊約 3,000 筆/天;提案人依現有單價推算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706623"/>
            <a:ext cx="45720" cy="23812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679191"/>
            <a:ext cx="2116945" cy="3295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今天的產能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6481" y="5679191"/>
            <a:ext cx="2787914" cy="3295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40 人時/天 = 5 人 × 8 小時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3652" y="5679191"/>
            <a:ext cx="3753794" cy="3295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上緣 42.9 已超過現有產能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127628"/>
            <a:ext cx="45720" cy="2528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6100196"/>
            <a:ext cx="2116945" cy="344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本案要建的 AI 能力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6481" y="6100196"/>
            <a:ext cx="2787914" cy="344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讓機器讀懂一次事件的完整脈絡(影片 + 客戶問題 + 規則),並產出可交付的證據與描述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3652" y="6100196"/>
            <a:ext cx="3753794" cy="344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16 倍的成因就是證據不在畫面裡,而要建的能力正…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AI 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那 2.5–5.5 天裡,四成到八成是模型幫得上的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五段天數已拆開;那兩段慢的原因相同 —— 模型看不到畫面外的東西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55648"/>
            <a:ext cx="1087495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6212E"/>
                </a:solidFill>
                <a:latin typeface="Microsoft JhengHei"/>
              </a:rPr>
              <a:t>單件客戶爭議的五段時間拆解(合計 2.5–5.5 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94560"/>
            <a:ext cx="1359369" cy="566928"/>
          </a:xfrm>
          <a:prstGeom prst="rect">
            <a:avLst/>
          </a:prstGeom>
          <a:solidFill>
            <a:srgbClr val="DCE3E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240279"/>
            <a:ext cx="13593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6212E"/>
                </a:solidFill>
                <a:latin typeface="Microsoft JhengHei"/>
              </a:rPr>
              <a:t>等待 / 排隊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78024"/>
            <a:ext cx="13593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0–1 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7737" y="2194560"/>
            <a:ext cx="1359369" cy="566928"/>
          </a:xfrm>
          <a:prstGeom prst="rect">
            <a:avLst/>
          </a:prstGeom>
          <a:solidFill>
            <a:srgbClr val="1F4E7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7737" y="2240279"/>
            <a:ext cx="13593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撈數據(找證據)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7737" y="2478024"/>
            <a:ext cx="13593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Microsoft JhengHei"/>
              </a:rPr>
              <a:t>0.5 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7107" y="2194560"/>
            <a:ext cx="5437479" cy="566928"/>
          </a:xfrm>
          <a:prstGeom prst="rect">
            <a:avLst/>
          </a:prstGeom>
          <a:solidFill>
            <a:srgbClr val="1F4E7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7107" y="2240279"/>
            <a:ext cx="54374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判讀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2478024"/>
            <a:ext cx="54374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Microsoft JhengHei"/>
              </a:rPr>
              <a:t>1–3 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14587" y="2194560"/>
            <a:ext cx="1359369" cy="566928"/>
          </a:xfrm>
          <a:prstGeom prst="rect">
            <a:avLst/>
          </a:prstGeom>
          <a:solidFill>
            <a:srgbClr val="DCE3E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14587" y="2240279"/>
            <a:ext cx="13593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6212E"/>
                </a:solidFill>
                <a:latin typeface="Microsoft JhengHei"/>
              </a:rPr>
              <a:t>內部覆核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4587" y="2478024"/>
            <a:ext cx="13593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0.5 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73957" y="2194560"/>
            <a:ext cx="1359369" cy="566928"/>
          </a:xfrm>
          <a:prstGeom prst="rect">
            <a:avLst/>
          </a:prstGeom>
          <a:solidFill>
            <a:srgbClr val="DCE3E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73957" y="2240279"/>
            <a:ext cx="13593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6212E"/>
                </a:solidFill>
                <a:latin typeface="Microsoft JhengHei"/>
              </a:rPr>
              <a:t>寫報告回信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73957" y="2478024"/>
            <a:ext cx="13593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0.5 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7737" y="2852928"/>
            <a:ext cx="6796849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7737" y="2944368"/>
            <a:ext cx="67968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F4E79"/>
                </a:solidFill>
                <a:latin typeface="Microsoft JhengHei"/>
              </a:rPr>
              <a:t>AI 可處理段:撈數據 + 判讀 = 1.5–3.5 天 = 全程的 43%–78%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7737" y="3255264"/>
            <a:ext cx="679684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1F4E79"/>
                </a:solidFill>
                <a:latin typeface="Microsoft JhengHei"/>
              </a:rPr>
              <a:t>True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47464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合計 2.5–5.5 天;43%–78% 的精確值為 42.86%–77.78%(五段各自獨立取端點、窮舉 32 組求得)。非 AI 段只佔 22%–57%,而排隊本身只有 0–1 天 —— 那是排班解得掉的唯一一段。⚠ 這五段天數是營運端的估計,不是計時量測;W1–6 交出正式量測,若正式拆解推翻它,本案轉排班方案(G1 判)。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50134"/>
            <a:ext cx="10874959" cy="589328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3950134"/>
            <a:ext cx="10509199" cy="589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這兩段之所以慢,是同一個原因:模型看不到畫面外的東西 —— 撈數據慢,是因為人要自己去查那個位置與那段路的速限;判讀慢,是因為模型只拿到一張圖。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768063"/>
            <a:ext cx="45720" cy="27331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740631"/>
            <a:ext cx="2116945" cy="364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今天的利用率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6481" y="4740631"/>
            <a:ext cx="2787914" cy="364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74%–107%(29.8–42.9 ÷ 40 人時/天);折算 3.7–5.4 人,現有 5 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3652" y="4740631"/>
            <a:ext cx="3753794" cy="364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平均編制口徑,不是任何一天的同時在線人力;下緣 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224253"/>
            <a:ext cx="45720" cy="23812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196821"/>
            <a:ext cx="2116945" cy="3295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客戶端已經在承受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6481" y="5196821"/>
            <a:ext cx="2787914" cy="3295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現況約半數爭議超過兩天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3652" y="5196821"/>
            <a:ext cx="3753794" cy="3295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客戶期望 2 天內、單純案件當天 —— 客戶期望,非…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645258"/>
            <a:ext cx="45720" cy="238125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5617826"/>
            <a:ext cx="2116945" cy="3295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尖峰徵調 7 位研發工程師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6481" y="5617826"/>
            <a:ext cx="2787914" cy="3295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不是管理失當,是算術的必然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3652" y="5617826"/>
            <a:ext cx="3753794" cy="3295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離開本職支援、非常態編制 —— 開發產能被拿去補…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6066263"/>
            <a:ext cx="45720" cy="27331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6038831"/>
            <a:ext cx="2116945" cy="364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量已經不是瓶頸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6481" y="6038831"/>
            <a:ext cx="2787914" cy="364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全客戶 13,000 筆/天,地端約 2.2–3.5 小時跑完,設備佔用率約 9%–15%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3652" y="6038831"/>
            <a:ext cx="3753794" cy="364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⚠ 估算,非實測;此數只含每日全量批次初篩,不含客…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AI 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誤報的八成三,回到同一個根因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這一件 1,647 筆的判讀吃掉 5 人 3.6 個工作日 = 144 人時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0874959" cy="566574"/>
          </a:xfrm>
          <a:prstGeom prst="roundRect">
            <a:avLst>
              <a:gd name="adj" fmla="val 6000"/>
            </a:avLst>
          </a:prstGeom>
          <a:solidFill>
            <a:srgbClr val="6B7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55648"/>
            <a:ext cx="10509199" cy="5665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樣本:4 台車 · 23 天 · 1,647 筆 = 一個小型車隊、一個月 —— 以下所有比例僅在此樣本內成立。這一件的分析段:5 位專職分析人員並行 3.6 個工作日 = 144 人時(不含整理與回信)。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20855" y="2523390"/>
            <a:ext cx="380623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ADAS · 行車輔助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7091" y="2523390"/>
            <a:ext cx="380623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DMS · 駕駛監控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70862"/>
            <a:ext cx="3097895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事件量(該樣本)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4007" y="2870862"/>
            <a:ext cx="3659931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1,029 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0243" y="2870862"/>
            <a:ext cx="3659931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618 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150389"/>
            <a:ext cx="10874959" cy="252095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150389"/>
            <a:ext cx="3097895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其中誤報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94007" y="3150389"/>
            <a:ext cx="3659931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104 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0243" y="3150389"/>
            <a:ext cx="3659931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20 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429916"/>
            <a:ext cx="3097895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該樣本人工判定為正確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94007" y="3429916"/>
            <a:ext cx="3659931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89.9%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0243" y="3429916"/>
            <a:ext cx="3659931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96.8%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709443"/>
            <a:ext cx="3097895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這兩個比例共用同一把尺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94007" y="3709443"/>
            <a:ext cx="3659931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尺的一致性我們從來沒量過 —— 不比誰準,只指出錯…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0243" y="3709443"/>
            <a:ext cx="3659931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標註品質那一包第 10 週建立基線,G2 訂目標值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988970"/>
            <a:ext cx="10874959" cy="252095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988970"/>
            <a:ext cx="3097895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錯的是誰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94007" y="3988970"/>
            <a:ext cx="3659931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0243" y="3988970"/>
            <a:ext cx="3659931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268497"/>
            <a:ext cx="3097895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缺口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94007" y="4268497"/>
            <a:ext cx="3659931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脈絡:判定依據不在畫面裡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00243" y="4268497"/>
            <a:ext cx="3659931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判準:同一段影片,不同複核者給不同標籤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34987"/>
            <a:ext cx="45720" cy="25657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807555"/>
            <a:ext cx="2116945" cy="3480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該樣本全部誤報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6481" y="4807555"/>
            <a:ext cx="2787914" cy="3480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124 筆 = 行車輔助 104 + 駕駛監控 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3652" y="4807555"/>
            <a:ext cx="3753794" cy="3480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母體換算:效益與衡量那頁用的「104 / 1,029 ≈ 1…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274446"/>
            <a:ext cx="45720" cy="25657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5247014"/>
            <a:ext cx="2116945" cy="3480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同一個根因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6481" y="5247014"/>
            <a:ext cx="2787914" cy="3480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交通標誌辨識 103 / 124 = 83%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3652" y="5247014"/>
            <a:ext cx="3753794" cy="3480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該樣本全部誤報中,根因為交通標誌辨識者;公司自…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713905"/>
            <a:ext cx="45720" cy="23812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686473"/>
            <a:ext cx="2116945" cy="3295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解它要的東西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76481" y="5686473"/>
            <a:ext cx="2787914" cy="3295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速限資料 —— 公司既有資產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3652" y="5686473"/>
            <a:ext cx="3753794" cy="3295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不必外購、不必等新模型;這條今天就能動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134910"/>
            <a:ext cx="45720" cy="238125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6107478"/>
            <a:ext cx="2116945" cy="3295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漏放那一側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6481" y="6107478"/>
            <a:ext cx="2787914" cy="3295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只有一份很薄的獨立樣本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53652" y="6107478"/>
            <a:ext cx="3753794" cy="3295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另一個母體,不與本頁比例混用;下一頁講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AI 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量得到的是誤報,量不到的是漏放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被判否決的那一流沒有人回看 - 我們有資料,沒有習慣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300319" cy="106229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01952"/>
            <a:ext cx="50077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Microsoft JhengHei"/>
              </a:rPr>
              <a:t>看得見的一半:誤報 - 量得到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95728"/>
            <a:ext cx="5007711" cy="275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母體:某小型車隊單月樣本(4 台車 · 23 天 · 1,647 筆人工複核)</a:t>
            </a:r>
          </a:p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該樣本全部誤報 124 筆中,103 筆根因同一個 = 83%(公司自己的口徑;比例僅在此樣本內成立)</a:t>
            </a:r>
          </a:p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為什麼量得到:誤報是「已經送出去、被人看到」的錯 - 人工複核那一流,每一筆都被人看過</a:t>
            </a:r>
          </a:p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代價:誤報只花我們的人時,可以換算成錢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755648"/>
            <a:ext cx="5300319" cy="106229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9311" y="1901952"/>
            <a:ext cx="50077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Microsoft JhengHei"/>
              </a:rPr>
              <a:t>看不見的一半:漏放 - 量不到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9311" y="2395728"/>
            <a:ext cx="5007711" cy="275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唯一的量測:一份 39 筆的人工觸發測試(獨立樣本,非 1,647 筆母體)</a:t>
            </a:r>
          </a:p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能力有、流程沒有:記憶卡存整天分段影片,遠端調閱一台裝置一整天約 10-15 分鐘、有流量成本;但沒有任何常設流程去回看被判否決的那一流</a:t>
            </a:r>
          </a:p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所以錯誤會留下來:沒有人回看 → 那一區永遠不產生新標註 → 模型在那個區域學不到東西 → 漏放繼續發生,而且不進任何一份報表(Ensign et al., 2018)</a:t>
            </a:r>
          </a:p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代價:漏放是駕駛沒收到那次警示 - 落在安全側,不落在報表上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91094"/>
            <a:ext cx="1087495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我們有資料,沒有習慣。兩種錯的代價不對稱,所以漏放這一側就算樣本再薄,也要先把它量出來 - 本案把漏放列為否決型護欄。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85454"/>
            <a:ext cx="45720" cy="21945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458022"/>
            <a:ext cx="24088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這份測試是什麼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8358" y="3458022"/>
            <a:ext cx="31527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39 筆人工觸發測試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3343" y="3458022"/>
            <a:ext cx="4240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獨立樣本,非 1,647 筆母體;一次性測試,不是常設量測 -…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887790"/>
            <a:ext cx="45720" cy="21945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860358"/>
            <a:ext cx="24088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正確偵測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8358" y="3860358"/>
            <a:ext cx="31527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17 / 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3343" y="3860358"/>
            <a:ext cx="4240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人工觸發後有被偵測到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290126"/>
            <a:ext cx="45720" cy="21945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262694"/>
            <a:ext cx="24088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漏偵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8358" y="4262694"/>
            <a:ext cx="31527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12 / 39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3343" y="4262694"/>
            <a:ext cx="4240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報告上我們自己註明:12 是下限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692462"/>
            <a:ext cx="45720" cy="21945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665030"/>
            <a:ext cx="24088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其中:低光或雨天的超速標誌漏偵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8358" y="4665030"/>
            <a:ext cx="31527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6 / 12 = 50%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3343" y="4665030"/>
            <a:ext cx="4240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與誤報第一大根因同源:交通標誌辨識 - 誤報與漏放接在…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094798"/>
            <a:ext cx="45720" cy="21945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067366"/>
            <a:ext cx="24088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待客戶說明用途,無法歸類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68358" y="5067366"/>
            <a:ext cx="31527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10 / 39 ≈ 四分之一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83343" y="5067366"/>
            <a:ext cx="4240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四分之一的樣本連歸類都做不到 - 這一列本身就是「樣本…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497134"/>
            <a:ext cx="45720" cy="21945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469702"/>
            <a:ext cx="24088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我對這條線索的定性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8358" y="5469702"/>
            <a:ext cx="31527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線索,不是結論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83343" y="5469702"/>
            <a:ext cx="4240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W1-6 由評估底座那一包做成帶信賴區間的估計;不成立就…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6010" y="4910195"/>
            <a:ext cx="225372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這一關難在哪(內部觀察)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9731" y="4910195"/>
            <a:ext cx="225372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對應的資料品質屬性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3453" y="4910195"/>
            <a:ext cx="225372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誰在什麼時候把它變成數字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5257667"/>
            <a:ext cx="2733050" cy="377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收集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29162" y="5257667"/>
            <a:ext cx="2107417" cy="377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裝置離線與鏡頭遮蔽時段無資料;事件分批上傳、頻率不一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82883" y="5257667"/>
            <a:ext cx="2107417" cy="377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完整性 · 及時性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6605" y="5257667"/>
            <a:ext cx="2107417" cy="377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W1-6 評估底座:分層抽樣 + 冷凍評估集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5663095"/>
            <a:ext cx="2733050" cy="377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處理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29162" y="5663095"/>
            <a:ext cx="2107417" cy="377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感測器故障;人工標註本身就會錯 - 而標註錯誤足以改變…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82883" y="5663095"/>
            <a:ext cx="2107417" cy="377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準確性 · 一致性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6605" y="5663095"/>
            <a:ext cx="2107417" cy="377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W3-10 標註品質:誤報的操作型定義 + 判準手冊 + 黃金題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6068523"/>
            <a:ext cx="9658807" cy="377996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6068523"/>
            <a:ext cx="2733050" cy="377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處理後的理解程度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29162" y="6068523"/>
            <a:ext cx="2107417" cy="377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目前不一致:同一段影片,不同複核者會給不同標籤(低頭 v…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82883" y="6068523"/>
            <a:ext cx="2107417" cy="377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可解釋性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6605" y="6068523"/>
            <a:ext cx="2107417" cy="377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W10 前建立複核者一致性基線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AI 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五條路的差別在成本形狀,不在做什麼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三條不用 AI;採用案要過三道門,六個月內不對外生效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20855" y="1755648"/>
            <a:ext cx="190311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做什麼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3973" y="1755648"/>
            <a:ext cx="190311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成本形狀(隨每日事件量怎麼長)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7091" y="1755648"/>
            <a:ext cx="190311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能不能停 · 反悔成本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0209" y="1755648"/>
            <a:ext cx="190311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判決 · 為什麼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3097895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選項 0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加人…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4007" y="2103120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以現行做法增聘專職複…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125" y="2103120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線性:量幾倍,人就要…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0243" y="2103120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停不下來:編制是常態…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3361" y="2103120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拒絕 - 加人只是沿著…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400629"/>
            <a:ext cx="3097895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選項 0b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調班 + 尖峰人力池…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4007" y="2400629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重排班表,把尖峰徵調…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125" y="2400629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仍線性,但斜率略低…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0243" y="2400629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隨時可停、可退回原班…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03361" y="2400629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待 G1 判定,本案不預…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698139"/>
            <a:ext cx="3097895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選項 1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規則式脈絡融合(不用機器學…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94007" y="2698139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定位 + 地圖速限硬規…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125" y="2698139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一次性建置,之後整段…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0243" y="2698139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可逐條檢查、可回退到…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3361" y="2698139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先做 - 某小型車隊單…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2995649"/>
            <a:ext cx="10874959" cy="270077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2995649"/>
            <a:ext cx="3097895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選項 2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地端視覺語言模型事件判讀…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94007" y="2995649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讓機器讀懂一次事件的…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125" y="2995649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前期一次性投入,之後…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00243" y="2995649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三道門都可停:G1(W6)…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3361" y="2995649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採用 - 前三包不是流…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293158"/>
            <a:ext cx="3097895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選項 3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公司既有的雲端判讀規劃…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94007" y="3293158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仍在研擬中的雲端判讀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125" y="3293158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尚未開始,曲線未定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00243" y="3293158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不在本案範圍,由技術…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3361" y="3293158"/>
            <a:ext cx="1756813" cy="270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前置條件,不是競爭關…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3791836"/>
            <a:ext cx="3527450" cy="198182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3919852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選項 0 的算式(照印,含對本案不利的部分)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04873" y="4541644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04873" y="454164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提案推算,非核定編制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4925692"/>
            <a:ext cx="3307994" cy="719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批次   13,000 x 20 秒 = 72.2 人時(13,000+ 筆/天 = 全客戶每日平均總事件量,雲端伺服器實測統計)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爭議   13,000 x 5-10% x 5.25 分 = 56.8-113.7 人時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合計   129.1-185.9 人時 / 8 小時 = 16.14-23.24 FTE → 取整員額 17-24 人(保產能只能無條件進位;現有 5 人);工作量比 = 129.1 / 29.8 = 4.33 倍,這就是「四倍以上」的算術依據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5.25 分/筆由一次實際判讀反推:5 人 x 3.6 個分析日 x 8 小時 = 144 人時 / 1,647 筆。這是單一批次的實際節奏,不是長期平均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兩個尚未驗證的假設:①約 20 秒/筆是營運端的實務估計,尚未以計時量測驗證 ②假設所有客戶有相同的案件組合與 5-10% 的爭議比例。兩項都由 W1-6 檢驗、G1 上桌;任一項被推翻,17-24 人要重算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加人會讓迴路轉得更久,不會讓它停:裝機量成長 → 複核量成長 → 人力吃緊 → 標註品質不穩 → 回流訓練資料不穩 → 誤報降不下來 → 複核量繼續成長。低品質標註會沿著訓練流程往下游放大(資料級聯)(Sambasivan et al., 2021)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32122" y="3791836"/>
            <a:ext cx="3527450" cy="198182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41850" y="3919852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G1(第 6 週)= 因果判定門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78627" y="4541644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78627" y="454164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可喊停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41850" y="4925692"/>
            <a:ext cx="3307994" cy="719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W1-6 要交出:一件客戶爭議的時間拆解(等待排隊 0-1 天 · 撈數據 0.5 天 · 判讀 1-3 天 · 內部覆核 0.5 天 · 回信 0.5 天 = 合計 2.5-5.5 天)· 兩天逾時率 · 尖峰到件分布 · 抽幀率的召回率比較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怎麼判:把五段分成兩堆 - 「AI 可處理」(撈數據 · 判讀 · 證據包製作)與「AI 不可處理」(排隊 · 排班 · 人力調度)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出口 A:AI 可處理的那一堆佔主要延遲 → 放行選項 1 / 2 的後段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出口 B:否則 → 轉選項 0b(調班 + 尖峰人力池),本案的後五個工作包不執行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⚠️ 初步拆解已顯示 AI 可處理段佔全程 43%-78%,但那是營運端的一次口述拆解,不是系統量測;W1-6 要把它做成正式量測,判定規則不因初步結果而放寬。六週買一個答案,答案不對就不做後面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05876" y="3791836"/>
            <a:ext cx="3527450" cy="1981822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381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15604" y="3919852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這 85% 到底是什麼(三層,一層都不可省)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52382" y="4541644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52382" y="454164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提案推估,非實測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15604" y="4925692"/>
            <a:ext cx="3307994" cy="719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技術寫到概念層次:一套地端視覺語言模型,篩檢與深挖兩種負載由同一台設備分時處理;實際選型與量化規格於 G1 依 W1-6 的量測定案 - 它直接決定要買幾台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吞吐:1,000 支 15 秒事件影片約 10-16 分〔估算,非實測;依一組公開可得模型的公開吞吐特性推估〕;同一批人以 1.0 倍速看完約 250 分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能力層:以現行小模型的表現外推,預期約 85% 的爭議件機器有把握、可直接結案 - 1,000 筆進來約 850 筆,剩約 150 筆送人細看。對那些件而言那就是終局判定〔提案推估,非實測;母體只有客戶爭議段,不含每日全量批次複核〕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本案層:🔴 六個月內對外自動結案覆蓋率目標 = 0%。W12-24 只跑影子模式 - 機器照樣出結論但不對外送,人照常逐筆判,兩邊比對。這是唯一算得出自動結案漏放率的設計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放行層:要讓它對外生效,需通過本案之外的一道獨立門,不在本次請求範圍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怎麼驗:第 12 週用同一份凍結評估集,四臂同場比 - 現行影像模型 / 規則式脈絡基線 / VLM 輔助人工 / 影子模式。G2 只能調整模型假設與規模,不能取消這個實驗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974826"/>
            <a:ext cx="9658807" cy="499125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7" y="5974826"/>
            <a:ext cx="9293047" cy="49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⚠️ 85% 是分流率:它決定「這筆要不要人細看」,不是「這筆是不是誤報」;它與偵測誤報率量的不是同一件事,不可比、不可並排、不可相減。而人現在判得多準,我們沒有量過 - 所以我也不知道 85% 是進步還是退步,那正是第一個工作包要建的東西。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業務影響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十條風險,兩條是這個方案自己造成的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七類十條,每列並排緩解 → 代價 → 偵測訊號(成功 = 緩解成功可能性)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85857" y="1755648"/>
            <a:ext cx="26824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緩解(治理四道)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68347" y="1755648"/>
            <a:ext cx="26824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緩解自己的代價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0837" y="1755648"/>
            <a:ext cx="26824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偵測訊號 (NIST, 2023)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62897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R1 技術局限 · 成功 中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模型不…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9009" y="2103120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解釋:輸出可讀的描述與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引用到…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1499" y="2103120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錯的描述一樣通順,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比錯的分數…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3989" y="2103120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推翻模型判定的比例不降;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只看…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423493"/>
            <a:ext cx="2662897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R2 數據 · 成功 中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資料級聯:判…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9009" y="2423493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審計:黃金題 + 抽樣雙人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複核 +…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1499" y="2423493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雙人複核使複核成本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近倍增,需…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3989" y="2423493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交通標誌根因佔比偏離基準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基準…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743867"/>
            <a:ext cx="2662897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R3 數據｜自動化偏差 · 成功 中…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9009" y="2743867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教育・介面 (Goddard et al., 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1499" y="2743867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不顯示信心使複核變慢,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與時效…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3989" y="2743867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盲測組與對照組判定差異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超過設…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064240"/>
            <a:ext cx="2662897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R4 倫理 · 成功 低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駕駛本人沒…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9009" y="3064240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問責:申訴機制到位前,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產出不供…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1499" y="3064240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限制用途會降低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客戶端採用意願…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23989" y="3064240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駕駛端申訴無處可收,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件數恆為…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384614"/>
            <a:ext cx="2662897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R5 社會性 · 成功 高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複核團隊…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9009" y="3384614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教育:角色轉型說明 +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判準手冊…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1499" y="3384614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參與式做法拉長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判準定案時程…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3989" y="3384614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複核團隊留任率或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黃金題參與率…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704987"/>
            <a:ext cx="2662897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R6 經濟 · 成功 中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期內回本難…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9009" y="3704987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審計:三道決策門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逐段釋出額度…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1499" y="3704987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分段釋出使長週期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工作包難以排…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3989" y="3704987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決策門審查時單位成本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改善低於…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025361"/>
            <a:ext cx="2662897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R7 組織與管理 · 成功 高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缺管…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59009" y="4025361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問責:贊助人指派 +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決策門出席…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1499" y="4025361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決策門增加治理負擔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與會議成本…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23989" y="4025361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決策門連續兩次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無高階出席…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345734"/>
            <a:ext cx="10874959" cy="292941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345734"/>
            <a:ext cx="2662897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R8 政治法律政策 · 尚無緩解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「…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59009" y="4345734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問責:法務書面意見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於 G1(第 6 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1499" y="4345734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無 —— 目前沒有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可執行的緩解措…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23989" y="4345734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客戶回頭標記的案件中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出現援引…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666108"/>
            <a:ext cx="10874959" cy="292941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4666108"/>
            <a:ext cx="2662897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R9 倫理｜自動結案的漏放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本案…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59009" y="4666108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問責:六個月影子模式(對外 0%)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1499" y="4666108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抽樣稽核吃掉自動化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省下來的一…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23989" y="4666108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漏濾率(否決型):自動結案桶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與…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4986481"/>
            <a:ext cx="10874959" cy="292941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9808" y="4986481"/>
            <a:ext cx="2662897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R10 倫理｜自動結案的冤枉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本案…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59009" y="4986481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問責:申訴即強制轉人工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且不得…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41499" y="4986481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轉人工的量與時效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回到人力瓶頸…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23989" y="4986481"/>
            <a:ext cx="2536185" cy="2929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申訴率與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申訴翻案率…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508023"/>
            <a:ext cx="9658807" cy="965928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5508023"/>
            <a:ext cx="9293047" cy="965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R8 沒有答案 —— 法務書面意見於 G1(第 6 週)前到位;R9 · R10 是這個方案自己造成的,放行門在移交後,不在這六個月。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業務影響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每 1,000 筆爭議,850 筆沒有人會看過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那是這個方案的代價 —— 專案期 綠 0 琥珀 7 紅 1,移交後 綠 0 琥珀 1 紅 7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39595" y="1755648"/>
            <a:ext cx="244686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專案期(影子模式)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6461" y="1755648"/>
            <a:ext cx="244686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移交後(開到天花板)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03120"/>
            <a:ext cx="5816635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對照框架:澳洲 AI 倫理八原則 2019 年版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(Department of Industry, 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2747" y="2103120"/>
            <a:ext cx="2300561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本頁只用 2019 年版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理由:逐…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59613" y="2103120"/>
            <a:ext cx="2300561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2025 已有後續採用指引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移交…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59090"/>
            <a:ext cx="10874959" cy="328538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9090"/>
            <a:ext cx="5816635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1 人類、社會與環境福祉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期內同樣人力承接更高複核量;移交後那約 850 筆…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2747" y="2459090"/>
            <a:ext cx="2300561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部分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9613" y="2459090"/>
            <a:ext cx="2300561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未達成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15061"/>
            <a:ext cx="10874959" cy="328538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815061"/>
            <a:ext cx="5816635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2 以人為本的價值觀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期內人仍逐筆判;移交後駕駛承受的是機器單方面的決…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2747" y="2815061"/>
            <a:ext cx="2300561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部分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9613" y="2815061"/>
            <a:ext cx="2300561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未達成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171031"/>
            <a:ext cx="10874959" cy="328538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171031"/>
            <a:ext cx="5816635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3 公平性 (Australian Human Rights Commission, 2020)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期內排序仍…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2747" y="3171031"/>
            <a:ext cx="2300561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部分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9613" y="3171031"/>
            <a:ext cx="2300561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未達成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527002"/>
            <a:ext cx="5816635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4 隱私保護與安全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擴大影像調閱與判定紀錄保存;唯一不因自動結案而惡化…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2747" y="3527002"/>
            <a:ext cx="2300561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部分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9613" y="3527002"/>
            <a:ext cx="2300561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部分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882973"/>
            <a:ext cx="10874959" cy="328538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882973"/>
            <a:ext cx="5816635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5 可靠性與安全性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漏放率目前不存在,只有一份 39 筆人工觸發測試(獨立樣…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2747" y="3882973"/>
            <a:ext cx="2300561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部分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9613" y="3882973"/>
            <a:ext cx="2300561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未達成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238943"/>
            <a:ext cx="10874959" cy="328538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238943"/>
            <a:ext cx="5816635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6 透明性與解釋性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對客戶揭露到哪一層尚未決定;移交後客戶不會知道那是…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2747" y="4238943"/>
            <a:ext cx="2300561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部分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9613" y="4238943"/>
            <a:ext cx="2300561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未達成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594914"/>
            <a:ext cx="10874959" cy="328538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594914"/>
            <a:ext cx="5816635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7 可申訴性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只有車隊安全主管能標記,駕駛本人不能提出質疑…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12747" y="4594914"/>
            <a:ext cx="2300561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未達成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9613" y="4594914"/>
            <a:ext cx="2300561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未達成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部署否決條件…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950884"/>
            <a:ext cx="10874959" cy="328538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4950884"/>
            <a:ext cx="5816635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8 問責性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RACI 與三道決策門管的是專案;那 850 筆裡某一筆判錯,沒有人…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12747" y="4950884"/>
            <a:ext cx="2300561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部分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59613" y="4950884"/>
            <a:ext cx="2300561" cy="328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未達成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08023"/>
            <a:ext cx="9658807" cy="965928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7" y="5508023"/>
            <a:ext cx="9293047" cy="965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移交後那七盞紅燈掛在第 24 週那道門上;今天要批的是前六週的量測 —— 那正是把它們變回琥珀的唯一路徑。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效益與衡量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證明它有效的方法,同時是喊停它的方法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三層 KPI 證明有效,四道護欄一票否決;訂不出的目標值寫明由哪道門訂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0874959" cy="5167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55648"/>
            <a:ext cx="10509199" cy="51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這一頁不是外掛的合規章節:上面兩層回答「怎麼證明這個 AI 真的有效」,護欄層回答「什麼情況下要喊停」。護欄層任一未達標,上面兩層的成績一律不採計。參照 Australia's AI Ethics Principles (2019) 第七條可申訴性 —— 被機器處理掉的事件必須有人能提出質疑;把它做成否決型指標,是本提案自己的設計決定,不是該文獻的主張。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20855" y="2473516"/>
            <a:ext cx="253749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指標(層別)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8346" y="2473516"/>
            <a:ext cx="253749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今天的基準 · 母體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5836" y="2473516"/>
            <a:ext cx="253749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目標,或誰在第幾週訂出來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820988"/>
            <a:ext cx="10874959" cy="246888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820988"/>
            <a:ext cx="3097895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業務① 客戶爭議回覆時效｜主要業務…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94007" y="2820988"/>
            <a:ext cx="239118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單件爭議從分析到回信的完整鏈…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1498" y="2820988"/>
            <a:ext cx="239118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2 天內;單純案件當天〔提案目…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095308"/>
            <a:ext cx="3097895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業務② 獲得人工驗證判定的客戶涵蓋率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4007" y="3095308"/>
            <a:ext cx="239118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現況為配給制,依購買量與問題…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1498" y="3095308"/>
            <a:ext cx="239118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本案期內維持 100%(影子模式…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369628"/>
            <a:ext cx="3097895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業務③ 可服務的每日事件量上限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4007" y="3369628"/>
            <a:ext cx="239118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現況撐一個大型車隊約 3,000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1498" y="3369628"/>
            <a:ext cx="239118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支撐全客戶 13,000+ 筆/天〔…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643948"/>
            <a:ext cx="10874959" cy="246888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643948"/>
            <a:ext cx="3097895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業務④ 可避免的年度增聘成本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94007" y="3643948"/>
            <a:ext cx="239118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不做本案、以現行做法覆蓋全部…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1498" y="3643948"/>
            <a:ext cx="239118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做本案、移交後開到天花板需 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918268"/>
            <a:ext cx="3097895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營運⑤⑥ 兩條工作流的每筆人工工時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4007" y="3918268"/>
            <a:ext cx="239118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批次複核約 20 秒/筆(全量;營…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1498" y="3918268"/>
            <a:ext cx="239118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兩者的正式量測都提前到 W6…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192588"/>
            <a:ext cx="3097895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營運⑦ ADAS · 行車輔助誤報率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94007" y="4192588"/>
            <a:ext cx="239118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某小型車隊單月樣本 104 / 1…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1498" y="4192588"/>
            <a:ext cx="239118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降至 7% 以下〔提案目標;以該…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466908"/>
            <a:ext cx="3097895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營運⑧ 客戶回頭標記率(越低越好)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94007" y="4466908"/>
            <a:ext cx="239118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現況 5–10%;同時是「駕駛端無…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1498" y="4466908"/>
            <a:ext cx="239118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降至 5% 以下〔提案目標〕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741228"/>
            <a:ext cx="3097895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營運⑨ 尖峰徵調研發人時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94007" y="4741228"/>
            <a:ext cx="239118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尖峰徵調 7 位研發工程師(離…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1498" y="4741228"/>
            <a:ext cx="239118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期內建立峰值徵調人時的量測基…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6010" y="4574318"/>
            <a:ext cx="169029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護欄層｜否決型 · 任一未達標不移交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46301" y="4574318"/>
            <a:ext cx="169029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今天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6592" y="4574318"/>
            <a:ext cx="169029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交什麼 · 第幾週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26883" y="4574318"/>
            <a:ext cx="169029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它一票否決什麼 · 誰負責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921790"/>
            <a:ext cx="2733050" cy="360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⑩ 漏放率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29162" y="4921790"/>
            <a:ext cx="1543987" cy="360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不存在。唯一量測是一份 39 筆人工觸發…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19453" y="4921790"/>
            <a:ext cx="1543987" cy="360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W6 交出帶 95% 信賴區間的點估計;上限值…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09744" y="4921790"/>
            <a:ext cx="1543987" cy="360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否決 G1 放不放行後段工作 · 技術負責人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5309830"/>
            <a:ext cx="2733050" cy="360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⑪ 複核者一致性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29162" y="5309830"/>
            <a:ext cx="1543987" cy="360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現況未量測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19453" y="5309830"/>
            <a:ext cx="1543987" cy="360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W10 前建立基線,目標值於 G2 訂定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09744" y="5309830"/>
            <a:ext cx="1543987" cy="360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否決 G2 准不准開放對照重訓 · 複核營運…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5697871"/>
            <a:ext cx="2733050" cy="360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⑫ 訓練資料可追溯率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29162" y="5697871"/>
            <a:ext cx="1543987" cy="360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19453" y="5697871"/>
            <a:ext cx="1543987" cy="360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100%,無中間值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09744" y="5697871"/>
            <a:ext cx="1543987" cy="360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未達 100% 不移交(否決型,無中間值)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6085911"/>
            <a:ext cx="9658807" cy="360608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9808" y="6085911"/>
            <a:ext cx="2733050" cy="360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⑬ 漏濾率(本輪新增)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29162" y="6085911"/>
            <a:ext cx="1543987" cy="360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定義:被分到「有把握、可直接結案」桶…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19453" y="6085911"/>
            <a:ext cx="1543987" cy="360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W12 由影子模式軌交出「自動結案桶與人…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09744" y="6085911"/>
            <a:ext cx="1543987" cy="360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否決自動結案能不能對外生效 —— 沒有它…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項目計畫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只有一包是 AI,順序本身就是風險控制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評估集 → 標註 → 特徵 → 地端 VLM;三道門各自寫明什麼條件下停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45720" cy="21945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55648"/>
            <a:ext cx="24088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WP-A 評估底座｜AI 的前置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8358" y="1755648"/>
            <a:ext cx="31527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W1–6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83343" y="1755648"/>
            <a:ext cx="4240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交:公司第一份可稽核的錯誤率(含 95% 信賴區間)· 冷凍…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185415"/>
            <a:ext cx="45720" cy="21945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157984"/>
            <a:ext cx="24088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WP-B 標註品質｜AI 的前置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8358" y="2157984"/>
            <a:ext cx="31527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W3–10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3343" y="2157984"/>
            <a:ext cx="4240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交:誤報的操作型定義 · 判準手冊 · 一致性儀表板。判準…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87751"/>
            <a:ext cx="45720" cy="21945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560320"/>
            <a:ext cx="24088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WP-C 脈絡特徵工程｜AI 的前置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8358" y="2560320"/>
            <a:ext cx="31527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W5–12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3343" y="2560320"/>
            <a:ext cx="4240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交:規則式脈絡層(刻意先做不含模型的版本,它同時是地端…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990087"/>
            <a:ext cx="45720" cy="21945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962656"/>
            <a:ext cx="24088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WP-D 爭議回覆自動化｜併行的營運自動化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8358" y="2962656"/>
            <a:ext cx="31527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W8–16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3343" y="2962656"/>
            <a:ext cx="4240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交:自動證據包 · 回覆時效改善。🔑 這是六個月裡真正對…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392423"/>
            <a:ext cx="45720" cy="21945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364991"/>
            <a:ext cx="24088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WP-E 地端 VLM 事件判讀｜🔴 本案唯一的 AI 主體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8358" y="3364991"/>
            <a:ext cx="31527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W8–24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3343" y="3364991"/>
            <a:ext cx="4240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一套地端視覺語言模型,篩檢與深挖兩種負載由同一台設備…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794760"/>
            <a:ext cx="45720" cy="21945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3767328"/>
            <a:ext cx="24088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WP-F 治理與移交｜AI 之後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8358" y="3767328"/>
            <a:ext cx="31527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W20–26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3343" y="3767328"/>
            <a:ext cx="4240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交:移交文件 · 常態儀表板。六個里程碑 M1–M6 落在 W6…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155696"/>
            <a:ext cx="3527450" cy="1618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3283712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G1 · 第 6 週｜因果判定門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04873" y="3905504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04873" y="390550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可喊停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4289552"/>
            <a:ext cx="330799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交:時間拆解(等待 / 找證據 / 判讀 / 內部覆核 / 回信)· 兩天逾時率 · 尖峰到件分布 · 抽幀率對交通標誌召回率的比較(它直接決定要買幾台)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🔴 停的條件一:只有當「證據搜尋、誤報量與證據包製作」佔主要延遲,才續行後段;否則本案轉為排班與尖峰人力池方案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🔴 停的條件二:評估底座未產出 → 剩餘工作全數不續行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同時要事前預註冊漏濾率的非劣性邊際 δ —— 判準必須寫在跑實驗之前。初步拆解顯示 AI 可處理段(找證據 + 判讀)佔全程 43%–78%,為營運端的初步估計,W1–6 交可稽核版本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32122" y="3155696"/>
            <a:ext cx="3527450" cy="1618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41850" y="3283712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G2 · 第 12 週｜四臂比較門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78627" y="3905504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78627" y="390550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只能改規模,不能取消實驗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1850" y="4289552"/>
            <a:ext cx="330799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同一凍結評估集上跑四臂(見下表),分兩軌:工具品質軌 · 結案判定軌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🔴 這道門停不掉實驗,只能調整模型的假設與規模。規則式若已解掉大部分誤報 → 靶心改為殘餘;規則式若無效 → 先查脈絡資料本身的品質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放行條件:人機判定品質不劣於現況,且人工觸碰時間與 P90 回覆時間達預註冊門檻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🔴 但「自動結案要不要對外開啟」不由 G2、也不由 G3 決定 —— 那需要移交後一道獨立的門,不在本次請求範圍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5876" y="3155696"/>
            <a:ext cx="3527450" cy="1618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15604" y="3283712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G3 · 第 24 週｜部署決定門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52382" y="3905504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52382" y="390550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可喊停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15604" y="4289552"/>
            <a:ext cx="330799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🔴 停的條件:對照重訓證不出增量 → 模型端不部署,只留前四包的成果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就算證不出增量,公司仍留下第一套可重複的模型評估與標註品質流程 —— 那個東西不隨這道門撤掉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對照實驗的設計(hold-out 怎麼凍 · 因子怎麼拆 · 預註冊門檻訂在哪)由技術負責人在 W8 前提出、G2 核可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56010" y="4975352"/>
            <a:ext cx="225372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G2 的四臂(同一凍結評估集)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9731" y="4975352"/>
            <a:ext cx="225372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這一臂誰在判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63453" y="4975352"/>
            <a:ext cx="225372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它算得出什麼 —— 以及為什麼少不了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5322824"/>
            <a:ext cx="2733050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① 現行影像模型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29162" y="5322824"/>
            <a:ext cx="2107417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機器初判,人全數複核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82883" y="5322824"/>
            <a:ext cx="2107417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現況的基準線。沒有它,後…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" y="5602351"/>
            <a:ext cx="2733050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② 規則式脈絡基線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29162" y="5602351"/>
            <a:ext cx="2107417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規則式脈絡層 + 人全數複核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82883" y="5602351"/>
            <a:ext cx="2107417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不含模型能解掉多少誤報。…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8" y="5881878"/>
            <a:ext cx="2733050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③ 人機協作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29162" y="5881878"/>
            <a:ext cx="2107417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機器輔助、人判定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82883" y="5881878"/>
            <a:ext cx="2107417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人工觸碰時間 · P90 回覆…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6161405"/>
            <a:ext cx="9658807" cy="252095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" y="6161405"/>
            <a:ext cx="2733050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00000"/>
                </a:solidFill>
                <a:latin typeface="Microsoft JhengHei"/>
              </a:rPr>
              <a:t>④ 影子模式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29162" y="6161405"/>
            <a:ext cx="2107417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機器自己結案但不對外送…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82883" y="6161405"/>
            <a:ext cx="2107417" cy="252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🔴 自動結案桶與人工桶的…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項目計畫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成本主體是人,而自動化的代價我們自己先算了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請求核准第一段 4.85 人月 / NT$42–47 萬,並指定贊助人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45720" cy="21945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55648"/>
            <a:ext cx="24088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人力(18.2 人月,六包 × 五種角色 + 專案負責人)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8358" y="1755648"/>
            <a:ext cx="31527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約 NT$158–177 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83343" y="1755648"/>
            <a:ext cx="4240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18.2 人月 × 月薪 NT$6.7–7.5 萬(年薪 80–90 萬 ÷ 1…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185415"/>
            <a:ext cx="45720" cy="21945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157984"/>
            <a:ext cx="24088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地端設備(一台起步)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8358" y="2157984"/>
            <a:ext cx="31527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NT$16–20 萬 / 台(一次性)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3343" y="2157984"/>
            <a:ext cx="4240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市場採購量級,非核定採購價;本頁唯一不由算式推得的金…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87751"/>
            <a:ext cx="45720" cy="21945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560320"/>
            <a:ext cx="24088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三年可推算 TCO(兩個數字,🚫 不得合併)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8358" y="2560320"/>
            <a:ext cx="31527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六個月專案期(影子模式)約 NT$50–118 萬(中案 72 萬)｜移交後(含稽核)約 NT$173–1,219 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3343" y="2560320"/>
            <a:ext cx="4240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設備 16–20(一次性)+ 電力三年 0.7–1.9〔假設 1.9–3.…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990087"/>
            <a:ext cx="45720" cy="21945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962656"/>
            <a:ext cx="24088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🔴 稽核稅 —— 自動化不是免費的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8358" y="2962656"/>
            <a:ext cx="31527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吃掉毛節省的 3%–52%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3343" y="2962656"/>
            <a:ext cx="4240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移交後爭議段毛節省 48.3–96.7 人時/天 = 6.0–12.1 F…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392423"/>
            <a:ext cx="45720" cy="21945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364991"/>
            <a:ext cx="24088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可避免的年度增聘(移交後,不是六個月的交付)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8358" y="3364991"/>
            <a:ext cx="31527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5–13 人 ≈ NT$520–1,521 萬/年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3343" y="3364991"/>
            <a:ext cx="4240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不做本案、以現行做法覆蓋全部既有客戶需 17–24 人(現…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794760"/>
            <a:ext cx="45720" cy="21945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3767328"/>
            <a:ext cx="24088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已辨識、尚未估價的五項非人力成本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8358" y="3767328"/>
            <a:ext cx="31527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不編金額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3343" y="3767328"/>
            <a:ext cx="4240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① 影片儲存 ② 雲端運算(伺服器端推論)③ 圖資更新 ④ 測…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561265"/>
            <a:ext cx="3527450" cy="2166006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381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3689281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我請求核准的錢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04873" y="4311073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04873" y="4311073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第一段 W1–6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4695121"/>
            <a:ext cx="3307994" cy="9041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六個月整體額度輪廓 · 分段釋出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第一段 = 評估底座全部 + 標註品質 / 脈絡特徵的限額探索;約 4.85 人月(2.08 + 1.39 + 0.69 + 0.69)/ 量級 NT$42–47 萬〔提案規劃,非核定預算〕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G1(第 6 週)由贊助人決定是否續行 —— 它決定的是要不要續行剩下的工作,不是要不要開始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32122" y="3561265"/>
            <a:ext cx="3527450" cy="2166006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381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41850" y="3689281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我請求核准的人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78627" y="4311073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78627" y="4311073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指定贊助人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1850" y="4695121"/>
            <a:ext cx="3307994" cy="9041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六方當責:項目贊助人 · 業務負責人 · 數據負責人 · 技術負責人 · 複核營運主管 · 專案負責人(提案人)。每個工作包只有一個 A;三道決策門的 A 一律落在項目贊助人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請委員會指定贊助人,並於 G1 前確認本案與公司既有雲端判讀規劃的範圍、預算與當責邊界(我主張的相依關係,待共同確認;若評估結果是兩案應合併或改序,我接受)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組織障礙不在技術側:政策可改 · 優先序照購買量 · 尖峰徵調研發 —— 所以我要的不只是一筆錢,是一個贊助人跟三道門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5876" y="3561265"/>
            <a:ext cx="3527450" cy="21660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6B7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15604" y="3689281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六個月之後 / 不做的話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52382" y="4311073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6B7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52382" y="4311073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誠實收尾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15604" y="4695121"/>
            <a:ext cx="3307994" cy="9041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委員會手上會多三樣東西:① 一份可稽核的錯誤率 ② 一層把畫面外脈絡帶進事件的判斷層 ③ 一份證明或推翻「脈絡到底有沒有用」的對照實驗結果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不做的代價:客戶繼續等 2–5 天、小客戶繼續拿到沒有人看過的判定,而研發工程師在尖峰繼續被拉去看影片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但這句必須交代對價:本案移交後開到天花板時,是所有客戶約 85% 的爭議拿到沒有人看過的判定。差別只有一個,那個差別就是本案要買的東西 —— 那時我們量得出它錯多少,今天量不出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受影響但不在核准鏈上:5 位專職分析人員(工作從逐筆看片變成處理難題與治理,對應「同樣人力、更高產出」這個既有成效樣態)· 車隊客戶的安全主管 · 駕駛(目前無申訴管道)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928439"/>
            <a:ext cx="9658807" cy="545512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7" y="5928439"/>
            <a:ext cx="9293047" cy="545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放行條件(本案的損益兩平門檻):① 若公司選擇以現行流程覆蓋全客戶,年度擴編暴露約 NT$1,248–2,223 萬 —— 這是反事實成本暴露,不是本案承諾的節省。② 完整專案的人力成本約等於 1.4–1.7 個 loaded FTE-year。③ 只有 G2 實測證明可避免或延後至少此容量,且業務確認會轉成少招人或少徵調研發,才放行後續預算。(當責:業務負責人提出容量轉換的確認 · 時點 G2 / 第 12 週 · 它決定第二段預算放不放行)  (IBM, n.d.)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參考文獻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89888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0934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Australian Human Rights Commission. (2020). Using artificial intelligence to make decisions: Addressing the problem of algorithmic bias.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4086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Department of Industry, Science and Resources. (2019). Australia's artificial intelligence ethics principles.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7238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Ensign, D., Friedler, S. A., Neville, S., Scheidegger, C., &amp; Venkatasubramanian, S. (2018). Runaway feedback loops in predictive policing. PMLR, 81, 160–171.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80390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Goddard, K., Roudsari, A., &amp; Wyatt, J. C. (2012). Automation bias: A systematic review. JAMIA, 19(1), 121–127.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53542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Guo, C., Pleiss, G., Sun, Y., &amp; Weinberger, K. Q. (2017). On calibration of modern neural networks. PMLR, 70, 1321–1330.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26694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Hopp, W. J., &amp; Spearman, M. L. (2011). Factory physics (3rd ed., chaps. 7–9). Waveland Press.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3511" y="160934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National Institute of Standards and Technology. (2023). Artificial intelligence risk management framework (AI RMF 1.0).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3511" y="234086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Northcutt, C. G., Athalye, A., &amp; Mueller, J. (2021). Pervasive label errors in test sets destabilize machine learning benchmarks. NeurIPS Datasets and Benchmarks Track.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93511" y="307238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Parasuraman, R., &amp; Manzey, D. H. (2010). Complacency and bias in human use of automation. Human Factors, 52(3), 381–410.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93511" y="380390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Rudin, C. (2019). Stop explaining black box machine learning models for high stakes decisions. Nature Machine Intelligence, 1(5), 206–215.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3511" y="453542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Sambasivan, N., Kapania, S., Highfill, H., Akrong, D., Paritosh, P., &amp; Aroyo, L. (2021). “Everyone wants to do the model work, not the data work”: Data cascades in high-stakes AI. CHI '21.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3511" y="526694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Sculley, D., Holt, G., Golovin, D., Davydov, E., Phillips, T., Ebner, D., … Dennison, D. (2015). Hidden technical debt in machine learning systems. NeurIPS, 28.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965880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APA 7th　·　The company name has been changed for commercial in confidence reasons.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