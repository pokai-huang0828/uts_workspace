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約 5 秒 · 23 字 · 累計 0:05</a:t>
            </a:r>
          </a:p>
          <a:p>
            <a:r>
              <a:t>── 講稿(照著唸)──</a:t>
            </a:r>
          </a:p>
          <a:p>
            <a:r>
              <a:t>今天,五個人要看完三千支影片;而客戶要的答案,兩天內。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約 65 秒 · 288 字 · 累計 1:10</a:t>
            </a:r>
          </a:p>
          <a:p>
            <a:r>
              <a:t>── 講稿(照著唸)──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【card:雲端 · 複判】自動化到這裡就停了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【rows-value[本案要建的 AI 能力]】讓機器讀懂一次事件的完整脈絡(影片 + 客戶問題 + 規則),並產出可交付的證據與描述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約 72 秒 · 317 字 · 累計 2:22</a:t>
            </a:r>
          </a:p>
          <a:p>
            <a:r>
              <a:t>── 講稿(照著唸)──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【rows-value[今天的利用率]】74%–107%(29.8–42.9 ÷ 40 人時/天);折算 3.7–5.4 人,現有 5 人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約 52 秒 · 230 字 · 累計 3:14</a:t>
            </a:r>
          </a:p>
          <a:p>
            <a:r>
              <a:t>── 講稿(照著唸)──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約 59 秒 · 259 字 · 累計 4:13</a:t>
            </a:r>
          </a:p>
          <a:p>
            <a:r>
              <a:t>── 講稿(照著唸)──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約 44 秒 · 195 字 · 累計 4:58</a:t>
            </a:r>
          </a:p>
          <a:p>
            <a:r>
              <a:t>── 講稿(照著唸)──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【card:選項 0 的算式(照印,含對本案不利的部分)】兩假設未驗證:20 秒/筆 · 全客戶同案件組合</a:t>
            </a:r>
          </a:p>
          <a:p>
            <a:r>
              <a:t>【card:G1(第 6 週)= 因果判定門】43%-78% 為初估,非系統量測;判準不放寬</a:t>
            </a:r>
          </a:p>
          <a:p>
            <a:r>
              <a:t>【card:這 85% 到底是什麼(三層,一層都不可省)】放行層:生效須過本案之外一道獨立門</a:t>
            </a:r>
          </a:p>
          <a:p>
            <a:r>
              <a:t>【callout】⚠️ 85% 是分流率 → 要不要人細看,不是是不是誤報;不可與誤報率並排相減 · 人判得多準沒量過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約 51 秒 · 223 字 · 累計 5:48</a:t>
            </a:r>
          </a:p>
          <a:p>
            <a:r>
              <a:t>── 講稿(照著唸)──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約 50 秒 · 219 字 · 累計 6:38</a:t>
            </a:r>
          </a:p>
          <a:p>
            <a:r>
              <a:t>── 講稿(照著唸)──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約 46 秒 · 201 字 · 累計 7:24</a:t>
            </a:r>
          </a:p>
          <a:p>
            <a:r>
              <a:t>── 講稿(照著唸)──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約 47 秒 · 208 字 · 累計 8:11</a:t>
            </a:r>
          </a:p>
          <a:p>
            <a:r>
              <a:t>── 講稿(照著唸)──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【】交:規則式脈絡層(刻意先做不含模型的版本,它同時是地端 VLM 的對照基線)· 誤報下降量測 (Rudin, 2019)。規則式今天就能做,排第五週是因為沒有前六週的基準線就證不出它有效 —— 這個取捨我提出來,決定權在各位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 (Rudin, 2019)。規則式今天就能做,排第五週是因為沒有前六週的基準線就證不出它有效 —— 這個取捨我提出來,決定權在各位'}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【rows[0]WP-A 評估底座｜AI 的前置】交:公司第一份可稽核的錯誤率(含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【rows[1]WP-E 地端 VLM 事件判讀｜🔴 本案唯一的 AI 主體】一套地端視覺語言模型,篩檢與深挖兩種負載由同一台設備分時處理;實際選型與量化規格於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約 64 秒 · 280 字 · 累計 9:15</a:t>
            </a:r>
          </a:p>
          <a:p>
            <a:r>
              <a:t>── 講稿(照著唸)──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【】18.2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</a:t>
            </a:r>
          </a:p>
          <a:p>
            <a:r>
              <a:t>【】設備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</a:t>
            </a:r>
          </a:p>
          <a:p>
            <a:r>
              <a:t>【】不做本案、以現行做法覆蓋全部既有客戶需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</a:t>
            </a:r>
          </a:p>
          <a:p>
            <a:r>
              <a:t>【】①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</a:t>
            </a:r>
          </a:p>
          <a:p>
            <a:r>
              <a:t>【rows】{'label': '人力(18.2 人月,六包 × 五種角色 + 專案負責人)', 'value': '約 NT$158–177 萬', 'note': '18.2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TCO」,不得稱三年總成本'}</a:t>
            </a:r>
          </a:p>
          <a:p>
            <a:r>
              <a:t>【rows】{'label': '可避免的年度增聘(移交後,不是六個月的交付)', 'value': '5–13 人 ≈ NT$520–1,521 萬/年', 'note': '不做本案、以現行做法覆蓋全部既有客戶需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ROI'}</a:t>
            </a:r>
          </a:p>
          <a:p>
            <a:r>
              <a:t>【rows】{'label': '已辨識、尚未估價的五項非人力成本', 'value': '不編金額', 'note': '①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已辨識而未估價,和沒想到,是兩件事'}</a:t>
            </a:r>
          </a:p>
          <a:p>
            <a:r>
              <a:t>【rows[0]地端設備(一台起步)】市場採購量級,非核定採購價;本頁唯一不由算式推得的金額。規格等級與選型於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【rows[1]🔴 稽核稅 —— 自動化不是免費的】移交後爭議段毛節省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【callout】放行條件:擴編暴露非承諾節省 · 只有 G2 實測證明可避免/延後 + 業務確認容量轉換,才放行後續預算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約 5 秒 · 21 字 · 累計 9:20</a:t>
            </a:r>
          </a:p>
          <a:p>
            <a:r>
              <a:t>── 講稿(照著唸)──</a:t>
            </a:r>
          </a:p>
          <a:p>
            <a:r>
              <a:t>這些是本提案引用的公開文獻,完整清單在這一頁。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偵測到可能的危險 → 記一筆「事件」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「事件」= 影片 + 時間地點 + 系統分類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重看影片→判成立或誤報→離開畫面查證據→回信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爭議=客戶回頭說判錯 · 尖峰另徵調 7 位研發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95344"/>
            <a:ext cx="5300319" cy="126807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041648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535424"/>
            <a:ext cx="5007711" cy="44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895344"/>
            <a:ext cx="5300319" cy="126807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4041648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535424"/>
            <a:ext cx="5007711" cy="44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36567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757775"/>
            <a:ext cx="45720" cy="25293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730343"/>
            <a:ext cx="2116945" cy="3443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730343"/>
            <a:ext cx="2787914" cy="3443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730343"/>
            <a:ext cx="3753794" cy="3443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193587"/>
            <a:ext cx="45720" cy="25293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6166155"/>
            <a:ext cx="2116945" cy="3443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6166155"/>
            <a:ext cx="2787914" cy="3443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讓機器讀懂一次事件的完整脈絡(影片 + 客戶問題 + 規則),並…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6166155"/>
            <a:ext cx="3753794" cy="3443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93337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35713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335713"/>
            <a:ext cx="10509199" cy="620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111813"/>
            <a:ext cx="45720" cy="9644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84381"/>
            <a:ext cx="2116945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084381"/>
            <a:ext cx="2787914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74%–107%(29.8–42.9 ÷ 40 人時/天);折算 3.7–5.4 人,現…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084381"/>
            <a:ext cx="3753794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59099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231667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231667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231667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1839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4421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607796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3152759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4112145"/>
            <a:ext cx="4240255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06887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0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06887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0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068871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0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872775"/>
            <a:ext cx="9658807" cy="637752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872775"/>
            <a:ext cx="9293047" cy="637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要不要人細看,不是是不是誤報;不可與誤報率並排相減 · 人判得多準沒…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56615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信賴區間)· 冷凍評估集 · 兩條工作流的單位工時正式基準 · 每案「結案方向」的黃金答案標籤 · 爭議處理的時間拆解、兩天逾時率、尖峰到…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322575"/>
            <a:ext cx="45720" cy="35661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95144"/>
            <a:ext cx="2408822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95144"/>
            <a:ext cx="3152759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295144"/>
            <a:ext cx="4240255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一套地端視覺語言模型,篩檢與深挖兩種負載由同一台設備分時處理;實際選型與量化規格於 G1 依 W1–6 的量測定案(概念層次)。W8–12 最小離線試驗 → W12–24 只跑影子模式:機器…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71215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9923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621023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621023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005072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871215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99923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621023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621023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005072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871215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99923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621023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621023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005072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市場採購量級,非核定採購價;本頁唯一不由算式推得的金額。規格等級與選型於 G1 依 W1–6 量測定案。採購時點在 G1 之後、W8 之前,不在第一段額度內。設備 = 一個初階工程師年…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37485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710053"/>
            <a:ext cx="2408822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710053"/>
            <a:ext cx="3152759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710053"/>
            <a:ext cx="424025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移交後爭議段毛節省 48.3–96.7 人時/天 = 6.0–12.1 FTE;但自動結案必須抽樣盲測稽核,樣本量由精度反推(整體 ±1% 需 753 筆/月 = 0.39 FTE;分層 8 類各 ±1% 需 6,024 筆/…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68939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9695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518747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518747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902795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量級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贊助人決定續不續行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768939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89695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518747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518747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902795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 · 三道門 A 全歸他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前確認與公司既有雲端判讀規劃的邊界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768939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89695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518747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518747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902795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不做:客戶續等｜小客戶無人看過｜尖峰調研發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移交後開到天花板:約 85% 爭議無人看過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635"/>
            <a:ext cx="9658807" cy="601892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635"/>
            <a:ext cx="9293047" cy="6018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只有 G2 實測證明可避免/延後 + 業務確認容量轉換,才放…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