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約 5 秒 · 23 字 · 累計 0:05</a:t>
            </a:r>
          </a:p>
          <a:p>
            <a:r>
              <a:t>── 講稿(照著唸)──</a:t>
            </a:r>
          </a:p>
          <a:p>
            <a:r>
              <a:t>今天,五個人要看完三千支影片;而客戶要的答案,兩天內。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約 65 秒 · 288 字 · 累計 1:10</a:t>
            </a:r>
          </a:p>
          <a:p>
            <a:r>
              <a:t>── 講稿(照著唸)──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【card:車上裝置 · 即時初判】鏡頭在車上即時初判,偵測到一次可能的危險就記下一筆「事件」</a:t>
            </a:r>
          </a:p>
          <a:p>
            <a:r>
              <a:t>【card:車上裝置 · 即時初判】一個「事件」= 一段影片 + 時間地點 + 系統給的分類</a:t>
            </a:r>
          </a:p>
          <a:p>
            <a:r>
              <a:t>【card:車上裝置 · 即時初判】一個「事件」= 一段影片 + 時間地點 + 系…</a:t>
            </a:r>
          </a:p>
          <a:p>
            <a:r>
              <a:t>【card:車上裝置 · 即時初判】單一大型車隊約 3,000 筆/天</a:t>
            </a:r>
          </a:p>
          <a:p>
            <a:r>
              <a:t>【card:雲端 · 複判】判定屬實 → 回傳裝置向駕駛警示</a:t>
            </a:r>
          </a:p>
          <a:p>
            <a:r>
              <a:t>【card:雲端 · 複判】自動化到這裡就停了</a:t>
            </a:r>
          </a:p>
          <a:p>
            <a:r>
              <a:t>【card:人工防線 · 5 位專職分析人員 · 逐筆】這 5 個人做的事:重看影片 → 判成立或誤報 → 離開畫面查證據 → 書面回覆客戶</a:t>
            </a:r>
          </a:p>
          <a:p>
            <a:r>
              <a:t>【card:人工防線 · 5 位專職分析人員 · 逐筆】一次「爭議」= 客戶回頭說「這筆判錯了」;約 5–10% 的事件會被客戶回頭標記 —— 那筆是客戶先看到,我們後知道</a:t>
            </a:r>
          </a:p>
          <a:p>
            <a:r>
              <a:t>【card:人工防線 · 5 位專職分析人員 · 逐筆】一次「爭議」= 客戶回頭說「這筆判錯了」…</a:t>
            </a:r>
          </a:p>
          <a:p>
            <a:r>
              <a:t>【card:人工防線 · 5 位專職分析人員 · 逐筆】尖峰時另徵調 7 位研發工程師離開本職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約 72 秒 · 317 字 · 累計 2:22</a:t>
            </a:r>
          </a:p>
          <a:p>
            <a:r>
              <a:t>── 講稿(照著唸)──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【callout】這兩段之所以慢,是同一個原因:模型看不到畫面外的東西 —— 撈數據慢,是因為人要自己去查那個位置與那段路的速限;判讀慢,是因為模型只拿到一張圖。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約 52 秒 · 230 字 · 累計 3:14</a:t>
            </a:r>
          </a:p>
          <a:p>
            <a:r>
              <a:t>── 講稿(照著唸)──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【callout】樣本:4 台車 · 23 天 · 1,647 筆 = 一個小型車隊、一個月 —— 以下所有比例僅在此樣本內成立。這一件的分析段:5 位專職分析人員並行 3.6 個工作日 = 144 人時(不含整理與回信)。</a:t>
            </a:r>
          </a:p>
          <a:p>
            <a:r>
              <a:t>【matrix】{'name': '缺口', 'cells': ['脈絡:判定依據不在畫面裡', '判準:同一段影片,不同複核者給不同標籤'], 'hot': False}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約 59 秒 · 259 字 · 累計 4:13</a:t>
            </a:r>
          </a:p>
          <a:p>
            <a:r>
              <a:t>── 講稿(照著唸)──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【matrix-cell】感測器故障;人工標註本身就會錯 - 而標註錯誤足以改變模型的評比結論(Northcutt et al., 2021);跨系統重複記錄</a:t>
            </a:r>
          </a:p>
          <a:p>
            <a:r>
              <a:t>【matrix-cell】目前不一致:同一段影片,不同複核者會給不同標籤(低頭 vs 閉眼、保溫瓶 vs 手機),而這個不一致從來沒有被量測過</a:t>
            </a:r>
          </a:p>
          <a:p>
            <a:r>
              <a:t>【matrix】{'name': '處理', 'cells': ['感測器故障;人工標註本身就會錯 - 而標註錯誤足以改變模型的評比結論(Northcutt et …', '準確性 · 一致性', 'W3-10 標註品質:誤報的操作型定義 + 判準手冊 + 黃金題'], 'hot': False}</a:t>
            </a:r>
          </a:p>
          <a:p>
            <a:r>
              <a:t>【matrix-cell】感測器故障;人工標註本身就會錯 - 而標註錯誤足以改變模型的評比結論(Northcutt et al., 2021);跨系統重複記錄</a:t>
            </a:r>
          </a:p>
          <a:p>
            <a:r>
              <a:t>【matrix-cell】目前不一致:同一段影片,不同複核者會給不同標籤(低頭 vs 閉眼、保溫瓶 vs 手機),而這個不一致從來沒有被量測過</a:t>
            </a:r>
          </a:p>
          <a:p>
            <a:r>
              <a:t>【matrix】{'name': '處理', 'cells': ['感測器故障;人工標註本身就會錯 - 而標註錯誤足以改變…', '準確性 · 一致性', 'W3-10 標註品質:誤報的操作型定義 + 判準手冊 + 黃金題'], 'hot': False}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約 44 秒 · 195 字 · 累計 4:58</a:t>
            </a:r>
          </a:p>
          <a:p>
            <a:r>
              <a:t>── 講稿(照著唸)──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【matrix-cell】線性:量幾倍,人就要幾倍 → 需 17-24 人(現有 5 人)〔提案推算,非核定編制〕</a:t>
            </a:r>
          </a:p>
          <a:p>
            <a:r>
              <a:t>【matrix-cell】拒絕 - 加人只是沿著同一條成本曲線移動,不是把曲線整條外推(完整算式與迴路見下方卡片)</a:t>
            </a:r>
          </a:p>
          <a:p>
            <a:r>
              <a:t>【matrix-cell】重排班表,把尖峰徵調的 7 位研發工程師從臨時支援變成有編組、有訓練的正式安排(尖峰徵調是現在就在跑的簡易版)</a:t>
            </a:r>
          </a:p>
          <a:p>
            <a:r>
              <a:t>【matrix-cell】仍線性,但斜率略低;削得掉尖峰,削不掉每日底量。⚠️ 斜率與削峰幅度目前沒有量測</a:t>
            </a:r>
          </a:p>
          <a:p>
            <a:r>
              <a:t>【matrix-cell】待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【matrix-cell】先做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【matrix-cell】讓機器讀懂一次事件的完整脈絡(影片 + 客戶問題 + 規則),產出可交付的描述與證據包</a:t>
            </a:r>
          </a:p>
          <a:p>
            <a:r>
              <a:t>【matrix-cell】前期一次性投入,之後次線性 - 事件量繼續長,人時不跟著等比長。這是五條裡唯一不是線性的形狀</a:t>
            </a:r>
          </a:p>
          <a:p>
            <a:r>
              <a:t>【matrix-cell】採用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【matrix-cell】前置條件,不是競爭關係 - 雲端判定真假,誰判定雲端?本案提供它需要的可稽核量測與乾淨標註</a:t>
            </a:r>
          </a:p>
          <a:p>
            <a:r>
              <a:t>【matrix】{'name': '選項 0b\n調班 + 尖峰人力池', 'cells': ['重排班表,把尖峰徵調的 7 位研發工程師從臨時支援變成有編組、有訓練…', '仍線性,但斜率略低;削得掉尖峰,削不掉每日底量。⚠️ 斜率與削峰幅度目…', '隨時可停、可退回原班表 - 五條路裡反悔成本最低的一條', '待 G1 判定,本案不預先否決它 - 它是最便宜的解。營運端三個限制〔第…'], 'hot': False}</a:t>
            </a:r>
          </a:p>
          <a:p>
            <a:r>
              <a:t>【matrix】{'name': '選項 1\n規則式脈絡融合(不用機器學習)', 'cells': ['定位 + 地圖速限硬規則比對,把畫面外的脈絡接到事件上', '一次性建置,之後整段下移一階、後續仍線性', '可逐條檢查、可回退到規則本身', '先做 - 某小型車隊單月樣本中 103 / 124 = 83% 的誤報同一根因,而速…'],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雲端判定真假,誰判定雲端?本案提供它需要的…'], 'hot': False}</a:t>
            </a:r>
          </a:p>
          <a:p>
            <a:r>
              <a:t>【matrix-cell】線性:量幾倍,人就要幾倍 → 需 17-24 人(現有 5 人)〔提案推算,非核定編制〕</a:t>
            </a:r>
          </a:p>
          <a:p>
            <a:r>
              <a:t>【matrix-cell】拒絕 - 加人只是沿著同一條成本曲線移動,不是把曲線整條外推(完整算式與迴路見下方卡片)</a:t>
            </a:r>
          </a:p>
          <a:p>
            <a:r>
              <a:t>【matrix-cell】重排班表,把尖峰徵調的 7 位研發工程師從臨時支援變成有編組、有訓練的正式安排(尖峰徵調是現在就在跑的簡易版)</a:t>
            </a:r>
          </a:p>
          <a:p>
            <a:r>
              <a:t>【matrix-cell】仍線性,但斜率略低;削得掉尖峰,削不掉每日底量。⚠️ 斜率與削峰幅度目前沒有量測</a:t>
            </a:r>
          </a:p>
          <a:p>
            <a:r>
              <a:t>【matrix-cell】隨時可停、可退回原班表 - 五條路裡反悔成本最低的一條</a:t>
            </a:r>
          </a:p>
          <a:p>
            <a:r>
              <a:t>【matrix-cell】待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【matrix-cell】定位 + 地圖速限硬規則比對,把畫面外的脈絡接到事件上</a:t>
            </a:r>
          </a:p>
          <a:p>
            <a:r>
              <a:t>【matrix-cell】先做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【matrix-cell】讓機器讀懂一次事件的完整脈絡(影片 + 客戶問題 + 規則),產出可交付的描述與證據包</a:t>
            </a:r>
          </a:p>
          <a:p>
            <a:r>
              <a:t>【matrix-cell】前期一次性投入,之後次線性 - 事件量繼續長,人時不跟著等比長。這是五條裡唯一不是線性的形狀</a:t>
            </a:r>
          </a:p>
          <a:p>
            <a:r>
              <a:t>【matrix-cell】三道門都可停:G1(W6)· G2(W12)· G3(W24);且六個月內對外自動結案 0%</a:t>
            </a:r>
          </a:p>
          <a:p>
            <a:r>
              <a:t>【matrix-cell】採用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【matrix-cell】前置條件,不是競爭關係 - 雲端判定真假,誰判定雲端?本案提供它需要的可稽核量測與乾淨標註</a:t>
            </a:r>
          </a:p>
          <a:p>
            <a:r>
              <a:t>【matrix】{'name': '選項 0b\n調班 + 尖峰人力池', 'cells': ['重排班表,把尖峰徵調的 7 位研發工程師從臨時…', '仍線性,但斜率略低;削得掉尖峰,削不掉每日底量…', '隨時可停、可退回原班表 - 五條路裡反悔成本最…', '待 G1 判定,本案不預先否決它 - 它是最便宜的…'], 'hot': False}</a:t>
            </a:r>
          </a:p>
          <a:p>
            <a:r>
              <a:t>【matrix】{'name': '選項 1\n規則式脈絡融合(不用機器學習)', 'cells': ['定位 + 地圖速限硬規則比對,把畫面外的脈絡接…', '一次性建置,之後整段下移一階、後續仍線性', '可逐條檢查、可回退到規則本身', '先做 - 某小型車隊單月樣本中 103 / 124 = 83…'],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雲端判定真假,誰判定…'], 'hot': False}</a:t>
            </a:r>
          </a:p>
          <a:p>
            <a:r>
              <a:t>【badge】提案推算,非核定編制</a:t>
            </a:r>
          </a:p>
          <a:p>
            <a:r>
              <a:t>【card:選項 0 的算式(照印,含對本案不利的部分)】批次   13,000 x 20 秒 = 72.2 人時(13,000+ 筆/天 = 全客戶每日平均總事件量,雲端伺服器實測統計)</a:t>
            </a:r>
          </a:p>
          <a:p>
            <a:r>
              <a:t>【card:選項 0 的算式(照印,含對本案不利的部分)】合計   129.1-185.9 人時 / 8 小時 = 16.14-23.24 FTE → 取整員額 17-24 人(保產能只能無條件進位;現有 5 人);工作量比 = 129.1 / 29.8 = 4.33 倍,這就是「四倍以上」的算術依據</a:t>
            </a:r>
          </a:p>
          <a:p>
            <a:r>
              <a:t>【card:選項 0 的算式(照印,含對本案不利的部分)】5.25 分/筆由一次實際判讀反推:5 人 x 3.6 個分析日 x 8 小時 = 144 人時 / 1,647 筆。這是單一批次的實際節奏,不是長期平均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②假設所有客戶有相同的案件組合與 5-10% 的爭議比例。兩項都由 W1-6 檢驗、G1 上桌;任一項被推翻,17-24 人要重算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→ 回流訓練資料不穩 → 誤報降不下來 → 複核量繼續成長。低品質標註會沿著訓練流程往下游放大(資料級聯)(Sambasivan et al., 2021)</a:t>
            </a:r>
          </a:p>
          <a:p>
            <a:r>
              <a:t>【card:選項 0 的算式(照印,含對本案不利的部分)】爭議   13,000 x 5-10% x 5.25 分 = 56.8-113.7 人時</a:t>
            </a:r>
          </a:p>
          <a:p>
            <a:r>
              <a:t>【card:選項 0 的算式(照印,含對本案不利的部分)】合計   129.1-185.9 人時 / 8 小時 = 16.14-23.24 FTE → 取整員額 17-24 …</a:t>
            </a:r>
          </a:p>
          <a:p>
            <a:r>
              <a:t>【card:選項 0 的算式(照印,含對本案不利的部分)】5.25 分/筆由一次實際判讀反推:5 人 x 3.6 個分析日 x 8 小時 = 144 人時 /…</a:t>
            </a:r>
          </a:p>
          <a:p>
            <a:r>
              <a:t>【card:選項 0 的算式(照印,含對本案不利的部分)】兩個尚未驗證的假設:①約 20 秒/筆是營運端的實務估計,尚未以計時量測驗證 ②假…</a:t>
            </a:r>
          </a:p>
          <a:p>
            <a:r>
              <a:t>【card:選項 0 的算式(照印,含對本案不利的部分)】加人會讓迴路轉得更久,不會讓它停:裝機量成長 → 複核量成長 → 人力吃緊 → 標…</a:t>
            </a:r>
          </a:p>
          <a:p>
            <a:r>
              <a:t>【card:G1(第 6 週)= 因果判定門】W1-6 要交出:一件客戶爭議的時間拆解(等待排隊 0-1 天 · 撈數據 0.5 天 · 判讀 1-3 天 · 內部覆核 0.5 天 · 回信 0.5 天 = 合計 2.5-5.5 天)· 兩天逾時率 · 尖峰到件分布 · 抽幀率的召回率比較</a:t>
            </a:r>
          </a:p>
          <a:p>
            <a:r>
              <a:t>【card:G1(第 6 週)= 因果判定門】怎麼判:把五段分成兩堆 - 「AI 可處理」(撈數據 · 判讀 · 證據包製作)與「AI 不可處理」(排隊 · 排班 · 人力調度)</a:t>
            </a:r>
          </a:p>
          <a:p>
            <a:r>
              <a:t>【card:G1(第 6 週)= 因果判定門】⚠️ 初步拆解已顯示 AI 可處理段佔全程 43%-78%,但那是營運端的一次口述拆解,不是系統量測;W1-6 要把它做成正式量測,判定規則不因初步結果而放寬。六週買一個答案,答案不對就不做後面</a:t>
            </a:r>
          </a:p>
          <a:p>
            <a:r>
              <a:t>【card:G1(第 6 週)= 因果判定門】怎麼判:把五段分成兩堆 - 「AI 可處理」(撈數據 · 判讀 · 證據包製作)與「AI …</a:t>
            </a:r>
          </a:p>
          <a:p>
            <a:r>
              <a:t>【card:G1(第 6 週)= 因果判定門】出口 A:AI 可處理的那一堆佔主要延遲 → 放行選項 1 / 2 的後段</a:t>
            </a:r>
          </a:p>
          <a:p>
            <a:r>
              <a:t>【card:G1(第 6 週)= 因果判定門】出口 B:否則 → 轉選項 0b(調班 + 尖峰人力池),本案的後五個工作包不執行</a:t>
            </a:r>
          </a:p>
          <a:p>
            <a:r>
              <a:t>【card:G1(第 6 週)= 因果判定門】⚠️ 初步拆解已顯示 AI 可處理段佔全程 43%-78%,但那是營運端的一次口述拆解…</a:t>
            </a:r>
          </a:p>
          <a:p>
            <a:r>
              <a:t>【badge】提案推估,非實測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到底是什麼(三層,一層都不可省)】技術寫到概念層次:一套地端視覺語言模型,篩檢與深挖兩種負載由同一台設備分時處理;實際選型與量化規格於 G1 依 W1-6 的量測定案 - 它直接決定要買幾台</a:t>
            </a:r>
          </a:p>
          <a:p>
            <a:r>
              <a:t>【card:這 85% 到底是什麼(三層,一層都不可省)】吞吐:1,000 支 15 秒事件影片約 10-16 分〔估算,非實測;依一組公開可得模型的公開吞吐特性推估〕;同一批人以 1.0 倍速看完約 250 分</a:t>
            </a:r>
          </a:p>
          <a:p>
            <a:r>
              <a:t>【card:這 85% 到底是什麼(三層,一層都不可省)】能力層:以現行小模型的表現外推,預期約 85% 的爭議件機器有把握、可直接結案 - 1,000 筆進來約 850 筆,剩約 150 筆送人細看。對那些件而言那就是終局判定〔提案推估,非實測;母體只有客戶爭議段,不含每日全量批次複核〕</a:t>
            </a:r>
          </a:p>
          <a:p>
            <a:r>
              <a:t>【card:這 85% 到底是什麼(三層,一層都不可省)】本案層:🔴 六個月內對外自動結案覆蓋率目標 = 0%。W12-24 只跑影子模式 - 機器照樣出結論但不對外送,人照常逐筆判,兩邊比對。這是唯一算得出自動結案漏放率的設計</a:t>
            </a:r>
          </a:p>
          <a:p>
            <a:r>
              <a:t>【card:這 85% 到底是什麼(三層,一層都不可省)】怎麼驗:第 12 週用同一份凍結評估集,四臂同場比 - 現行影像模型 / 規則式脈絡基線 / VLM 輔助人工 / 影子模式。G2 只能調整模型假設與規模,不能取消這個實驗</a:t>
            </a:r>
          </a:p>
          <a:p>
            <a:r>
              <a:t>【card:這 85% 到底是什麼(三層,一層都不可省)】吞吐:1,000 支 15 秒事件影片約 10-16 分〔估算,非實測;依一組公開可得模型的…</a:t>
            </a:r>
          </a:p>
          <a:p>
            <a:r>
              <a:t>【card:這 85% 到底是什麼(三層,一層都不可省)】能力層:以現行小模型的表現外推,預期約 85% 的爭議件機器有把握、可直接結案 -…</a:t>
            </a:r>
          </a:p>
          <a:p>
            <a:r>
              <a:t>【card:這 85% 到底是什麼(三層,一層都不可省)】本案層:🔴 六個月內對外自動結案覆蓋率目標 = 0%。W12-24 只跑影子模式 - 機器…</a:t>
            </a:r>
          </a:p>
          <a:p>
            <a:r>
              <a:t>【card:這 85% 到底是什麼(三層,一層都不可省)】放行層:要讓它對外生效,需通過本案之外的一道獨立門,不在本次請求範圍</a:t>
            </a:r>
          </a:p>
          <a:p>
            <a:r>
              <a:t>【card:這 85% 到底是什麼(三層,一層都不可省)】怎麼驗:第 12 週用同一份凍結評估集,四臂同場比 - 現行影像模型 / 規則式脈絡…</a:t>
            </a:r>
          </a:p>
          <a:p>
            <a:r>
              <a:t>【callout】⚠️ 85% 是分流率:它決定「這筆要不要人細看」,不是「這筆是不是誤報」;它與偵測誤報率量的不是同一件事,不可比、不可並排、不可相減。而人現在判得多準,我們沒有量過 - 所以我也不知道 85% 是進步還是退步,那正是第一個工作包要建的東西。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約 51 秒 · 223 字 · 累計 5:48</a:t>
            </a:r>
          </a:p>
          <a:p>
            <a:r>
              <a:t>── 講稿(照著唸)──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【matrix-cell】教育・介面 (Goddard et al., 2012)</a:t>
            </a:r>
          </a:p>
          <a:p>
            <a:r>
              <a:t>介面不顯示信心 (Guo et al., 2017)</a:t>
            </a:r>
          </a:p>
          <a:p>
            <a:r>
              <a:t>【matrix】{'name': 'R3 數據｜自動化偏差 · 成功 中\n(Parasuraman &amp; Manzey, 2010)', 'cells': ['教育・介面 (Goddard et al., 2012)\n介面不顯示信心 (Guo et al., 2017)…', '不顯示信心使複核變慢,\n與時效缺口相衝', '盲測組與對照組判定差異\n超過設計書所訂容忍值'], 'hot': False}</a:t>
            </a:r>
          </a:p>
          <a:p>
            <a:r>
              <a:t>【matrix】{'name': 'R5 社會性 · 成功 高\n複核團隊抵觸角色改變', 'cells': ['教育:角色轉型說明 +\n判準手冊共同編寫', '參與式做法拉長\n判準定案時程', '複核團隊留任率或\n黃金題參與率下滑'], 'hot': False}</a:t>
            </a:r>
          </a:p>
          <a:p>
            <a:r>
              <a:t>【matrix】{'name': 'R6 經濟 · 成功 中\n期內回本難證 · 與雲端競合', 'cells': ['審計:三道決策門\n逐段釋出額度', '分段釋出使長週期\n工作包難以排人', '決策門審查時單位成本\n改善低於門檻'], 'hot': False}</a:t>
            </a:r>
          </a:p>
          <a:p>
            <a:r>
              <a:t>【matrix】{'name': 'R7 組織與管理 · 成功 高\n缺管理層支持(誠實命中)', 'cells': ['問責:贊助人指派 +\n決策門出席為放行前提', '決策門增加治理負擔\n與會議成本', '決策門連續兩次\n無高階出席'], 'hot': False}</a:t>
            </a:r>
          </a:p>
          <a:p>
            <a:r>
              <a:t>【callout】R8 沒有答案 —— 法務書面意見於 G1(第 6 週)前到位;R9 · R10 是這個方案自己造成的,放行門在移交後,不在這六個月。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約 50 秒 · 219 字 · 累計 6:38</a:t>
            </a:r>
          </a:p>
          <a:p>
            <a:r>
              <a:t>── 講稿(照著唸)──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【matrix】{'name': '4 隱私保護與安全\n擴大影像調閱與判定紀錄保存;唯一不因自動結案而惡化的一條', 'cells': ['部分', '部分'], 'hot': False}</a:t>
            </a:r>
          </a:p>
          <a:p>
            <a:r>
              <a:t>【matrix】{'name': '6 透明性與解釋性\n對客戶揭露到哪一層尚未決定;移交後客戶不會知道那是機器判的', 'cells': ['部分', '未達成'], 'hot': False}</a:t>
            </a:r>
          </a:p>
          <a:p>
            <a:r>
              <a:t>【callout】移交後那七盞紅燈掛在第 24 週那道門上;今天要批的是前六週的量測 —— 那正是把它們變回琥珀的唯一路徑。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約 46 秒 · 201 字 · 累計 7:24</a:t>
            </a:r>
          </a:p>
          <a:p>
            <a:r>
              <a:t>── 講稿(照著唸)──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【callout】這一頁不是外掛的合規章節:上面兩層回答「怎麼證明這個 AI 真的有效」,護欄層回答「什麼情況下要喊停」。護欄層任一未達標,上面兩層的成績一律不採計。參照 Australia's AI Ethics Principles (2019) 第七條可申訴性 —— 被機器處理掉的事件必須有人能提出質疑;把它做成否決型指標,是本提案自己的設計決定,不是該文獻的主張。</a:t>
            </a:r>
          </a:p>
          <a:p>
            <a:r>
              <a:t>【matrix-cell】本案期內維持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【matrix-cell】批次複核約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【matrix】{'name': '業務② 獲得人工驗證判定的客戶涵蓋率', 'cells': ['現況為配給制,依購買量與問題嚴重性排序;涵蓋率無紀錄,W6 建立', '本案期內維持 100%(影子模式,機器不對外結案)。移交後開到天花板時會降到約 15% —— 那是本案造成的,不是本案要解的;移交後目標值須與自動結案的放行門…']}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後依實測單位工時重估〕。驅動因子不在我方控制內 —— 由客戶的開通時點決定']}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 3.6 個分析日 = 144 人時 ÷ 1,647 筆反推,單一批…', '兩者的正式量測都提前到 W6,與時間拆解同批交出;目標值於 G1 訂定 —— 全客戶人力推算與可避免成本都掛在這兩個單價上']}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20;本列只算 ADAS 側)', '降至 7% 以下〔提案目標;以該樣本為基準,G1 後依重新校準的量測重訂〕。只在人機系統軌量,第 12 週判 —— 🚫 不掛在模型本身']}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【matrix-cell】2 天內;單純案件當天〔提案目標 · 客戶期望,非已簽訂之服務水準協議〕。改善來源有兩項:證據包自動化、誤報量下降;各自佔多少由 W16 量測後給出</a:t>
            </a:r>
          </a:p>
          <a:p>
            <a:r>
              <a:t>【matrix-cell】本案期內維持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【matrix-cell】支撐全客戶 13,000+ 筆/天〔提案目標;所需人力由 G2 後依實測單位工時重估〕。驅動因子不在我方控制內 —— 由客戶的開通時點決定</a:t>
            </a:r>
          </a:p>
          <a:p>
            <a:r>
              <a:t>【matrix-cell】做本案、移交後開到天花板需 11–12 人(仍須增聘 6–7 人)→ 可避免 5–13 人 ≈ 每年 NT$520–1,521 萬〔以初階工程師公開薪資量級推算,非核定預算〕</a:t>
            </a:r>
          </a:p>
          <a:p>
            <a:r>
              <a:t>【matrix-cell】批次複核約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【matrix-cell】兩者的正式量測都提前到 W6,與時間拆解同批交出;目標值於 G1 訂定 —— 全客戶人力推算與可避免成本都掛在這兩個單價上</a:t>
            </a:r>
          </a:p>
          <a:p>
            <a:r>
              <a:t>【matrix-cell】某小型車隊單月樣本 104 / 1,029 ≈ 10.1%(該樣本全部誤報 124 筆 = ADAS 104 + 駕駛監控約 20;本列只算 ADAS 側)</a:t>
            </a:r>
          </a:p>
          <a:p>
            <a:r>
              <a:t>【matrix-cell】降至 7% 以下〔提案目標;以該樣本為基準,G1 後依重新校準的量測重訂〕。只在人機系統軌量,第 12 週判 —— 🚫 不掛在模型本身</a:t>
            </a:r>
          </a:p>
          <a:p>
            <a:r>
              <a:t>【matrix】{'name': '業務② 獲得人工驗證判定的客戶涵蓋率', 'cells': ['現況為配給制,依購買量與問題嚴重性排序;涵蓋率無紀錄,W6 建立', '本案期內維持 100%(影子模式,機器不對外結案)。移交後開到天花板時會降到約 15% —— 那是本案造成的…']}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後依實測單位工時重估〕。驅動因子不在我方控…']}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×…', '兩者的正式量測都提前到 W6,與時間拆解同批交出;目標值於 G1 訂定 —— 全客戶人力推算與可避免成本…']}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20…', '降至 7% 以下〔提案目標;以該樣本為基準,G1 後依重新校準的量測重訂〕。只在人機系統軌量,第 12 週…']}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【matrix-cell】定義:被分到「有把握、可直接結案」桶,但描述錯誤且該錯誤足以改變判定結論的比例。基準不存在 —— 自動結案機制尚未建立</a:t>
            </a:r>
          </a:p>
          <a:p>
            <a:r>
              <a:t>【matrix-cell】W12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【matrix-cell】否決自動結案能不能對外生效 —— 沒有它,分流率就等於把那部分風險藏進「機器有把握」那一桶 · 技術負責人</a:t>
            </a:r>
          </a:p>
          <a:p>
            <a:r>
              <a:t>【matrix】{'name': '⑪ 複核者一致性', 'cells': ['現況未量測', 'W10 前建立基線,目標值於 G2 訂定', '否決 G2 准不准開放對照重訓 · 複核營運主管']}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【matrix-cell】不存在。唯一量測是一份 39 筆人工觸發測試,獨立樣本,公司自註為下限</a:t>
            </a:r>
          </a:p>
          <a:p>
            <a:r>
              <a:t>【matrix-cell】W6 交出帶 95% 信賴區間的點估計;上限值於 G1 由委員會核定</a:t>
            </a:r>
          </a:p>
          <a:p>
            <a:r>
              <a:t>【matrix-cell】定義:被分到「有把握、可直接結案」桶,但描述錯誤且該錯誤足以改變判定結論的比例。基準不存在 —— 自動結案機制尚未建立</a:t>
            </a:r>
          </a:p>
          <a:p>
            <a:r>
              <a:t>【matrix-cell】W12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【matrix-cell】否決自動結案能不能對外生效 —— 沒有它,分流率就等於把那部分風險藏進「機器有把握」那一桶 · 技術負責人</a:t>
            </a:r>
          </a:p>
          <a:p>
            <a:r>
              <a:t>【matrix】{'name': '⑪ 複核者一致性', 'cells': ['現況未量測', 'W10 前建立基線,目標值於 G2 訂定', '否決 G2 准不准開放對照重訓 · 複核營運主管']}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約 47 秒 · 208 字 · 累計 8:11</a:t>
            </a:r>
          </a:p>
          <a:p>
            <a:r>
              <a:t>── 講稿(照著唸)──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【card:G1 · 第 6 週｜因果判定門】交:時間拆解(等待 / 找證據 / 判讀 / 內部覆核 / 回信)· 兩天逾時率 · 尖峰到件分布 · 抽幀率對交通標誌召回率的比較(它直接決定要買幾台)</a:t>
            </a:r>
          </a:p>
          <a:p>
            <a:r>
              <a:t>【card:G1 · 第 6 週｜因果判定門】🔴 停的條件一:只有當「證據搜尋、誤報量與證據包製作」佔主要延遲,才續行後段;否則本案轉為排班與尖峰人力池方案</a:t>
            </a:r>
          </a:p>
          <a:p>
            <a:r>
              <a:t>【card:G1 · 第 6 週｜因果判定門】🔴 停的條件二:評估底座未產出 → 剩餘工作全數不續行</a:t>
            </a:r>
          </a:p>
          <a:p>
            <a:r>
              <a:t>【card:G1 · 第 6 週｜因果判定門】同時要事前預註冊漏濾率的非劣性邊際 δ —— 判準必須寫在跑實驗之前。初步拆解顯示 AI 可處理段(找證據 + 判讀)佔全程 43%–78%,為營運端的初步估計,W1–6 交可稽核版本</a:t>
            </a:r>
          </a:p>
          <a:p>
            <a:r>
              <a:t>【card:G1 · 第 6 週｜因果判定門】🔴 停的條件一:只有當「證據搜尋、誤報量與…</a:t>
            </a:r>
          </a:p>
          <a:p>
            <a:r>
              <a:t>【card:G1 · 第 6 週｜因果判定門】🔴 停的條件二:評估底座未產出 → 剩餘工作…</a:t>
            </a:r>
          </a:p>
          <a:p>
            <a:r>
              <a:t>【card:G1 · 第 6 週｜因果判定門】同時要事前預註冊漏濾率的非劣性邊際 δ ——…</a:t>
            </a:r>
          </a:p>
          <a:p>
            <a:r>
              <a:t>【badge】只能改規模,不能取消實驗</a:t>
            </a:r>
          </a:p>
          <a:p>
            <a:r>
              <a:t>【card:G2 · 第 12 週｜四臂比較門】同一凍結評估集上跑四臂(見下表),分兩軌:工具品質軌 · 結案判定軌</a:t>
            </a:r>
          </a:p>
          <a:p>
            <a:r>
              <a:t>【card:G2 · 第 12 週｜四臂比較門】🔴 這道門停不掉實驗,只能調整模型的假設與規模。規則式若已解掉大部分誤報 → 靶心改為殘餘;規則式若無效 → 先查脈絡資料本身的品質</a:t>
            </a:r>
          </a:p>
          <a:p>
            <a:r>
              <a:t>【card:G2 · 第 12 週｜四臂比較門】放行條件:人機判定品質不劣於現況,且人工觸碰時間與 P90 回覆時間達預註冊門檻</a:t>
            </a:r>
          </a:p>
          <a:p>
            <a:r>
              <a:t>【card:G2 · 第 12 週｜四臂比較門】🔴 但「自動結案要不要對外開啟」不由 G2、也不由 G3 決定 —— 那需要移交後一道獨立的門,不在本次請求範圍</a:t>
            </a:r>
          </a:p>
          <a:p>
            <a:r>
              <a:t>【card:G2 · 第 12 週｜四臂比較門】🔴 這道門停不掉實驗,只能調整模型的假設與…</a:t>
            </a:r>
          </a:p>
          <a:p>
            <a:r>
              <a:t>【card:G2 · 第 12 週｜四臂比較門】放行條件:人機判定品質不劣於現況,且人工…</a:t>
            </a:r>
          </a:p>
          <a:p>
            <a:r>
              <a:t>【card:G2 · 第 12 週｜四臂比較門】🔴 但「自動結案要不要對外開啟」不由 G2…</a:t>
            </a:r>
          </a:p>
          <a:p>
            <a:r>
              <a:t>【card:G3 · 第 24 週｜部署決定門】🔴 停的條件:對照重訓證不出增量 → 模型端不部署,只留前四包的成果</a:t>
            </a:r>
          </a:p>
          <a:p>
            <a:r>
              <a:t>【card:G3 · 第 24 週｜部署決定門】就算證不出增量,公司仍留下第一套可重複的模型評估與標註品質流程 —— 那個東西不隨這道門撤掉</a:t>
            </a:r>
          </a:p>
          <a:p>
            <a:r>
              <a:t>【card:G3 · 第 24 週｜部署決定門】對照實驗的設計(hold-out 怎麼凍 · 因子怎麼拆 · 預註冊門檻訂在哪)由技術負責人在 W8 前提出、G2 核可</a:t>
            </a:r>
          </a:p>
          <a:p>
            <a:r>
              <a:t>【card:G3 · 第 24 週｜部署決定門】就算證不出增量,公司仍留下第一套可重複的…</a:t>
            </a:r>
          </a:p>
          <a:p>
            <a:r>
              <a:t>【card:G3 · 第 24 週｜部署決定門】對照實驗的設計(hold-out 怎麼凍 · 因子…</a:t>
            </a:r>
          </a:p>
          <a:p>
            <a:r>
              <a:t>【matrix-cell】🔴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【matrix】{'name': '② 規則式脈絡基線', 'cells': ['規則式脈絡層 + 人全數複核', '不含模型能解掉多少誤報。它是地端 VLM 的對照基線 —— 如果它就夠,本案的模型端該縮']}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判定品質。這是六個月內真正會上線的形態,誤報率也只能在這一軌量']}</a:t>
            </a:r>
          </a:p>
          <a:p>
            <a:r>
              <a:t>【matrix-cell】人工觸碰時間 · P90 回覆時間 · 判定品質。這是六個月內真正會上線的形態,誤報率也只能在這一軌量</a:t>
            </a:r>
          </a:p>
          <a:p>
            <a:r>
              <a:t>【matrix-cell】🔴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【matrix】{'name': '② 規則式脈絡基線', 'cells': ['規則式脈絡層 + 人全數複核', '不含模型能解掉多少誤報。它是地端 VLM 的對照基線 —— 如果它就夠,本案的模型端該縮']}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判定品質。這是六個月內真正會上線的形態,誤報率也只…']}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約 64 秒 · 280 字 · 累計 9:15</a:t>
            </a:r>
          </a:p>
          <a:p>
            <a:r>
              <a:t>── 講稿(照著唸)──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萬〔提案規劃,非核定預算〕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萬〔提案規劃…</a:t>
            </a:r>
          </a:p>
          <a:p>
            <a:r>
              <a:t>【card:我請求核准的人】六方當責:項目贊助人 · 業務負責人 · 數據負責人 · 技術負責人 · 複核營運主管 · 專案負責人(提案人)。每個工作包只有一個 A;三道決策門的 A 一律落在項目贊助人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前確認本案與公司既有雲端判讀規劃的範圍、預算與當責邊界(我主張的相依關係,待共同確認;若評估結果是兩案應合併或改序,我接受)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前確認本案與公司既有雲端判讀規劃的範圍、預算與當責邊界(我主張的相依關係,待共同確認;若評估結果是兩案…</a:t>
            </a:r>
          </a:p>
          <a:p>
            <a:r>
              <a:t>【card:我請求核准的人】組織障礙不在技術側:政策可改 · 優先序照購買量 · 尖峰徵調研發 —— 所以我要的不只是一筆錢,是一個贊助人跟三道門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—— 那時我們量得出它錯多少,今天量不出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車隊客戶的安全主管 · 駕駛(目前無申訴管道)</a:t>
            </a:r>
          </a:p>
          <a:p>
            <a:r>
              <a:t>【card:六個月之後 / 不做的話】不做的代價:客戶繼續等 2–5 天、小客戶繼續拿到沒有人看過的判定,而研發工程師在尖峰繼續被拉去看影片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…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車隊客戶的…</a:t>
            </a:r>
          </a:p>
          <a:p>
            <a:r>
              <a:t>【callout】放行條件(本案的損益兩平門檻):① 若公司選擇以現行流程覆蓋全客戶,年度擴編暴露約 NT$1,248–2,223 萬 —— 這是反事實成本暴露,不是本案承諾的節省。② 完整專案的人力成本約等於 1.4–1.7 個 loaded FTE-year。③ 只有 G2 實測證明可避免或延後至少此容量,且業務確認會轉成少招人或少徵調研發,才放行後續預算。(當責:業務負責人提出容量轉換的確認 · 時點 G2 / 第 12 週 · 它決定第二段預算放不放行)  (IBM, n.d.)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約 5 秒 · 21 字 · 累計 9:20</a:t>
            </a:r>
          </a:p>
          <a:p>
            <a:r>
              <a:t>── 講稿(照著唸)──</a:t>
            </a:r>
          </a:p>
          <a:p>
            <a:r>
              <a:t>這些是本提案引用的公開文獻,完整清單在這一頁。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04873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4873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鏡頭在車上即時初判,偵測到一次可能的危險…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627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8627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382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2382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這 5 個人做的事:重看影片 → 判成立或誤報…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69125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8561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25818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25818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258186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89967"/>
            <a:ext cx="45720" cy="47072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762535"/>
            <a:ext cx="2116945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5762535"/>
            <a:ext cx="278791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5762535"/>
            <a:ext cx="375379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040171"/>
            <a:ext cx="10874959" cy="42099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4040171"/>
            <a:ext cx="10509199" cy="420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這兩段之所以慢,是同一個原因:模型看不到畫面外的東西 —— 撈數據慢,是因為人要自己去查那個位置與那…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89770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662338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662338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662338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641297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613865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613865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613865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04039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04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樣本:4 台車 · 23 天 · 1,647 筆 = 一個小型車隊、一個月 —— 以下所有比例僅在此樣本內成立。這一…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60855"/>
          <a:ext cx="10874957" cy="214655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尺的一致性我們從來沒量過 —— 不比誰準,只指出錯的性質不同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標註品質那一包第 10 週建立基線,G2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203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6274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3531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3531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3531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8856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6113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6113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6113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91094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545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5802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458022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458022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989803"/>
            <a:ext cx="45720" cy="48834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962371"/>
            <a:ext cx="2408822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3962371"/>
            <a:ext cx="3152759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3962371"/>
            <a:ext cx="4240255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4910195"/>
          <a:ext cx="965880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裝置離線與鏡頭遮蔽時段無資料;事件分批上傳、頻率不一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 + 冷凍評估集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目前不一致:同一段影片,不同複核者會給不同標籤(低頭 v…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
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以現行做法增聘專職複核人力,覆蓋全部既有客戶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線性:量幾倍,人就要幾倍 → 需 17-24 人(現有 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停不下來:編制是常態支出,而那個迴路照樣轉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- 加人只是沿著同一條成本曲線移動,不是…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
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讓機器讀懂一次事件的完整脈絡(影片 + 客戶問…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前期一次性投入,之後次線性 - 事件量繼續長,人…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三道門都可停:G1(W6)· G2(W12)· G3(W24);且…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- 前三包不是流程改善,是評估它的必要前…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218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218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批次   13,000 x 20 秒 = 72.2 人時(13,000+ 筆/天 = 全客戶每日平均總事件…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2673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3646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7055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055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646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要交出:一件客戶爭議的時間拆解(等待排隊 0-1 天 · 撈數據 0.5 天 · 判…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9510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483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922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922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483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技術寫到概念層次:一套地端視覺語言模型,篩檢與深挖兩種負載由同一台設備分時…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6046220"/>
            <a:ext cx="9658807" cy="42773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6046220"/>
            <a:ext cx="9293047" cy="4277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是分流率:它決定「這筆要不要人細看」,不是「這筆是不是誤報」;它與偵測誤報率量…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7444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 · 成功 中
模型不可解釋 → 複核者不信任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解釋:輸出可讀的描述與
引用到的證據 (Rudin, 2019)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錯的描述一樣通順,
比錯的分數更難察覺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推翻模型判定的比例不降;
只看得到人有看的那些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 · 成功 中
資料級聯:判準與脈絡資料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審計:黃金題 + 抽樣雙人
複核 + 來源版本快照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雙人複核使複核成本
近倍增,需以抽樣控制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交通標誌根因佔比偏離基準
基準 = 某小型車隊單月樣本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 · 成功 低
駕駛本人沒有申訴管道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問責:申訴機制到位前,
產出不供個人考核使用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
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駕駛端申訴無處可收,
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 · 尚無緩解
「曾判為誤報」的舉證地位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問責:法務書面意見
於 G1(第 6 週)前到位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
可執行的緩解措施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客戶回頭標記的案件中
出現援引我方誤報的爭議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倫理｜自動結案的漏放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問責:六個月影子模式(對外 0%)
碰撞 / 疲勞 / 行人不自動結案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
省下來的一部分(見資源頁)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漏濾率(否決型):自動結案桶
與人工桶的漏放率差值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倫理｜自動結案的冤枉
本案自己造成的 · 放行門在移交後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問責:申訴即強制轉人工
且不得由同一模型複判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轉人工的量與時效
回到人力瓶頸上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
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7444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
期內同樣人力承接更高複核量;移交後那約 850 筆無人覆核〔推估,非實測〕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
期內人仍逐筆判;移交後駕駛承受的是機器單方面的決定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 (Australian Human Rights Commission, 2020)
期內排序仍依客戶購買量;移交後配給依據換成機器的信心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
漏放率目前不存在,只有一份 39 筆人工觸發測試(獨立樣本,自註為下限)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
只有車隊安全主管能標記,駕駛本人不能提出質疑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
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
RACI 與三道決策門管的是專案;那 850 筆裡某一筆判錯,沒有人簽過名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30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43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這一頁不是外掛的合規章節:上面兩層回答「怎麼證明這個 AI 真的有效」,護欄層回答「什麼情況下要喊…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399900"/>
          <a:ext cx="10874957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客戶爭議回覆時效｜主要業務價值指標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單件爭議從分析到回信的完整鏈路,平均 2–5 天;約半數超過兩天(營運端估計,不是量測,W6 交出正式量測)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天內;單純案件當天〔提案目標 · 客戶期望,非已簽訂之服務水準協議〕。改善來源有兩項:證據包自動…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可避免的年度增聘成本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不做本案、以現行做法覆蓋全部既有客戶需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做本案、移交後開到天花板需 11–12 人(仍須增聘 6–7 人)→ 可避免 5–13 人 ≈ 每年 NT$520–1,521 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4537510"/>
          <a:ext cx="9658805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不存在。唯一量測是一份 39 筆人工觸發測試,獨立樣本…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交出帶 95% 信賴區間的點估計;上限值於 G1 由委員…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 放不放行後段工作 · 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定義:被分到「有把握、可直接結案」桶,但描述錯誤且該…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由影子模式軌交出「自動結案桶與人工桶的漏放率差…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否決自動結案能不能對外生效 —— 沒有它,分流率就等於把…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462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428240"/>
            <a:ext cx="45720" cy="4622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0080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40080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40080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交:時間拆解(等待 / 找證據 / 判讀 / 內…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同一凍結評估集上跑四臂(見下表),分兩軌:…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停的條件:對照重訓證不出增量 → 模型端…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4975352"/>
          <a:ext cx="9658806" cy="1467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機器初判,人全數複核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現況的基準線。沒有它,後面三臂就沒有「比什麼」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6921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機器自己結案但不對外送,人照常逐筆判,兩邊比對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自動結案桶與人工桶的漏放率差值(95% 信賴區間),對照 G1 事前預註冊的非劣性邊際 δ…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47453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20021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20021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20021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六個月整體額度輪廓 · 分段釋出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G1(第 6 週)由贊助人決定是否續行 —— 它決定的是要不要續行剩下的工作,不是要不要開始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六方當責:項目贊助人 · 業務負責人 · 數據負責人 · 技術負責人 · 複核營運主管 · 專案負責人(提案人)。每個工作包只有一個 A;三道決策…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委員會手上會多三樣東西:① 一份可稽核的錯誤率 ② 一層把畫面外脈絡帶進事件的判斷層 ③ 一份證明或推翻「脈絡到底有沒有用」的對照實驗結果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005654"/>
            <a:ext cx="9658807" cy="468297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6005654"/>
            <a:ext cx="9293047" cy="4682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放行條件(本案的損益兩平門檻):① 若公司選擇以現行流程覆蓋全客戶,年度擴編暴露約 NT$1…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