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55516" autoAdjust="0"/>
  </p:normalViewPr>
  <p:slideViewPr>
    <p:cSldViewPr snapToGrid="0" snapToObjects="1">
      <p:cViewPr varScale="1">
        <p:scale>
          <a:sx n="67" d="100"/>
          <a:sy n="67" d="100"/>
        </p:scale>
        <p:origin x="434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77506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── </a:t>
            </a:r>
            <a:r>
              <a:rPr dirty="0" err="1"/>
              <a:t>逐字備援</a:t>
            </a:r>
            <a:r>
              <a:rPr dirty="0"/>
              <a:t> · 348 字(</a:t>
            </a:r>
            <a:r>
              <a:rPr dirty="0" err="1"/>
              <a:t>忘詞才看,不是拿來唸的</a:t>
            </a:r>
            <a:r>
              <a:rPr dirty="0"/>
              <a:t>)──</a:t>
            </a:r>
          </a:p>
          <a:p>
            <a:r>
              <a:rPr dirty="0" err="1"/>
              <a:t>選了這條路,我先講它會出什麼事。七件事,我按四類分:資料兩件、組織三件、倫理一件、經濟一件。資料那兩件是</a:t>
            </a:r>
            <a:r>
              <a:rPr dirty="0"/>
              <a:t> AI </a:t>
            </a:r>
            <a:r>
              <a:rPr dirty="0" err="1"/>
              <a:t>才有的。第一,機器會判錯,但講得很順</a:t>
            </a:r>
            <a:r>
              <a:rPr dirty="0"/>
              <a:t> —— 講錯的跟講對的一樣順,比一個錯的數字更難發現。我的做法是:分析結果用白話寫,而且把它用到的數據標出來;複核的時候對一下那些數據,是不是幻覺一眼就看得出來。這一件我把握高,因為每一筆複核都會對到,不是抽樣。第二,判定不一致。我們會定期跑一組答案確定的事件,拿去給 AI </a:t>
            </a:r>
            <a:r>
              <a:rPr dirty="0" err="1"/>
              <a:t>校正,答對率掉下來就知道它漂了。組織那邊最要緊的一件是:機器給的是判定結果,人可能就照抄。我的決定是介面不顯示機器的信心分數</a:t>
            </a:r>
            <a:r>
              <a:rPr dirty="0"/>
              <a:t> —— 但這個防法有代價,不顯示,複核會變慢,撞到兩天那個目標。這一格我也寫在表上。最後請各位看最右邊那一欄。把握只有中的有三件,而它們的共同點是**</a:t>
            </a:r>
            <a:r>
              <a:rPr dirty="0" err="1"/>
              <a:t>都不在我手上</a:t>
            </a:r>
            <a:r>
              <a:rPr dirty="0"/>
              <a:t>**:</a:t>
            </a:r>
            <a:r>
              <a:rPr dirty="0" err="1"/>
              <a:t>機器的措辭、主管願不願意幫駕駛轉達、還有高階主管的行程。我控制得了的,我寫高;控制不了的,我就寫中</a:t>
            </a:r>
            <a:r>
              <a:rPr dirty="0"/>
              <a:t>。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3474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dirty="0" err="1">
                <a:solidFill>
                  <a:srgbClr val="16212E"/>
                </a:solidFill>
                <a:latin typeface="Microsoft JhengHei"/>
              </a:rPr>
              <a:t>地端</a:t>
            </a:r>
            <a:r>
              <a:rPr sz="2000" b="0" dirty="0">
                <a:solidFill>
                  <a:srgbClr val="16212E"/>
                </a:solidFill>
                <a:latin typeface="Microsoft JhengHei"/>
              </a:rPr>
              <a:t> AI </a:t>
            </a:r>
            <a:r>
              <a:rPr sz="2000" b="0" dirty="0" err="1">
                <a:solidFill>
                  <a:srgbClr val="16212E"/>
                </a:solidFill>
                <a:latin typeface="Microsoft JhengHei"/>
              </a:rPr>
              <a:t>事件判讀</a:t>
            </a:r>
            <a:r>
              <a:rPr sz="2000" b="0" dirty="0">
                <a:solidFill>
                  <a:srgbClr val="16212E"/>
                </a:solidFill>
                <a:latin typeface="Microsoft JhengHei"/>
              </a:rPr>
              <a:t> —— </a:t>
            </a:r>
            <a:r>
              <a:rPr sz="2000" b="0" dirty="0" err="1">
                <a:solidFill>
                  <a:srgbClr val="16212E"/>
                </a:solidFill>
                <a:latin typeface="Microsoft JhengHei"/>
              </a:rPr>
              <a:t>六個月提案計畫</a:t>
            </a:r>
            <a:endParaRPr sz="2000" b="0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312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dirty="0" err="1">
                <a:solidFill>
                  <a:srgbClr val="E8833A"/>
                </a:solidFill>
                <a:latin typeface="Microsoft JhengHei"/>
              </a:rPr>
              <a:t>一個車隊</a:t>
            </a:r>
            <a:r>
              <a:rPr sz="1800" b="1" dirty="0">
                <a:solidFill>
                  <a:srgbClr val="E8833A"/>
                </a:solidFill>
                <a:latin typeface="Microsoft JhengHei"/>
              </a:rPr>
              <a:t>,</a:t>
            </a:r>
            <a:r>
              <a:rPr lang="zh-TW" altLang="en-US" sz="1800" b="1" dirty="0">
                <a:solidFill>
                  <a:srgbClr val="E8833A"/>
                </a:solidFill>
                <a:latin typeface="Microsoft JhengHei"/>
              </a:rPr>
              <a:t> </a:t>
            </a:r>
            <a:r>
              <a:rPr sz="1800" b="1" dirty="0" err="1">
                <a:solidFill>
                  <a:srgbClr val="E8833A"/>
                </a:solidFill>
                <a:latin typeface="Microsoft JhengHei"/>
              </a:rPr>
              <a:t>五個人看完三千支影片</a:t>
            </a:r>
            <a:r>
              <a:rPr sz="1800" b="1" dirty="0">
                <a:solidFill>
                  <a:srgbClr val="E8833A"/>
                </a:solidFill>
                <a:latin typeface="Microsoft JhengHei"/>
              </a:rPr>
              <a:t>;</a:t>
            </a:r>
            <a:r>
              <a:rPr lang="zh-TW" altLang="en-US" sz="1800" b="1" dirty="0">
                <a:solidFill>
                  <a:srgbClr val="E8833A"/>
                </a:solidFill>
                <a:latin typeface="Microsoft JhengHei"/>
              </a:rPr>
              <a:t> </a:t>
            </a:r>
            <a:r>
              <a:rPr sz="1800" b="1" dirty="0" err="1">
                <a:solidFill>
                  <a:srgbClr val="E8833A"/>
                </a:solidFill>
                <a:latin typeface="Microsoft JhengHei"/>
              </a:rPr>
              <a:t>而客戶要的答案</a:t>
            </a:r>
            <a:r>
              <a:rPr sz="1800" b="1" dirty="0">
                <a:solidFill>
                  <a:srgbClr val="E8833A"/>
                </a:solidFill>
                <a:latin typeface="Microsoft JhengHei"/>
              </a:rPr>
              <a:t>,</a:t>
            </a:r>
            <a:r>
              <a:rPr lang="zh-TW" altLang="en-US" sz="1800" b="1" dirty="0">
                <a:solidFill>
                  <a:srgbClr val="E8833A"/>
                </a:solidFill>
                <a:latin typeface="Microsoft JhengHei"/>
              </a:rPr>
              <a:t> </a:t>
            </a:r>
            <a:r>
              <a:rPr sz="1800" b="1" dirty="0" err="1">
                <a:solidFill>
                  <a:srgbClr val="E8833A"/>
                </a:solidFill>
                <a:latin typeface="Microsoft JhengHei"/>
              </a:rPr>
              <a:t>兩天內</a:t>
            </a:r>
            <a:r>
              <a:rPr sz="1800" b="1" dirty="0">
                <a:solidFill>
                  <a:srgbClr val="E8833A"/>
                </a:solidFill>
                <a:latin typeface="Microsoft JhengHei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10662037" cy="201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內部數字均標示為假設或推算量級,並於各頁附推算方式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3795" y="1291893"/>
            <a:ext cx="11030407" cy="1014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我們客戶是車隊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包含物流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·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客運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·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礦業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;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車上裝我們的鏡頭</a:t>
            </a:r>
            <a:b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鏡頭偵測到一次危險駕駛 → 記一筆「事件」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影片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時間地點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系統分類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pPr>
              <a:lnSpc>
                <a:spcPct val="130000"/>
              </a:lnSpc>
            </a:pP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客戶回頭說「這筆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判錯了」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=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一次「爭議」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——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由人重看影片才判得出來</a:t>
            </a:r>
          </a:p>
          <a:p>
            <a:pPr>
              <a:lnSpc>
                <a:spcPct val="130000"/>
              </a:lnSpc>
            </a:pP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單一大型車隊約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3,000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筆事件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天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·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部門僅 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 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位專職分析人員逐筆看</a:t>
            </a:r>
            <a:r>
              <a:rPr lang="en-US" altLang="zh-TW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3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而客戶還在持續增長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2399461"/>
            <a:ext cx="5364327" cy="15096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4" y="2500884"/>
            <a:ext cx="514487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前端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793492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23895" y="2838319"/>
            <a:ext cx="1033271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Microsoft JhengHei"/>
              </a:rPr>
              <a:t>① </a:t>
            </a:r>
            <a:r>
              <a:rPr sz="1200" b="1" dirty="0" err="1">
                <a:solidFill>
                  <a:srgbClr val="FFFFFF"/>
                </a:solidFill>
                <a:latin typeface="Microsoft JhengHei"/>
              </a:rPr>
              <a:t>已自動化</a:t>
            </a:r>
            <a:endParaRPr sz="12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8096" y="3177539"/>
            <a:ext cx="5144871" cy="8332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車機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Edge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初判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→ Server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複判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判定屬實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→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回傳裝置向駕駛警示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自動化到這裡就停了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68999" y="2399461"/>
            <a:ext cx="5364327" cy="154762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78727" y="2461719"/>
            <a:ext cx="5144871" cy="260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人工複核防線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 · 5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位專職分析人員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 ·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逐筆</a:t>
            </a:r>
            <a:endParaRPr sz="1500" b="1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258327" y="2793492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58327" y="2838319"/>
            <a:ext cx="1185672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Microsoft JhengHei"/>
              </a:rPr>
              <a:t>② </a:t>
            </a:r>
            <a:r>
              <a:rPr sz="1200" b="1" dirty="0" err="1">
                <a:solidFill>
                  <a:srgbClr val="FFFFFF"/>
                </a:solidFill>
                <a:latin typeface="Microsoft JhengHei"/>
              </a:rPr>
              <a:t>沒有自動化</a:t>
            </a:r>
            <a:endParaRPr sz="12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78727" y="3177539"/>
            <a:ext cx="5144871" cy="720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客戶回頭說「這筆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判錯了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」=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一次爭議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(約 5–10%)</a:t>
            </a:r>
          </a:p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每一筆:打開事件檔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→ 看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當時依什麼判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→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回信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分兩種:客戶誤解規格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vs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真誤報,約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2:8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" y="4033465"/>
            <a:ext cx="5368900" cy="14916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18456" y="4179769"/>
            <a:ext cx="43996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8456" y="4673545"/>
            <a:ext cx="4399635" cy="5647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dirty="0">
                <a:solidFill>
                  <a:srgbClr val="16212E"/>
                </a:solidFill>
                <a:latin typeface="Microsoft JhengHei"/>
              </a:rPr>
              <a:t>3,000 筆 × 20 秒 = 16.7 </a:t>
            </a:r>
            <a:r>
              <a:rPr sz="1300" b="0" dirty="0" err="1">
                <a:solidFill>
                  <a:srgbClr val="16212E"/>
                </a:solidFill>
                <a:latin typeface="Microsoft JhengHei"/>
              </a:rPr>
              <a:t>人時</a:t>
            </a:r>
            <a:r>
              <a:rPr sz="1300" b="0" dirty="0">
                <a:solidFill>
                  <a:srgbClr val="16212E"/>
                </a:solidFill>
                <a:latin typeface="Microsoft JhengHei"/>
              </a:rPr>
              <a:t>/天</a:t>
            </a:r>
            <a:endParaRPr lang="en-US" sz="1300" b="0" dirty="0">
              <a:solidFill>
                <a:srgbClr val="16212E"/>
              </a:solidFill>
              <a:latin typeface="Microsoft JhengHei"/>
            </a:endParaRPr>
          </a:p>
          <a:p>
            <a:pPr algn="ctr">
              <a:lnSpc>
                <a:spcPct val="150000"/>
              </a:lnSpc>
            </a:pPr>
            <a:r>
              <a:rPr lang="zh-TW" altLang="en-US" sz="1300" dirty="0">
                <a:solidFill>
                  <a:srgbClr val="16212E"/>
                </a:solidFill>
                <a:latin typeface="Microsoft JhengHei"/>
              </a:rPr>
              <a:t>由一次實際判讀反推</a:t>
            </a:r>
            <a:r>
              <a:rPr lang="en-US" altLang="zh-TW" sz="1300" dirty="0">
                <a:solidFill>
                  <a:srgbClr val="16212E"/>
                </a:solidFill>
                <a:latin typeface="Microsoft JhengHei"/>
              </a:rPr>
              <a:t>;</a:t>
            </a:r>
            <a:r>
              <a:rPr lang="zh-TW" altLang="en-US" sz="1300" dirty="0">
                <a:solidFill>
                  <a:srgbClr val="16212E"/>
                </a:solidFill>
                <a:latin typeface="Microsoft JhengHei"/>
              </a:rPr>
              <a:t>單一批次</a:t>
            </a:r>
            <a:r>
              <a:rPr lang="en-US" altLang="zh-TW" sz="1300" dirty="0">
                <a:solidFill>
                  <a:srgbClr val="16212E"/>
                </a:solidFill>
                <a:latin typeface="Microsoft JhengHei"/>
              </a:rPr>
              <a:t>,</a:t>
            </a:r>
            <a:r>
              <a:rPr lang="zh-TW" altLang="en-US" sz="1300" dirty="0">
                <a:solidFill>
                  <a:srgbClr val="16212E"/>
                </a:solidFill>
                <a:latin typeface="Microsoft JhengHei"/>
              </a:rPr>
              <a:t>非長期平均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8999" y="4026839"/>
            <a:ext cx="5364327" cy="14916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51344" y="4173143"/>
            <a:ext cx="43996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1344" y="4666919"/>
            <a:ext cx="4399635" cy="6686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dirty="0">
                <a:solidFill>
                  <a:srgbClr val="16212E"/>
                </a:solidFill>
                <a:latin typeface="Microsoft JhengHei"/>
              </a:rPr>
              <a:t>150–300 筆 × 5.25 分 = 13.1–26.2 </a:t>
            </a:r>
            <a:r>
              <a:rPr sz="1300" b="0" dirty="0" err="1">
                <a:solidFill>
                  <a:srgbClr val="16212E"/>
                </a:solidFill>
                <a:latin typeface="Microsoft JhengHei"/>
              </a:rPr>
              <a:t>人時</a:t>
            </a:r>
            <a:r>
              <a:rPr sz="1300" b="0" dirty="0">
                <a:solidFill>
                  <a:srgbClr val="16212E"/>
                </a:solidFill>
                <a:latin typeface="Microsoft JhengHei"/>
              </a:rPr>
              <a:t>/天</a:t>
            </a:r>
          </a:p>
          <a:p>
            <a:pPr algn="ctr">
              <a:lnSpc>
                <a:spcPct val="150000"/>
              </a:lnSpc>
            </a:pPr>
            <a:r>
              <a:rPr sz="1300" b="0" dirty="0" err="1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  <a:endParaRPr sz="1300" b="0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266443" y="5549925"/>
            <a:ext cx="9658807" cy="260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合計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 29.8–42.9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人時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/天　vs　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產能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 40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人時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/天(5 人 × 8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小時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)</a:t>
            </a:r>
            <a:r>
              <a:rPr lang="zh-TW" altLang="en-US" sz="1500" b="1" dirty="0">
                <a:solidFill>
                  <a:srgbClr val="16212E"/>
                </a:solidFill>
                <a:latin typeface="Microsoft JhengHei"/>
              </a:rPr>
              <a:t> 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——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上緣已超過,而這只是一個客戶</a:t>
            </a:r>
            <a:endParaRPr sz="1500" b="1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58368" y="6064758"/>
            <a:ext cx="45720" cy="381761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4672" y="6037326"/>
            <a:ext cx="2116945" cy="4732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 err="1">
                <a:solidFill>
                  <a:srgbClr val="16212E"/>
                </a:solidFill>
                <a:latin typeface="Microsoft JhengHei"/>
              </a:rPr>
              <a:t>本案要建的</a:t>
            </a:r>
            <a:r>
              <a:rPr sz="1400" b="1" dirty="0">
                <a:solidFill>
                  <a:srgbClr val="16212E"/>
                </a:solidFill>
                <a:latin typeface="Microsoft JhengHei"/>
              </a:rPr>
              <a:t> AI </a:t>
            </a:r>
            <a:r>
              <a:rPr sz="1400" b="1" dirty="0" err="1">
                <a:solidFill>
                  <a:srgbClr val="16212E"/>
                </a:solidFill>
                <a:latin typeface="Microsoft JhengHei"/>
              </a:rPr>
              <a:t>能力</a:t>
            </a:r>
            <a:endParaRPr sz="1400" b="1" dirty="0">
              <a:solidFill>
                <a:srgbClr val="16212E"/>
              </a:solidFill>
              <a:latin typeface="Microsoft Jheng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500833" y="6143665"/>
            <a:ext cx="4423428" cy="2605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dirty="0" err="1">
                <a:solidFill>
                  <a:srgbClr val="C00000"/>
                </a:solidFill>
                <a:latin typeface="Microsoft JhengHei"/>
              </a:rPr>
              <a:t>讀懂一次事件的完整脈絡</a:t>
            </a:r>
            <a:r>
              <a:rPr sz="1500" b="1" dirty="0">
                <a:solidFill>
                  <a:srgbClr val="C00000"/>
                </a:solidFill>
                <a:latin typeface="Microsoft JhengHei"/>
              </a:rPr>
              <a:t>:</a:t>
            </a:r>
            <a:r>
              <a:rPr lang="zh-TW" altLang="en-US" sz="1500" b="1" dirty="0">
                <a:solidFill>
                  <a:srgbClr val="C00000"/>
                </a:solidFill>
                <a:latin typeface="Microsoft JhengHei"/>
              </a:rPr>
              <a:t> </a:t>
            </a:r>
            <a:r>
              <a:rPr sz="1500" b="1" dirty="0" err="1">
                <a:solidFill>
                  <a:srgbClr val="C00000"/>
                </a:solidFill>
                <a:latin typeface="Microsoft JhengHei"/>
              </a:rPr>
              <a:t>影片</a:t>
            </a:r>
            <a:r>
              <a:rPr sz="1500" b="1" dirty="0">
                <a:solidFill>
                  <a:srgbClr val="C00000"/>
                </a:solidFill>
                <a:latin typeface="Microsoft JhengHei"/>
              </a:rPr>
              <a:t> + </a:t>
            </a:r>
            <a:r>
              <a:rPr sz="1500" b="1" dirty="0" err="1">
                <a:solidFill>
                  <a:srgbClr val="C00000"/>
                </a:solidFill>
                <a:latin typeface="Microsoft JhengHei"/>
              </a:rPr>
              <a:t>客戶問題</a:t>
            </a:r>
            <a:r>
              <a:rPr sz="1500" b="1" dirty="0">
                <a:solidFill>
                  <a:srgbClr val="C00000"/>
                </a:solidFill>
                <a:latin typeface="Microsoft JhengHei"/>
              </a:rPr>
              <a:t> + </a:t>
            </a:r>
            <a:r>
              <a:rPr sz="1500" b="1" dirty="0" err="1">
                <a:solidFill>
                  <a:srgbClr val="C00000"/>
                </a:solidFill>
                <a:latin typeface="Microsoft JhengHei"/>
              </a:rPr>
              <a:t>規則</a:t>
            </a:r>
            <a:endParaRPr sz="1500" b="1" dirty="0">
              <a:solidFill>
                <a:srgbClr val="C00000"/>
              </a:solidFill>
              <a:latin typeface="Microsoft JhengHe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861711" y="6054088"/>
            <a:ext cx="4525617" cy="43967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慢的成因是證據不在畫面裡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,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而要建的能力正是把畫面外的東西讀進來;全客戶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54906"/>
            <a:ext cx="11030407" cy="260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導入「</a:t>
            </a:r>
            <a:r>
              <a:rPr lang="en-US" altLang="zh-TW" sz="1500" b="0" dirty="0" err="1">
                <a:solidFill>
                  <a:srgbClr val="6B7885"/>
                </a:solidFill>
                <a:latin typeface="Microsoft JhengHei"/>
              </a:rPr>
              <a:t>AI</a:t>
            </a:r>
            <a:r>
              <a:rPr lang="zh-TW" altLang="en-US" sz="15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爭議回覆自動化</a:t>
            </a:r>
            <a:r>
              <a:rPr sz="1500" b="0" dirty="0">
                <a:solidFill>
                  <a:srgbClr val="6B7885"/>
                </a:solidFill>
                <a:latin typeface="Microsoft JhengHei"/>
              </a:rPr>
              <a:t>」(第 8–16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週的工作包</a:t>
            </a:r>
            <a:r>
              <a:rPr sz="1500" b="0" dirty="0">
                <a:solidFill>
                  <a:srgbClr val="6B7885"/>
                </a:solidFill>
                <a:latin typeface="Microsoft JhengHei"/>
              </a:rPr>
              <a:t>):</a:t>
            </a:r>
            <a:r>
              <a:rPr lang="zh-TW" altLang="en-US" sz="15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機器做分析給出事實結果,人工審閱並給出內部覆核</a:t>
            </a:r>
            <a:endParaRPr sz="15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2952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dirty="0" err="1">
                <a:solidFill>
                  <a:srgbClr val="16212E"/>
                </a:solidFill>
                <a:latin typeface="Microsoft JhengHei"/>
              </a:rPr>
              <a:t>單件客戶爭議的五段時間拆解</a:t>
            </a:r>
            <a:r>
              <a:rPr sz="1700" b="1" dirty="0">
                <a:solidFill>
                  <a:srgbClr val="16212E"/>
                </a:solidFill>
                <a:latin typeface="Microsoft JhengHei"/>
              </a:rPr>
              <a:t>(</a:t>
            </a:r>
            <a:r>
              <a:rPr sz="1700" b="1" dirty="0" err="1">
                <a:solidFill>
                  <a:srgbClr val="16212E"/>
                </a:solidFill>
                <a:latin typeface="Microsoft JhengHei"/>
              </a:rPr>
              <a:t>合計</a:t>
            </a:r>
            <a:r>
              <a:rPr sz="1700" b="1" dirty="0">
                <a:solidFill>
                  <a:srgbClr val="16212E"/>
                </a:solidFill>
                <a:latin typeface="Microsoft JhengHei"/>
              </a:rPr>
              <a:t> 2</a:t>
            </a:r>
            <a:r>
              <a:rPr lang="zh-TW" altLang="en-US" sz="1700" b="1" dirty="0">
                <a:solidFill>
                  <a:srgbClr val="16212E"/>
                </a:solidFill>
                <a:latin typeface="Microsoft JhengHei"/>
              </a:rPr>
              <a:t> </a:t>
            </a:r>
            <a:r>
              <a:rPr sz="1700" b="1" dirty="0">
                <a:solidFill>
                  <a:srgbClr val="16212E"/>
                </a:solidFill>
                <a:latin typeface="Microsoft JhengHei"/>
              </a:rPr>
              <a:t>–</a:t>
            </a:r>
            <a:r>
              <a:rPr lang="zh-TW" altLang="en-US" sz="1700" b="1" dirty="0">
                <a:solidFill>
                  <a:srgbClr val="16212E"/>
                </a:solidFill>
                <a:latin typeface="Microsoft JhengHei"/>
              </a:rPr>
              <a:t> </a:t>
            </a:r>
            <a:r>
              <a:rPr sz="1700" b="1" dirty="0">
                <a:solidFill>
                  <a:srgbClr val="16212E"/>
                </a:solidFill>
                <a:latin typeface="Microsoft JhengHei"/>
              </a:rPr>
              <a:t>5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能壓縮的段:撈數據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4392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合計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2.0–5.0 天;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50%–87.5%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由五段各自取端點求得。非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AI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段佔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12.5%–50%。</a:t>
            </a:r>
            <a:endParaRPr lang="en-US" sz="1200" b="0" dirty="0">
              <a:solidFill>
                <a:srgbClr val="6B7885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</a:pPr>
            <a:r>
              <a:rPr sz="1200" b="0" dirty="0">
                <a:solidFill>
                  <a:srgbClr val="FF0000"/>
                </a:solidFill>
                <a:latin typeface="Microsoft JhengHei"/>
              </a:rPr>
              <a:t>⚠ </a:t>
            </a:r>
            <a:r>
              <a:rPr sz="1200" b="0" dirty="0" err="1">
                <a:solidFill>
                  <a:srgbClr val="FF0000"/>
                </a:solidFill>
                <a:latin typeface="Microsoft JhengHei"/>
              </a:rPr>
              <a:t>這五段天數是營運端的估計,不是計時量測</a:t>
            </a:r>
            <a:r>
              <a:rPr sz="1200" b="0" dirty="0">
                <a:solidFill>
                  <a:srgbClr val="FF0000"/>
                </a:solidFill>
                <a:latin typeface="Microsoft JhengHei"/>
              </a:rPr>
              <a:t>;</a:t>
            </a:r>
            <a:r>
              <a:rPr lang="zh-TW" altLang="en-US" sz="1200" b="0" dirty="0">
                <a:solidFill>
                  <a:srgbClr val="FF0000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FF0000"/>
                </a:solidFill>
                <a:latin typeface="Microsoft JhengHei"/>
              </a:rPr>
              <a:t>前六週交出正式量測,若正式拆解推翻它,本案轉排班方案</a:t>
            </a:r>
            <a:r>
              <a:rPr sz="1200" b="0" dirty="0">
                <a:solidFill>
                  <a:srgbClr val="FF0000"/>
                </a:solidFill>
                <a:latin typeface="Microsoft JhengHei"/>
              </a:rPr>
              <a:t>(第 6 </a:t>
            </a:r>
            <a:r>
              <a:rPr sz="1200" b="0" dirty="0" err="1">
                <a:solidFill>
                  <a:srgbClr val="FF0000"/>
                </a:solidFill>
                <a:latin typeface="Microsoft JhengHei"/>
              </a:rPr>
              <a:t>週那個喊停點判</a:t>
            </a:r>
            <a:r>
              <a:rPr sz="1200" b="0" dirty="0">
                <a:solidFill>
                  <a:srgbClr val="FF0000"/>
                </a:solidFill>
                <a:latin typeface="Microsoft JhengHei"/>
              </a:rPr>
              <a:t>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4962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4672" y="3822191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98384"/>
            <a:ext cx="2976753" cy="2605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dirty="0" err="1">
                <a:solidFill>
                  <a:srgbClr val="1F4E79"/>
                </a:solidFill>
                <a:latin typeface="Microsoft JhengHei"/>
              </a:rPr>
              <a:t>自動證據包</a:t>
            </a:r>
            <a:endParaRPr sz="1500" b="1" dirty="0">
              <a:solidFill>
                <a:srgbClr val="1F4E79"/>
              </a:solidFill>
              <a:latin typeface="Microsoft JhengHe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354839" y="3927880"/>
            <a:ext cx="5068759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6B7885"/>
                </a:solidFill>
                <a:latin typeface="Microsoft JhengHei"/>
              </a:rPr>
              <a:t>讀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影片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+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客戶問題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+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規則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,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產出可讀描述並標出引用的證據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58368" y="4353972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4672" y="4326540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26540"/>
            <a:ext cx="29767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dirty="0" err="1">
                <a:solidFill>
                  <a:srgbClr val="1F4E79"/>
                </a:solidFill>
                <a:latin typeface="Microsoft JhengHei"/>
              </a:rPr>
              <a:t>爭議回覆自動化</a:t>
            </a:r>
            <a:r>
              <a:rPr sz="1500" b="1" dirty="0">
                <a:solidFill>
                  <a:srgbClr val="1F4E79"/>
                </a:solidFill>
                <a:latin typeface="Microsoft JhengHei"/>
              </a:rPr>
              <a:t>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432229"/>
            <a:ext cx="5068759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6B7885"/>
                </a:solidFill>
                <a:latin typeface="Microsoft JhengHei"/>
              </a:rPr>
              <a:t>對 100%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案件成立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;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lang="en-US" altLang="zh-TW" sz="1200" dirty="0">
                <a:solidFill>
                  <a:srgbClr val="6B7885"/>
                </a:solidFill>
                <a:latin typeface="Microsoft JhengHei"/>
              </a:rPr>
              <a:t>AI</a:t>
            </a:r>
            <a:r>
              <a:rPr lang="zh-TW" altLang="en-US" sz="120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做分析給出事實結果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,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人工審閱並給出內部覆核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58368" y="4858321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4672" y="4830889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30889"/>
            <a:ext cx="29767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936578"/>
            <a:ext cx="5068759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6B7885"/>
                </a:solidFill>
                <a:latin typeface="Microsoft JhengHei"/>
              </a:rPr>
              <a:t>第 16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週後量測;一半靠證據包,一半靠誤報量下降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658368" y="5463254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1247" y="5463254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54906"/>
            <a:ext cx="11030407" cy="260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30 </a:t>
            </a:r>
            <a:r>
              <a:rPr sz="1500" b="0" dirty="0" err="1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台的小車隊</a:t>
            </a:r>
            <a:r>
              <a:rPr lang="zh-TW" altLang="en-US" sz="1500" dirty="0">
                <a:solidFill>
                  <a:srgbClr val="6B7885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的月均誤報比例</a:t>
            </a:r>
            <a:endParaRPr sz="1500" b="0" dirty="0">
              <a:solidFill>
                <a:srgbClr val="6B7885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147703"/>
              </p:ext>
            </p:extLst>
          </p:nvPr>
        </p:nvGraphicFramePr>
        <p:xfrm>
          <a:off x="658368" y="1755648"/>
          <a:ext cx="10874958" cy="285149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32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32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一個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Microsoft JhengHei"/>
                        </a:rPr>
                        <a:t> 30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台的小車隊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Microsoft JhengHei"/>
                        </a:rPr>
                        <a:t> ·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每月</a:t>
                      </a:r>
                      <a:endParaRPr sz="1200" b="1" dirty="0">
                        <a:solidFill>
                          <a:srgbClr val="FFFFFF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Microsoft JhengHei"/>
                        </a:rPr>
                        <a:t>ADAS ·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行車輔助</a:t>
                      </a:r>
                      <a:endParaRPr sz="1200" b="1" dirty="0">
                        <a:solidFill>
                          <a:srgbClr val="FFFFFF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rgbClr val="6B7885"/>
                          </a:solidFill>
                          <a:latin typeface="Microsoft JhengHei"/>
                        </a:rPr>
                        <a:t>~</a:t>
                      </a:r>
                      <a:r>
                        <a:rPr sz="1200" b="0" dirty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rgbClr val="6B7885"/>
                          </a:solidFill>
                          <a:latin typeface="Microsoft JhengHei"/>
                        </a:rPr>
                        <a:t>~</a:t>
                      </a:r>
                      <a:r>
                        <a:rPr sz="1200" b="0" dirty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  <a:endParaRPr sz="1200" b="0" dirty="0">
                        <a:solidFill>
                          <a:srgbClr val="6B7885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385">
                <a:tc>
                  <a:txBody>
                    <a:bodyPr/>
                    <a:lstStyle/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r>
                        <a:rPr sz="1200" b="1" dirty="0">
                          <a:solidFill>
                            <a:srgbClr val="C00000"/>
                          </a:solidFill>
                          <a:latin typeface="Microsoft JhengHe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C00000"/>
                          </a:solidFill>
                          <a:latin typeface="Microsoft JhengHei"/>
                        </a:rPr>
                        <a:t>要補的是「畫面外</a:t>
                      </a:r>
                      <a:r>
                        <a:rPr sz="1200" b="1" dirty="0">
                          <a:solidFill>
                            <a:srgbClr val="C00000"/>
                          </a:solidFill>
                          <a:latin typeface="Microsoft JhengHei"/>
                        </a:rPr>
                        <a:t>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C00000"/>
                          </a:solidFill>
                          <a:latin typeface="Microsoft JhengHei"/>
                        </a:rPr>
                        <a:t>光線</a:t>
                      </a:r>
                      <a:r>
                        <a:rPr sz="1200" b="0" dirty="0">
                          <a:solidFill>
                            <a:srgbClr val="C00000"/>
                          </a:solidFill>
                          <a:latin typeface="Microsoft JhengHei"/>
                        </a:rPr>
                        <a:t>/</a:t>
                      </a:r>
                      <a:r>
                        <a:rPr sz="1200" b="0" dirty="0" err="1">
                          <a:solidFill>
                            <a:srgbClr val="C00000"/>
                          </a:solidFill>
                          <a:latin typeface="Microsoft JhengHei"/>
                        </a:rPr>
                        <a:t>物件→更強的視覺模型;判準→先統一標註</a:t>
                      </a:r>
                      <a:endParaRPr sz="1200" b="0" dirty="0">
                        <a:solidFill>
                          <a:srgbClr val="C00000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76259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4735163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735163"/>
            <a:ext cx="2891028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840852"/>
            <a:ext cx="5154484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行車輔助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780 +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駕駛監控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150;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月事件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12,352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筆、每天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266944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5239512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239512"/>
            <a:ext cx="2891028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239512"/>
            <a:ext cx="5154484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現在很寬鬆,擴到全客戶上緣要第三台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4892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dirty="0">
                <a:solidFill>
                  <a:srgbClr val="6B7885"/>
                </a:solidFill>
                <a:latin typeface="Microsoft JhengHei"/>
              </a:rPr>
              <a:t>NVIDIA DGX Spark × 2 · 各 128 GB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統一記憶體</a:t>
            </a:r>
            <a:r>
              <a:rPr sz="1500" b="0" dirty="0">
                <a:solidFill>
                  <a:srgbClr val="6B7885"/>
                </a:solidFill>
                <a:latin typeface="Microsoft JhengHei"/>
              </a:rPr>
              <a:t> · A$14,200–17,700;瓶頸不是算力,是 273 GB/s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的記憶體頻寬</a:t>
            </a:r>
            <a:endParaRPr sz="15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12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412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60–80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2.5–6.7 小時(10–28%)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910078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61 GB + 72 GB = 133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8164" y="3968496"/>
            <a:ext cx="5135434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133 GB &gt; 一台 128 GB;兩台各自常駐,不用換載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910078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8164" y="4472844"/>
            <a:ext cx="5135434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擴到全客戶呢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910078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筆/天:45%–120%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8164" y="4977193"/>
            <a:ext cx="5135434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51%;深挖台 45%–120% —— 上緣超過一台,那時要第二台深挖台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609558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7" y="5609558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兩台機器各只用掉一到三成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4892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同一個目標:爭議回覆</a:t>
            </a:r>
            <a:r>
              <a:rPr sz="1500" b="0" dirty="0">
                <a:solidFill>
                  <a:srgbClr val="6B7885"/>
                </a:solidFill>
                <a:latin typeface="Microsoft JhengHei"/>
              </a:rPr>
              <a:t> 5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天壓到</a:t>
            </a:r>
            <a:r>
              <a:rPr sz="1500" b="0" dirty="0">
                <a:solidFill>
                  <a:srgbClr val="6B7885"/>
                </a:solidFill>
                <a:latin typeface="Microsoft JhengHei"/>
              </a:rPr>
              <a:t> 2 天 ——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而慢的五到八成八在撈數據跟判讀,調班只壓得到排隊那</a:t>
            </a:r>
            <a:r>
              <a:rPr sz="1500" b="0" dirty="0">
                <a:solidFill>
                  <a:srgbClr val="6B7885"/>
                </a:solidFill>
                <a:latin typeface="Microsoft JhengHei"/>
              </a:rPr>
              <a:t>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3174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06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06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06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06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11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023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11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415409"/>
            <a:ext cx="4756251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4543425"/>
            <a:ext cx="4536795" cy="260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dirty="0">
                <a:solidFill>
                  <a:srgbClr val="16212E"/>
                </a:solidFill>
                <a:latin typeface="Microsoft JhengHei"/>
              </a:rPr>
              <a:t>① </a:t>
            </a:r>
            <a:r>
              <a:rPr sz="1500" b="1" dirty="0" err="1">
                <a:solidFill>
                  <a:srgbClr val="16212E"/>
                </a:solidFill>
                <a:latin typeface="Microsoft JhengHei"/>
              </a:rPr>
              <a:t>光靠加人要幾個人</a:t>
            </a:r>
            <a:r>
              <a:rPr sz="1500" b="1" dirty="0">
                <a:solidFill>
                  <a:srgbClr val="16212E"/>
                </a:solidFill>
                <a:latin typeface="Microsoft JhengHei"/>
              </a:rPr>
              <a:t>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65217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256967" y="5165217"/>
            <a:ext cx="155905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49265"/>
            <a:ext cx="4536795" cy="8332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415409"/>
            <a:ext cx="4756251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70651" y="4543425"/>
            <a:ext cx="453679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65217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49033" y="5165217"/>
            <a:ext cx="17800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49265"/>
            <a:ext cx="4536795" cy="8332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導入 AI 會出什麼事 —— 七件事,每一件都寫了怎麼防、怎麼發現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56503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每一件都有一個會亮的信號 —— 沒有一件是靠「我們會小心」擋住的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9702125"/>
              </p:ext>
            </p:extLst>
          </p:nvPr>
        </p:nvGraphicFramePr>
        <p:xfrm>
          <a:off x="658368" y="1755648"/>
          <a:ext cx="10874958" cy="471830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8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8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8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7003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我打算怎麼防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這個防法要付什麼代價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怎麼知道它真的發生了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這個防法有多大把握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9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資料｜1 機器會判錯,但講得很順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用白話寫分析結果,並標出用到的數據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講錯的跟講對的一樣順,比錯數字難發現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複核時對一下標的數據,幻覺一眼看得出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每一筆都會對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09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資料｜2 判定不一致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定期跑一組答案確定的事件,給 AI 校正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那組事件要人維護,而且要定期重跑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校正時答對率掉下來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答案是確定的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9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組織｜3 機器給了判定結果,人可能照抄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不顯示,複核會變慢,撞到兩天目標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有機器幫忙那組,判得比沒有的那組差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中 · 擋不住措辭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91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倫理｜4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主管轉達的件數長期是零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入口不在駕駛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921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手冊找他們一起寫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一起寫,手冊比較晚定案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有人離職,或不再參與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只有五個人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921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經濟｜6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三個檢查點分段撥錢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省時沒到當初講的數字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錢分三段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921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組織｜7 高階不參與,案子就會擱著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指定主管,他到場才放行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多幾場會要開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連兩次檢查點主管沒到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6B7885"/>
                          </a:solidFill>
                          <a:latin typeface="Microsoft JhengHei"/>
                        </a:rPr>
                        <a:t>中 · </a:t>
                      </a:r>
                      <a:r>
                        <a:rPr sz="1200" b="0" dirty="0" err="1">
                          <a:solidFill>
                            <a:srgbClr val="6B7885"/>
                          </a:solidFill>
                          <a:latin typeface="Microsoft JhengHei"/>
                        </a:rPr>
                        <a:t>盯不了行程</a:t>
                      </a:r>
                      <a:endParaRPr sz="1200" b="0" dirty="0">
                        <a:solidFill>
                          <a:srgbClr val="6B7885"/>
                        </a:solidFill>
                        <a:latin typeface="Microsoft Jheng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政府那八條 AI 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56503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影像保留沒變、駕駛的申訴管道沒變、判錯誰負責我寫清楚了</a:t>
            </a:r>
            <a:endParaRPr sz="15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3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dirty="0" err="1">
                <a:solidFill>
                  <a:srgbClr val="FFFFFF"/>
                </a:solidFill>
                <a:latin typeface="Microsoft JhengHei"/>
              </a:rPr>
              <a:t>第七條原文</a:t>
            </a:r>
            <a:r>
              <a:rPr sz="1700" b="1" dirty="0">
                <a:solidFill>
                  <a:srgbClr val="FFFFFF"/>
                </a:solidFill>
                <a:latin typeface="Microsoft JhengHei"/>
              </a:rPr>
              <a:t>:「</a:t>
            </a:r>
            <a:r>
              <a:rPr sz="1700" b="1" dirty="0" err="1">
                <a:solidFill>
                  <a:srgbClr val="FFFFFF"/>
                </a:solidFill>
                <a:latin typeface="Microsoft JhengHei"/>
              </a:rPr>
              <a:t>應設有及時的機制,讓相關方提出質疑</a:t>
            </a:r>
            <a:r>
              <a:rPr sz="1700" b="1" dirty="0">
                <a:solidFill>
                  <a:srgbClr val="FFFFFF"/>
                </a:solidFill>
                <a:latin typeface="Microsoft JhengHei"/>
              </a:rPr>
              <a:t>」—— </a:t>
            </a:r>
            <a:r>
              <a:rPr sz="1700" b="1" dirty="0" err="1">
                <a:solidFill>
                  <a:srgbClr val="FFFFFF"/>
                </a:solidFill>
                <a:latin typeface="Microsoft JhengHei"/>
              </a:rPr>
              <a:t>駕駛提,我們調影片還他清白</a:t>
            </a:r>
            <a:endParaRPr sz="1700" b="1" dirty="0">
              <a:solidFill>
                <a:srgbClr val="FFFFFF"/>
              </a:solidFill>
              <a:latin typeface="Microsoft JhengHe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這七條做到了才算成功;下面兩條沒過,上面全部不算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4892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dirty="0">
                <a:solidFill>
                  <a:srgbClr val="6B7885"/>
                </a:solidFill>
                <a:latin typeface="Microsoft JhengHei"/>
              </a:rPr>
              <a:t>第 6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週交三樣、第</a:t>
            </a:r>
            <a:r>
              <a:rPr sz="1500" b="0" dirty="0">
                <a:solidFill>
                  <a:srgbClr val="6B7885"/>
                </a:solidFill>
                <a:latin typeface="Microsoft JhengHei"/>
              </a:rPr>
              <a:t> 12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週一樣、第</a:t>
            </a:r>
            <a:r>
              <a:rPr sz="1500" b="0" dirty="0">
                <a:solidFill>
                  <a:srgbClr val="6B7885"/>
                </a:solidFill>
                <a:latin typeface="Microsoft JhengHei"/>
              </a:rPr>
              <a:t> 16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週三樣;第</a:t>
            </a:r>
            <a:r>
              <a:rPr sz="1500" b="0" dirty="0">
                <a:solidFill>
                  <a:srgbClr val="6B7885"/>
                </a:solidFill>
                <a:latin typeface="Microsoft JhengHei"/>
              </a:rPr>
              <a:t> 16 </a:t>
            </a:r>
            <a:r>
              <a:rPr sz="1500" b="0" dirty="0" err="1">
                <a:solidFill>
                  <a:srgbClr val="6B7885"/>
                </a:solidFill>
                <a:latin typeface="Microsoft JhengHei"/>
              </a:rPr>
              <a:t>週是交件,不是喊停點</a:t>
            </a:r>
            <a:endParaRPr sz="1500" b="0" dirty="0">
              <a:solidFill>
                <a:srgbClr val="6B7885"/>
              </a:solidFill>
              <a:latin typeface="Microsoft Jheng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94579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效益:七條 · 依交件週次排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第幾週交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 · 爭議 5.25 分(單月)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交出正式量測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建紀錄;贊助人第 16 週訂目標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量出基準;營運第 16 週訂上限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⑥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做了能少請幾個,量出來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829460"/>
          <a:ext cx="10874957" cy="914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49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喊停條件:兩條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⑧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⑨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喊停的條件是我自己訂的,不是各位逼我加的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前面三件先把 AI 要吃的東西備好,地端 AI 排在第五件 —— 順序不能換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交:每筆現在花多少人力 · 客戶涵蓋率 · 尖峰徵調人時 —— 這三樣今天都沒有紀錄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交:不含 AI 的規則版本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交:客訴的自動證據包。機器找齊證據,成不成立還是人一筆一筆判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交:兩台設備上線。一台掃全部、一台深看客訴;機器寫的結論一律先給人看過才對外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04823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4672" y="4277391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277391"/>
            <a:ext cx="1224153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277391"/>
            <a:ext cx="68213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4909756"/>
          <a:ext cx="9658805" cy="16007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35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35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 dirty="0" err="1">
                <a:solidFill>
                  <a:srgbClr val="1F4E79"/>
                </a:solidFill>
                <a:latin typeface="Microsoft JhengHei"/>
              </a:rPr>
              <a:t>六個月的成本:人</a:t>
            </a:r>
            <a:r>
              <a:rPr sz="2700" b="1" dirty="0">
                <a:solidFill>
                  <a:srgbClr val="1F4E79"/>
                </a:solidFill>
                <a:latin typeface="Microsoft JhengHei"/>
              </a:rPr>
              <a:t> A$7.0–7.9 </a:t>
            </a:r>
            <a:r>
              <a:rPr sz="2700" b="1" dirty="0" err="1">
                <a:solidFill>
                  <a:srgbClr val="1F4E79"/>
                </a:solidFill>
                <a:latin typeface="Microsoft JhengHei"/>
              </a:rPr>
              <a:t>萬、機器</a:t>
            </a:r>
            <a:r>
              <a:rPr sz="2700" b="1" dirty="0">
                <a:solidFill>
                  <a:srgbClr val="1F4E79"/>
                </a:solidFill>
                <a:latin typeface="Microsoft JhengHei"/>
              </a:rPr>
              <a:t> A$1.4–1.8 </a:t>
            </a:r>
            <a:r>
              <a:rPr sz="2700" b="1" dirty="0" err="1">
                <a:solidFill>
                  <a:srgbClr val="1F4E79"/>
                </a:solidFill>
                <a:latin typeface="Microsoft JhengHei"/>
              </a:rPr>
              <a:t>萬,另有五項沒估</a:t>
            </a:r>
            <a:endParaRPr sz="2700" b="1" dirty="0">
              <a:solidFill>
                <a:srgbClr val="1F4E79"/>
              </a:solidFill>
              <a:latin typeface="Microsoft Jheng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今天要請各位核准的只有第一段(前六週)A$18,700–20,900,以及指定一位負責的主管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一台掃全部、一台深看客訴;第 6 週後才買,不含在今天要核准的錢裡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這兩台三年總花費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79565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A$2.9–5.2 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764345"/>
            <a:ext cx="62498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含電費、延長保固,還有人要顧它 —— 近半數是顧它的人力,不是機器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想到了但還沒估價的五項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79565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374383"/>
            <a:ext cx="6249859" cy="201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6B7885"/>
                </a:solidFill>
                <a:latin typeface="Microsoft JhengHei"/>
              </a:rPr>
              <a:t>①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影片存放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②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雲端運算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③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圖資更新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④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測試環境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⑤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訓練資料蒐集</a:t>
            </a:r>
            <a:r>
              <a:rPr lang="zh-TW" altLang="en-US" sz="1200" b="0" dirty="0">
                <a:solidFill>
                  <a:srgbClr val="6B7885"/>
                </a:solidFill>
                <a:latin typeface="Microsoft JhengHei"/>
              </a:rPr>
              <a:t> 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(第 6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週前補量級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9807" y="3865809"/>
            <a:ext cx="240882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795652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3739" y="3773043"/>
            <a:ext cx="6249859" cy="4129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人。做了能少請幾個,第 16 週量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8096" y="4533423"/>
            <a:ext cx="290261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要請各位核准的錢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60855" y="5155215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660855" y="5155215"/>
            <a:ext cx="11170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5539263"/>
            <a:ext cx="2902610" cy="555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2673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036466" y="4533423"/>
            <a:ext cx="290261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② 要請各位指定的人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54955" y="5155215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54955" y="5155215"/>
            <a:ext cx="8656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36466" y="5539263"/>
            <a:ext cx="2902610" cy="555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9510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04836" y="4533423"/>
            <a:ext cx="290261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六個月後各位手上會多三樣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6615" y="5155215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976615" y="5155215"/>
            <a:ext cx="155905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dirty="0" err="1">
                <a:solidFill>
                  <a:srgbClr val="FFFFFF"/>
                </a:solidFill>
                <a:latin typeface="Microsoft JhengHei"/>
              </a:rPr>
              <a:t>不是承諾,是交付物</a:t>
            </a:r>
            <a:endParaRPr sz="12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304836" y="5539263"/>
            <a:ext cx="2902610" cy="555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錯誤率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·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判斷層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·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對照實驗結果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  <a:p>
            <a:pPr algn="ctr">
              <a:lnSpc>
                <a:spcPct val="135000"/>
              </a:lnSpc>
            </a:pPr>
            <a:r>
              <a:rPr sz="1200" b="0" dirty="0">
                <a:solidFill>
                  <a:srgbClr val="6B7885"/>
                </a:solidFill>
                <a:latin typeface="Microsoft JhengHei"/>
              </a:rPr>
              <a:t>🔴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不承諾省幾個人</a:t>
            </a:r>
            <a:r>
              <a:rPr sz="1200" b="0" dirty="0">
                <a:solidFill>
                  <a:srgbClr val="6B7885"/>
                </a:solidFill>
                <a:latin typeface="Microsoft JhengHei"/>
              </a:rPr>
              <a:t> —— 第 16 </a:t>
            </a:r>
            <a:r>
              <a:rPr sz="1200" b="0" dirty="0" err="1">
                <a:solidFill>
                  <a:srgbClr val="6B7885"/>
                </a:solidFill>
                <a:latin typeface="Microsoft JhengHei"/>
              </a:rPr>
              <a:t>週才算得出</a:t>
            </a:r>
            <a:endParaRPr sz="1200" b="0" dirty="0">
              <a:solidFill>
                <a:srgbClr val="6B7885"/>
              </a:solidFill>
              <a:latin typeface="Microsoft JhengHe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987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16212E"/>
                </a:solidFill>
                <a:latin typeface="Microsoft JhengHei"/>
              </a:rPr>
              <a:t>(第 8 頁)　Department of Industry, Innovation and Science. (2019). Australia's AI ethics principles. https://www.industry.gov.au/publications/australias-ai-ethics-principles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88336"/>
            <a:ext cx="4623663" cy="987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5 頁)　Dettmers, T., Lewis, M., Belkada, Y., &amp; Zettlemoyer, L. (2022). GPT3.int8(): 8-bit matrix multiplication for transformers at scale. In Advances in neural information processing systems (Vol. 35).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767328"/>
            <a:ext cx="4623663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7 頁)　Goddard, K., Roudsari, A., &amp; Wyatt, J. C. (2012). Automation bias: A systematic review of frequency, effect mediators, and mitigators. Journal of the American Medical Informatics Association, 19(1), 121–127. https://doi.org/10.1136/amiajnl-2011-000089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093208"/>
            <a:ext cx="4623663" cy="987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9 頁)　Parasuraman, R., &amp; Manzey, D. H. (2010). Complacency and bias in human use of automation: An attentional integration. Human Factors, 52(3), 381–410. https://doi.org/10.1177/0018720810376055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93511" y="1609344"/>
            <a:ext cx="4623663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7 頁)　Rohrbach, A., Hendricks, L. A., Burns, K., Darrell, T., &amp; Saenko, K. (2018). Object hallucination in image captioning. In Proceedings of the 2018 Conference on Empirical Methods in Natural Language Processing (pp. 4035–4045). https://doi.org/10.18653/v1/D18-1437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93511" y="2935224"/>
            <a:ext cx="4623663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4、10 頁)　Sambasivan, N., Kapania, S., Highfill, H., Akrong, D., Paritosh, P., &amp; Aroyo, L. M. (2021). “Everyone wants to do the model work, not the data work”: Data cascades in high-stakes AI. In Proceedings of the 2021 CHI Conference on Human Factors in Computing Systems. https://doi.org/10.1145/3411764.3445518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4507992"/>
            <a:ext cx="4623663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(第 11 頁)　Sculley, D., Holt, G., Golovin, D., Davydov, E., Phillips, T., Ebner, D., Chaudhary, V., Young, M., Crespo, J.-F., &amp; Dennison, D. (2015). Hidden technical debt in machine learning systems. In Advances in neural information processing systems (Vol. 28).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2125</Words>
  <Application>Microsoft Office PowerPoint</Application>
  <PresentationFormat>寬螢幕</PresentationFormat>
  <Paragraphs>351</Paragraphs>
  <Slides>12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7" baseType="lpstr">
      <vt:lpstr>Microsoft JhengHei</vt:lpstr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Po-Kai Huang</cp:lastModifiedBy>
  <cp:revision>7</cp:revision>
  <dcterms:created xsi:type="dcterms:W3CDTF">2013-01-27T09:14:16Z</dcterms:created>
  <dcterms:modified xsi:type="dcterms:W3CDTF">2026-08-17T14:27:29Z</dcterms:modified>
  <cp:category/>
</cp:coreProperties>
</file>