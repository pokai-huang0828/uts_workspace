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3864"/>
                </a:solidFill>
                <a:latin typeface="Microsoft JhengHei"/>
              </a:rPr>
              <a:t>CBA 房貸固定利率到期留存決策系統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08080"/>
                </a:solidFill>
                <a:latin typeface="Microsoft JhengHei"/>
              </a:rPr>
              <a:t>AI 路線圖提案  ·  提交技術審查委員會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Po-Kai Huang(26254793)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421104 Artificial Intelligence for Enterprises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Assessment 3  ·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介紹 · Executive Summary — Decision Requested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395728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批准什麼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755648"/>
            <a:ext cx="2139696" cy="3410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房貸固定利率到期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留存決策系統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12 個月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 27.5 人月(規劃值)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分兩期撥款,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今天只請求第一期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4952" y="1280160"/>
            <a:ext cx="2395728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44952" y="1280160"/>
            <a:ext cx="2395728" cy="38404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為什麼是現在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1755648"/>
            <a:ext cx="2139696" cy="3410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CDR 已把轉換成本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降到接近一次授權點擊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未來 12 個月是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固定利率到期的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高峰窗口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窗口過了,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客戶已經走了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86984" y="1280160"/>
            <a:ext cx="2395728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86984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6984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對到多大的池子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1755648"/>
            <a:ext cx="2139696" cy="3410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房貸帳 A$611.5bn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(CBA, 2025b)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約為 FY25 現金淨利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A$10,252m 的 60 倍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本案針對每年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滾動到期的那一段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280160"/>
            <a:ext cx="2395728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29016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何時要決定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1755648"/>
            <a:ext cx="2139696" cy="3410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本次委員會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下一個決策點: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第 6 個月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流程就緒關卡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第二期撥款以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該關卡通過為條件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86400"/>
            <a:ext cx="93113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向一家在 Evident AI Index 2025 全球排名第 4、亞太第 1 的機構提案(CBA, 2025a)——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本案的問題不是能不能做,是該不該把這筆錢放在這裡。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介紹 · 威脅:CDR 打開的缺口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2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177" y="1097280"/>
            <a:ext cx="7415140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937759"/>
            <a:ext cx="93113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A1 已經證明 CBA 用 AI 贏在拿到新客戶的速度 —— 房貸有條件核准 &lt;10 分鐘、業務信貸年審 14h→2h。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但 CDR 打的是既有客戶離開的成本。Acquisition 與 retention 不是同一套能力。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08080"/>
                </a:solidFill>
                <a:latin typeface="Microsoft JhengHei"/>
              </a:rPr>
              <a:t>在 CBA 公開揭露中未見針對房貸存量留存的 AI 決策系統(CBA, 2024; 2025c);若 CEE 內部已涵蓋部分留存場景,本案定位即調整為在既有 CEE 上增設房貸再融資專用模組,投資論證不變。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選案:三案加權比較與敏感度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3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6206892" cy="2697480"/>
          </a:xfrm>
          <a:prstGeom prst="rect">
            <a:avLst/>
          </a:prstGeom>
        </p:spPr>
      </p:pic>
      <p:pic>
        <p:nvPicPr>
          <p:cNvPr id="9" name="Picture 8" descr="fig03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86200"/>
            <a:ext cx="4388953" cy="2331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78040" y="1051560"/>
            <a:ext cx="3063240" cy="5166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78040" y="1051560"/>
            <a:ext cx="3063240" cy="384048"/>
          </a:xfrm>
          <a:prstGeom prst="round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10972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反方意見與回應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6055" y="1527048"/>
            <a:ext cx="2807208" cy="4599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「CBA 是 Evident 全球第 4,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怎麼會有空白?」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→ AI 成熟度衡量組織能力與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部署廣度,不等於每條業務線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都有對應系統;成熟度高反而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降低執行風險。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「CEE 不就是在留客?」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→ CEE 是跨產品次佳互動引擎;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本案要的是固定利率到期事件上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的流失評分與外撥排序。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「空白可能是理性的」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→ 承認兩項限制:競品訊號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不可觀測、差別定價敏感。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兩者都已寫進限制頁與倫理護欄。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三條留存策略與系統閉環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4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45" y="1051560"/>
            <a:ext cx="8817003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會被改變的決策:客戶經理每月的外撥配額排序,從「按貸款餘額高低排」改為「按流失傾向 × 客戶終身價值排」。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可行性評估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本案不需要新建 AI 能力,只需要把既有能力指向新的一軸</a:t>
            </a:r>
          </a:p>
        </p:txBody>
      </p:sp>
      <p:sp>
        <p:nvSpPr>
          <p:cNvPr id="4" name="Oval 3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6_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473" y="1280160"/>
            <a:ext cx="8512547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go / no-go 門檻:若「資料」維為紅燈,本案順延,先做 6 週資料可行性研究再回委員會。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限制與挑戰:緩解前 → 緩解後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5_risk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970" y="1051560"/>
            <a:ext cx="7007554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每一條殘餘風險,在專案計畫裡都有一個對應的停止或回退關卡。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社會文化與倫理影響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7_et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0" y="1051560"/>
            <a:ext cx="8731173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漏掉一個要走的客戶,只是損失利差;把財困客戶當商機,是監管事件。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效益與衡量 · 價值方程式:我不報一個假的 ROI,我報反解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8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82" y="1051560"/>
            <a:ext cx="917973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一旦拿到內部到期分佈與產品別 margin,這個式子當場就能算出來。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效益與衡量 · KPI 樹:證明賺錢,也證明沒有傷到人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9_k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65" y="1051560"/>
            <a:ext cx="8646564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所有業務層指標以「實驗組 減 對照組」的增量計;絕對值僅供監控,不作為成效證據。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項目計畫 · 實施時程與六道關卡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9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2419" y="1005840"/>
            <a:ext cx="5446655" cy="2606040"/>
          </a:xfrm>
          <a:prstGeom prst="rect">
            <a:avLst/>
          </a:prstGeom>
        </p:spPr>
      </p:pic>
      <p:pic>
        <p:nvPicPr>
          <p:cNvPr id="9" name="Picture 8" descr="fig10_stage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9914" y="3749039"/>
            <a:ext cx="5211666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08080"/>
                </a:solidFill>
                <a:latin typeface="Microsoft JhengHei"/>
              </a:rPr>
              <a:t>每道關卡四態:Go / Conditional-Go / Hold / Kill。試點裁決未達顯著性即停止,不續投。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項目計畫 · 資源配置與當責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1_re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4372720" cy="2606040"/>
          </a:xfrm>
          <a:prstGeom prst="rect">
            <a:avLst/>
          </a:prstGeom>
        </p:spPr>
      </p:pic>
      <p:pic>
        <p:nvPicPr>
          <p:cNvPr id="9" name="Picture 8" descr="fig11_r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005840"/>
            <a:ext cx="3931920" cy="22961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794760"/>
            <a:ext cx="9311335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>資源尖峰不在模型開發,在合規審查(第 5 個月 3.25 FTE)——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>這個系統真正難的不是把模型做出來,是讓它被允許用。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>而試點期是全期資源最低(1.42 FTE),因為那三個月是在等實驗結果,不是在建東西。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>第一期(M1–M6)合計 16.0 人月,與「今天只請求批准第一期」精準對應。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08080"/>
                </a:solidFill>
                <a:latin typeface="Microsoft JhengHei"/>
              </a:rPr>
              <a:t>Planning estimate — to be calibrated with CBA internal rates。成本 = 總人月 × 澳洲 ICT 職類薪資中位數區間 × 1.3 間接費率(間接費率為提案人假設)。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結論與批准請求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395728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批准什麼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847088"/>
            <a:ext cx="2139696" cy="2633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12 個月、約 27.5 人月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分兩期撥款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今天只請求第一期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(M1–M6,16.0 人月)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4952" y="1371600"/>
            <a:ext cx="2395728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44952" y="137160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41732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為什麼值得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1847088"/>
            <a:ext cx="2139696" cy="2633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唯一對應到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尚無 AI 覆蓋的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戰略缺口的專案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6984" y="1371600"/>
            <a:ext cx="2395728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86984" y="137160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6984" y="141732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對到多大的池子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847088"/>
            <a:ext cx="2139696" cy="2633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房貸帳 A$611.5bn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 FY25 現金淨利的 60 倍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(同第一頁,同一算式)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371600"/>
            <a:ext cx="2395728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9016" y="1371600"/>
            <a:ext cx="2395728" cy="38404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141732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已知限制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1847088"/>
            <a:ext cx="2139696" cy="2633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方法在公開資料集驗證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內部基準尚未校準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與 CEE 的功能重疊待查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92040"/>
            <a:ext cx="93113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Microsoft JhengHei"/>
              </a:rPr>
              <a:t>下一個決策點:第 6 個月的流程就緒關卡 —— 第二期撥款以該關卡通過為條件。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⚠️ 本頁為佔位。交件前必須逐筆重抓深層連結,不得原樣沿用作業一的書目。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必修四筆: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1. Macquarie 房貸年增 19% / 市占 5.9% → 改引 APRA Monthly ADI Statistics(可下載、含版本日期)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2. 全球 NIM 3.1%→2.7%(S&amp;P Global 首頁連結)→ 整條棄用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3. CBA (2025b) → 改指 FY25 Results Presentation 的 PDF 直連,並註明 NIM 2.08%、房貸 A$611.5bn 的頁碼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4. NAB → 本提案不用四大行對照表,整條刪除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需新增 2–3 筆外部文獻(選案論證目前的外部文獻數為 0):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· 零售銀行 churn / retention 建模的同儕審查期刊論文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· 開放銀行 / CDR 對消費者轉換行為影響的官方或監管報告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  · uplift modeling 在留存行銷的方法學文獻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三條機械判準:每筆可點擊深層連結 / 零重複條目 / 零孤兒條目。APA 7,字級不小於 12pt。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