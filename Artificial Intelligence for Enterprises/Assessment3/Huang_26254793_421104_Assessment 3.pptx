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12 頁寫的是仍須增聘 6–7 人。這一頁的主張是**同樣人力、更高產出**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怎麼導入:WP-D,W8–16,對 100% 案件成立;人仍逐筆判,機器不做結案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分母是 2.0–5.0 天(內部覆核與回信各 0.25 天)—— 這下跟第 10 頁 KPI 的「全鏈路 2–5 天」一致了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WP-D 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70 秒 · 累計 4:12</a:t>
            </a:r>
          </a:p>
          <a:p/>
          <a:p>
            <a:r>
              <a:t>★ 一個月九百三十筆誤報,七百七十二筆是同一個根因 —— 而修它要的速限資料我們手上就有。</a:t>
            </a:r>
          </a:p>
          <a:p/>
          <a:p>
            <a:r>
              <a:t>· 兩種病要兩種修法:行車輔助缺脈絡(WP-C)、駕駛監控缺判準(WP-B)——這就是為什麼標註跟脈絡排在 AI 前面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誤報 124 筆裡 103 筆同一個根因;修它要的速限資料是公司既有資產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168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306 字(忘詞才看,不是拿來唸的)──</a:t>
            </a:r>
          </a:p>
          <a:p>
            <a:r>
              <a:t>那我們的時間到底花在哪裡?我把最近一份判讀拆開來看。這張表上的數字,已經從樣本同比例放大到一個三十台的小車隊,一個月二十三個工作天。行車輔助一個月七千七百多筆,其中七百八十筆是誤報;駕駛監控四千六百多筆,誤報一百五十筆。兩邊錯的不是同一件事:行車輔助錯的是模型,缺的是脈絡,判定依據不在畫面裡;駕駛監控錯的是人,缺的是判準,同一段影片兩個人給不同標籤。兩種病要兩種修法,所以標註跟脈絡是兩個不同的工作包,而且都排在 AI 前面。合起來一個月九百三十筆誤報,而其中七百七十二筆是同一個根因:交通標誌辨識,八成三。修它要的速限資料,公司手上就有 —— 不用等新技術,也不用買。但我要說清楚:這些是從四台車、一千六百四十七筆同比例放大來的,這個比例能不能代表三十台,正是第六週要量的第一件事。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選型與部署:兩層模型、一台設備】　目標 66 秒 · 累計 5:18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 G1 依 W1–6 的量測複核**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**設備採購在 G1 之後,不在第一段額度內** —— 今天要批的 A$18,600–20,800 本來就不含設備。一台還兩台,是第六週拿到量測才決定的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GB),要輪流載入;兩台各自常駐,而且擴到全客戶也不用再加購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P4 · 我們看不見的那一半:有資料,沒有習慣】　目標 59 秒 · 累計 6:17</a:t>
            </a:r>
          </a:p>
          <a:p/>
          <a:p>
            <a:r>
              <a:t>★ 我們有資料,沒有習慣 —— 被判否決的那一流,沒有人回看。</a:t>
            </a:r>
          </a:p>
          <a:p/>
          <a:p>
            <a:r>
              <a:t>· 唯一的漏放量測是一份很薄的人工觸發測試</a:t>
            </a:r>
          </a:p>
          <a:p>
            <a:r>
              <a:t>· 報告上公司自己註明:那是下限</a:t>
            </a:r>
          </a:p>
          <a:p>
            <a:r>
              <a:t>· 誤報只花我們的人時,漏放是駕駛沒收到那次警示</a:t>
            </a:r>
          </a:p>
          <a:p/>
          <a:p>
            <a:r>
              <a:t># 39 筆測試 · 漏偵 12 筆 · 另 10 筆無法歸類(約 1/4)</a:t>
            </a:r>
          </a:p>
          <a:p/>
          <a:p>
            <a:r>
              <a:t>⚠️ 說「最強的線索,不是結論」—— W1–6 做成帶 95% 信賴區間的估計,不成立就換靶心</a:t>
            </a:r>
          </a:p>
          <a:p>
            <a:r>
              <a:t>⚠️ 🚫 83% 是第 4 頁的事,不要跟這一頁的漏放混講</a:t>
            </a:r>
          </a:p>
          <a:p/>
          <a:p>
            <a:r>
              <a:t>→ 換下一頁</a:t>
            </a:r>
          </a:p>
          <a:p/>
          <a:p>
            <a:r>
              <a:t>── 逐字備援 · 259 字(忘詞才看,不是拿來唸的)──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/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P5 · 五條路,含三條不用 AI】　目標 44 秒 · 累計 7:02</a:t>
            </a:r>
          </a:p>
          <a:p/>
          <a:p>
            <a:r>
              <a:t>★ 這六個月,它一筆都不對外生效。</a:t>
            </a:r>
          </a:p>
          <a:p/>
          <a:p>
            <a:r>
              <a:t>· 五條路裡三條不用 AI —— 加人、調班、既有雲端規劃,我都沒有先否決</a:t>
            </a:r>
          </a:p>
          <a:p>
            <a:r>
              <a:t>· 採用案是地端視覺語言模型;前兩包是它的必要前置</a:t>
            </a:r>
          </a:p>
          <a:p>
            <a:r>
              <a:t>· 影子模式:機器照出結論但不對外送,人照常判,兩邊比對</a:t>
            </a:r>
          </a:p>
          <a:p/>
          <a:p>
            <a:r>
              <a:t># 85% 是分流率(推估非實測) · 六個月對外覆蓋率 0%</a:t>
            </a:r>
          </a:p>
          <a:p/>
          <a:p>
            <a:r>
              <a:t>⚠️ 三層一層都不可省:能力層 850 筆終局判定 / 本案層 對外 0% / 放行層 須過另一道獨立門</a:t>
            </a:r>
          </a:p>
          <a:p>
            <a:r>
              <a:t>⚠️ 🚫 不可說「AI 不做判定」—— 正確講法是「AI 會做結案判定,但這六個月不對外生效」</a:t>
            </a:r>
          </a:p>
          <a:p>
            <a:r>
              <a:t>⚠️ 🚫 85% 是分流率,不是準確率,不可與誤報率並排相減</a:t>
            </a:r>
          </a:p>
          <a:p/>
          <a:p>
            <a:r>
              <a:t>→ 換下一頁</a:t>
            </a:r>
          </a:p>
          <a:p/>
          <a:p>
            <a:r>
              <a:t>── 逐字備援 · 195 字(忘詞才看,不是拿來唸的)──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/>
          <a:p>
            <a:r>
              <a:t>── 備查(不唸,答辯用)──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P6 · 風險:七類十條,緩解位移與殘餘風險】　目標 51 秒 · 累計 7:52</a:t>
            </a:r>
          </a:p>
          <a:p/>
          <a:p>
            <a:r>
              <a:t>★ 每一條風險我都附了偵測訊號 —— 你不會在事後才知道它發生了。</a:t>
            </a:r>
          </a:p>
          <a:p/>
          <a:p>
            <a:r>
              <a:t>· 七類十條,兩條是這個方案自己造成的 —— 我沒有藏,自己標出來</a:t>
            </a:r>
          </a:p>
          <a:p>
            <a:r>
              <a:t>· 自動化偏差:介面一顯示模型信心,人就直接蓋章 → 我的決策是不顯示</a:t>
            </a:r>
          </a:p>
          <a:p>
            <a:r>
              <a:t>· 但那個緩解只擋得住人還在看的那些 —— 移交後那八成五沒有介面也沒有人,所以我另外加了 R9、R10 兩條,掛在自動結案那道門上</a:t>
            </a:r>
          </a:p>
          <a:p/>
          <a:p>
            <a:r>
              <a:t># 七類十條 · R9 自動結案的漏放 · R10 自動結案的冤枉</a:t>
            </a:r>
          </a:p>
          <a:p/>
          <a:p>
            <a:r>
              <a:t>⚠️ R8 法律面我沒有答案 —— 由法務在 G1(第 6 週)前給書面意見</a:t>
            </a:r>
          </a:p>
          <a:p>
            <a:r>
              <a:t>⚠️ 每一條沒有答案的事,都要當場交代誰在第幾週給</a:t>
            </a:r>
          </a:p>
          <a:p/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· 唸完法務那句後,畫面停在 R8 紅圈上靜止 2 秒</a:t>
            </a:r>
          </a:p>
          <a:p/>
          <a:p>
            <a:r>
              <a:t>→ 換下一頁</a:t>
            </a:r>
          </a:p>
          <a:p/>
          <a:p>
            <a:r>
              <a:t>── 逐字備援 · 223 字(忘詞才看,不是拿來唸的)──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P7 · 倫理與可申訴性:對照澳洲 AI 倫理八原則】　目標 50 秒 · 累計 8:42</a:t>
            </a:r>
          </a:p>
          <a:p/>
          <a:p>
            <a:r>
              <a:t>★ 這一頁就是我要求六個月不對外生效的理由 —— 那 850 筆沒有人看,所以要先量得出它錯多少。</a:t>
            </a:r>
          </a:p>
          <a:p/>
          <a:p>
            <a:r>
              <a:t>· 同一張表兩欄:專案期一種顏色,移交後另一種 —— 今天要批的是左邊那欄</a:t>
            </a:r>
          </a:p>
          <a:p>
            <a:r>
              <a:t>· 第 7 條可申訴性 —— 我把它升為部署否決條件</a:t>
            </a:r>
          </a:p>
          <a:p>
            <a:r>
              <a:t>· 第 8 條問責性:那 850 筆裡某一筆判錯,沒有人簽過名</a:t>
            </a:r>
          </a:p>
          <a:p/>
          <a:p>
            <a:r>
              <a:t># 專案期 綠 0 琥珀 7 紅 1 → 移交後 綠 0 琥珀 1 紅 7</a:t>
            </a:r>
          </a:p>
          <a:p/>
          <a:p>
            <a:r>
              <a:t>⚠️ 「沒有人簽過名」是**承認洞**,🚫 不要臨場補一個人上去</a:t>
            </a:r>
          </a:p>
          <a:p>
            <a:r>
              <a:t>⚠️ 第 4 條隱私是唯一不因自動結案惡化的一條 —— 刻意不標紅,不是漏標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219 字(忘詞才看,不是拿來唸的)──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P8 · 怎麼算成功:三層 KPI,一條回圈】　目標 46 秒 · 累計 9:28</a:t>
            </a:r>
          </a:p>
          <a:p/>
          <a:p>
            <a:r>
              <a:t>★ 上面兩層是你買到的東西,下面四條是你隨時喊停的權力 —— 而煞車是我自己裝的。</a:t>
            </a:r>
          </a:p>
          <a:p/>
          <a:p>
            <a:r>
              <a:t>· 效益層:爭議回覆時效、可避免的年度增聘、兩條工作流的單位工時</a:t>
            </a:r>
          </a:p>
          <a:p>
            <a:r>
              <a:t>· 護欄層任一未達標,上面兩層的成績一律不採計</a:t>
            </a:r>
          </a:p>
          <a:p>
            <a:r>
              <a:t>· 訂不出目標值的,寫明由哪一道門訂</a:t>
            </a:r>
          </a:p>
          <a:p/>
          <a:p>
            <a:r>
              <a:t># ⑩ 漏放率 W6 交 95% CI · ⑬ 漏濾率 W12 交差值 95% CI</a:t>
            </a:r>
          </a:p>
          <a:p>
            <a:r>
              <a:t># δ 由委員會在 G1 事前預註冊 —— 判準寫在跑實驗之前</a:t>
            </a:r>
          </a:p>
          <a:p/>
          <a:p>
            <a:r>
              <a:t>⚠️ ⑬ 的母體是那 850 筆(有把握桶),🚫 不是剩下的 150 筆</a:t>
            </a:r>
          </a:p>
          <a:p/>
          <a:p>
            <a:r>
              <a:t>→ 換下一頁</a:t>
            </a:r>
          </a:p>
          <a:p/>
          <a:p>
            <a:r>
              <a:t>── 逐字備援 · 201 字(忘詞才看,不是拿來唸的)──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P9 · 六個月 · 六個工作包 · 三道決策門】　目標 47 秒 · 累計 10:15</a:t>
            </a:r>
          </a:p>
          <a:p/>
          <a:p>
            <a:r>
              <a:t>★ 六個月分三段付,每一段都有明確的喊停條件 —— 你不必一次押六個月。</a:t>
            </a:r>
          </a:p>
          <a:p/>
          <a:p>
            <a:r>
              <a:t>· 六包只有一包是 AI,而且排在最後:評估集 → 標註 → 特徵 → 地端 VLM</a:t>
            </a:r>
          </a:p>
          <a:p>
            <a:r>
              <a:t>· 三道門各自寫明什麼條件下停,不是寫什麼條件下過</a:t>
            </a:r>
          </a:p>
          <a:p>
            <a:r>
              <a:t>· G2 四臂同場比,第四臂是影子模式</a:t>
            </a:r>
          </a:p>
          <a:p/>
          <a:p>
            <a:r>
              <a:t># G1 第 6 週 · G2 第 12 週 · G3 第 24 週</a:t>
            </a:r>
          </a:p>
          <a:p/>
          <a:p>
            <a:r>
              <a:t>⚠️ 前三臂全部含人,而要部署的是無人系統 —— 這就是為什麼要有第四臂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/>
          <a:p>
            <a:r>
              <a:t>── 備查(不唸,答辯用)──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誤報下降量測。排第五週,是因為沒有前六週基準線就證不出它有效'}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P10 · 資源、當責與請求】　目標 64 秒 · 累計 11:19</a:t>
            </a:r>
          </a:p>
          <a:p/>
          <a:p>
            <a:r>
              <a:t>★ 我請求核准第一段:四點八五人月、約一萬八千六到兩萬零八百澳幣,並指定一位贊助人。</a:t>
            </a:r>
          </a:p>
          <a:p/>
          <a:p>
            <a:r>
              <a:t>· 成本主體是人,不是設備</a:t>
            </a:r>
          </a:p>
          <a:p>
            <a:r>
              <a:t>· 稽核稅:自動化不是免費的 —— 毛節省要先扣掉盲測稽核</a:t>
            </a:r>
          </a:p>
          <a:p>
            <a:r>
              <a:t>· 我要的不只是一筆錢,是一個贊助人跟三道門</a:t>
            </a:r>
          </a:p>
          <a:p/>
          <a:p>
            <a:r>
              <a:t># 4.85 人月 · A$18,600–20,800(規劃,非核定預算)</a:t>
            </a:r>
          </a:p>
          <a:p>
            <a:r>
              <a:t># 毛 6.0–12.1 FTE → 稽核稅 0.39–3.14 FTE → 淨 2.9–11.7 FTE</a:t>
            </a:r>
          </a:p>
          <a:p/>
          <a:p>
            <a:r>
              <a:t>⚠️ 🔴 **最後一句講正面那三樣**(可稽核的錯誤率 · 脈絡判斷層 · 對照實驗結果)——🚫 不要停在「不做的代價」。全片的最後一個印象就是這一句</a:t>
            </a:r>
          </a:p>
          <a:p>
            <a:r>
              <a:t>⚠️ 🚫 A$23–67 萬是移交後的「可避免增聘」,不是本案承諾的節省額</a:t>
            </a:r>
          </a:p>
          <a:p>
            <a:r>
              <a:t>⚠️ 🚫 不得與設備價相減成 ROI</a:t>
            </a:r>
          </a:p>
          <a:p>
            <a:r>
              <a:t>⚠️ 在稽核稅、申訴重判與漂移調查三項齊備前,不宣稱任何節省額</a:t>
            </a:r>
          </a:p>
          <a:p/>
          <a:p>
            <a:r>
              <a:t>→ 換下一頁</a:t>
            </a:r>
          </a:p>
          <a:p/>
          <a:p>
            <a:r>
              <a:t>── 逐字備援 · 280 字(忘詞才看,不是拿來唸的)──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/>
          <a:p>
            <a:r>
              <a:t>── 備查(不唸,答辯用)──</a:t>
            </a:r>
          </a:p>
          <a:p>
            <a:r>
              <a:t>【rows】{'label': '人力(18.2 人月,六包 × 五種角色 + 專案負責人)', 'value': '約 A$7.0–7.9 萬', 'note': '18.2 人月 × 月薪 A$2,970–3,320 × 間接費率 1.3。薪資量級、費率、匯率(1 A$=NT$22.6,2026-08)三項都是提案人設定的假設 —— 是量級,不是報價'}</a:t>
            </a:r>
          </a:p>
          <a:p>
            <a:r>
              <a:t>【rows】{'label': '三年可推算 TCO(兩個數字,🚫 不得合併)', 'value': '六個月專案期(影子模式)約 A$2.2–5.2 萬(中案 3.2 萬)｜移交後(含稽核)約 A$7.7–53.9 萬', 'note': '設備 16–20(一次性)+ 電力三年 0.7–1.9 + 延保三年 2.4–6.0 + 維運監控與模型更新三年 31.2–70.2。維運人力佔 59%–62%。上界跳這麼大不是估算失準,是治理成本的形狀'}</a:t>
            </a:r>
          </a:p>
          <a:p>
            <a:r>
              <a:t>【rows】{'label': '可避免的年度增聘(移交後,不是六個月的交付)', 'value': '5–13 人 ≈ A$23–67 萬/年', 'note': '不做本案覆蓋全客戶需 17–24 人(現有 5 人);做本案、移交後開到天花板仍需 11–12 人 —— 仍須增聘 6–7 人,不是不用增聘。公開薪資量級推算,非本案承諾的節省額'}</a:t>
            </a:r>
          </a:p>
          <a:p>
            <a:r>
              <a:t>【rows】{'label': '已辨識、尚未估價的五項非人力成本', 'value': '不編金額', 'note': '① 影片儲存 ② 雲端運算 ③ 圖資更新 ④ 測試環境 ⑤ AI 訓練資料蒐集。技術與數據負責人於 G1 前補齊量級。因這五項未估價,人力+設備只能稱「已估成本」'}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13 頁 · 參考文獻(第 11 頁 — 不佔十頁額度)】　目標 5 秒 · 累計 11:23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誤報的八成三回到同一個根因 —— 修它要的速限資料我們手上就有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44988"/>
                <a:gridCol w="3914985"/>
                <a:gridCol w="391498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缺什麼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脈絡:判定依據不在畫面裡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判準:同一段影片,兩人不同標籤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對應哪一包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WP-C 脈絡特徵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WP-B 標註品質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3968496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4472844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9114" y="4977193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不用等新技術,也不用買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樣本只有 4 台車 · 1,647 筆 —— 比例能不能代表 30 台,正是第六週要量的第一件事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代價:誤報只花我們的人時,可以換算成錢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3558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849624"/>
            <a:ext cx="19194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7564" y="3849624"/>
            <a:ext cx="61260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381404"/>
            <a:ext cx="45720" cy="5257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353972"/>
            <a:ext cx="2408822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4353972"/>
            <a:ext cx="1919478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7564" y="4353972"/>
            <a:ext cx="6126034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離線遮蔽無資料·上傳頻率不一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感測器故障·標註錯·重複記錄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標註品質:判準手冊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複核者標籤不一致·從未量測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人時÷1,647 筆=5.25 分〔非長期均值〕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129.1-185.9÷8=16.14-23.24 → 17-24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兩假設未驗證:20 秒/筆 · 全客戶同案件組合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交:時間拆解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出口 A:AI 段佔主延遲 → 放行 1/2｜B → 0b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50%-87.5% 為初估,非系統量測;判準不放寬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能力層:約 850 筆機器結案=終局判定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本案層:六個月對外 0%,只跑影子模式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放行層:生效須過本案之外一道獨立門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25312"/>
            <a:ext cx="9658807" cy="5852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925312"/>
            <a:ext cx="929304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 → 要不要人細看,不是是不是誤報;不可與誤報率相減 · 人判得多準沒量過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138928"/>
            <a:ext cx="9293047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是這個方案自己造成的,放行門在移交後,不在這六個月。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人類、社會與環境福祉｜期內量增人力不變·移交後 850 筆無人覆核·推估非實測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可靠性與安全性｜漏放率目前不存在 · 僅 39 筆人工觸發測試〔自註為下限〕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你買到的三層效益,和四條隨時喊停的權力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是效益,四道護欄一票否決;訂不出的目標值寫明由哪道門訂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91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2128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省5–13人≈A$23–67 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010912"/>
          <a:ext cx="9658805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不存在｜39 筆·下限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點估計｜95% CI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G1｜技術負責人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六個月分三段付,每一段都可以喊停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六包只有一包是 AI —— 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017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5854" y="1755648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CI)· 冷凍評估集 · 兩條工作流單位工時基準 · 每案結案方向黃金答案標籤 · 時間拆解與到件分布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67712"/>
            <a:ext cx="45720" cy="30175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40280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40280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5854" y="2240280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地端 VLM,篩檢與深挖由同一台設備分時;選型見第 5 頁;量化規格與台數由 G1 依 W1–6 量測複核定案。W8–12 離線試驗 → W12–24 只跑影子模式:機器出結論不對外送,人照常判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51129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511296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A$18,600–20,800,並指定贊助人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2 台 · A$14,200–17,700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0845" y="1755648"/>
            <a:ext cx="4892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 + 深挖台各一;採購在 G1 之後,不在第一段額度內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74963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3152759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845" y="2259996"/>
            <a:ext cx="4892753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毛節省 48.3–96.7 人時/天 = 6.0–12.1 FTE;但自動結案須抽樣盲測稽核(±1% 需 753 筆/月 = 0.39 FTE;分層 8 類 6,024 筆 = 3.14 FTE)→ 淨 2.9–11.7 FTE。推估非實測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407052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407052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A$18,600–20,800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決定續行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407052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407052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前確認與既有雲端規劃的邊界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六個月之後你手上多三樣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407052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407052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六個月後你手上多三樣:可稽核錯誤率 ·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脈絡判斷層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 · 小客戶無人看過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6668"/>
            <a:ext cx="9658807" cy="603859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906668"/>
            <a:ext cx="9293047" cy="6038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須 G2 證明可避免/延後 + 業務確認容量轉換才放行後續預算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