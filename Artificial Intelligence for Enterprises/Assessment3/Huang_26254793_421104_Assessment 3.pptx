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27" y="137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198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 頁 · 鉤子 · 開場靜畫】　目標 35 秒 · 累計 0:35</a:t>
            </a:r>
          </a:p>
          <a:p>
            <a:endParaRPr/>
          </a:p>
          <a:p>
            <a:r>
              <a:t>★ 今天,五個人要看完三千支影片;而客戶要的答案,兩天內。</a:t>
            </a:r>
          </a:p>
          <a:p>
            <a:endParaRPr/>
          </a:p>
          <a:p>
            <a:r>
              <a:t>· 先講生意:客戶是車隊 —— 物流 · 客運 · 租賃,車上裝我們的鏡頭與車機</a:t>
            </a:r>
          </a:p>
          <a:p>
            <a:r>
              <a:t>· 一筆「事件」= 鏡頭偵測到一次危險駕駛(影片 + 時間地點 + 系統分類)</a:t>
            </a:r>
          </a:p>
          <a:p>
            <a:r>
              <a:t>· 一次「爭議」= 客戶回頭說「這筆判錯了」—— 只能由人重看影片才判得出來</a:t>
            </a:r>
          </a:p>
          <a:p>
            <a:endParaRPr/>
          </a:p>
          <a:p>
            <a:r>
              <a:t># 單一大型車隊約 3,000 筆事件/天 · 全公司 5 位專職分析人員</a:t>
            </a:r>
          </a:p>
          <a:p>
            <a:endParaRPr/>
          </a:p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講完停 1 秒再換頁。這是全片唯一的鉤子,不要急著翻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156 字(忘詞才看,不是拿來唸的)──</a:t>
            </a:r>
          </a:p>
          <a:p>
            <a:r>
              <a:t>我在一家做車隊行車影像 AI 的公司,負責 AI 應用。我們的客戶是車隊——物流、客運、租賃——他們的車上裝我們的鏡頭跟車機。鏡頭偵測到一次危險駕駛,就記一筆「事件」:一段影片、時間地點,還有系統給的分類。單一大型車隊,一天大約三千筆。客戶收到之後會回頭說「這筆判錯了」,那叫一次「爭議」——而爭議只能由人重看影片才判得出來。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2 頁 · P1 · 用例:兩階段推論,與它下游那道人工防線】　目標 65 秒 · 累計 1:40</a:t>
            </a:r>
          </a:p>
          <a:p>
            <a:endParaRPr/>
          </a:p>
          <a:p>
            <a:r>
              <a:t>★ 這道人工防線有兩種單價,差十六倍 —— 差別不在人,在證據在不在畫面裡。</a:t>
            </a:r>
          </a:p>
          <a:p>
            <a:endParaRPr/>
          </a:p>
          <a:p>
            <a:r>
              <a:t>· 地端 AI 公司內部評估過,我是其中一員(所以這不是新點子,是立案)</a:t>
            </a:r>
          </a:p>
          <a:p>
            <a:r>
              <a:t>· 兩階段自動化到第二關就停,剩下每一筆都要人看過</a:t>
            </a:r>
          </a:p>
          <a:p>
            <a:r>
              <a:t>· 看畫面就能判 vs 要離開畫面找證據</a:t>
            </a:r>
          </a:p>
          <a:p>
            <a:endParaRPr/>
          </a:p>
          <a:p>
            <a:r>
              <a:t># 一筆 20 秒 / 一筆 5.25 分 / 差約 16 倍</a:t>
            </a:r>
          </a:p>
          <a:p>
            <a:endParaRPr/>
          </a:p>
          <a:p>
            <a:r>
              <a:t>⚠️ 20 秒要說「營運端的實務估計,尚未以計時量測驗證」</a:t>
            </a:r>
          </a:p>
          <a:p>
            <a:r>
              <a:t>⚠️ 🚫 不可說「我們沒有量過」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288 字(忘詞才看,不是拿來唸的)──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【第 3 頁 · P2 · </a:t>
            </a:r>
            <a:r>
              <a:rPr dirty="0" err="1"/>
              <a:t>為什麼是現在:工作量沒變多,客戶要的時效變了</a:t>
            </a:r>
            <a:r>
              <a:rPr dirty="0"/>
              <a:t>】　</a:t>
            </a:r>
            <a:r>
              <a:rPr dirty="0" err="1"/>
              <a:t>目標</a:t>
            </a:r>
            <a:r>
              <a:rPr dirty="0"/>
              <a:t> 72 秒 · </a:t>
            </a:r>
            <a:r>
              <a:rPr dirty="0" err="1"/>
              <a:t>累計</a:t>
            </a:r>
            <a:r>
              <a:rPr dirty="0"/>
              <a:t> 2:52</a:t>
            </a:r>
          </a:p>
          <a:p>
            <a:endParaRPr dirty="0"/>
          </a:p>
          <a:p>
            <a:r>
              <a:rPr dirty="0"/>
              <a:t>★ </a:t>
            </a:r>
            <a:r>
              <a:rPr dirty="0" err="1"/>
              <a:t>工作量沒變多,是客戶要的時效變了</a:t>
            </a:r>
            <a:r>
              <a:rPr dirty="0"/>
              <a:t> —— </a:t>
            </a:r>
            <a:r>
              <a:rPr dirty="0" err="1"/>
              <a:t>而慢的那兩段是同一個原因:模型看不到畫面外的東西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· </a:t>
            </a:r>
            <a:r>
              <a:rPr dirty="0" err="1"/>
              <a:t>利用率:平均還好,尖峰這五個人已經不夠</a:t>
            </a:r>
            <a:endParaRPr dirty="0"/>
          </a:p>
          <a:p>
            <a:r>
              <a:rPr dirty="0"/>
              <a:t>· </a:t>
            </a:r>
            <a:r>
              <a:rPr dirty="0" err="1"/>
              <a:t>一件爭議的五段拆解,撈數據</a:t>
            </a:r>
            <a:r>
              <a:rPr dirty="0"/>
              <a:t> + </a:t>
            </a:r>
            <a:r>
              <a:rPr dirty="0" err="1"/>
              <a:t>判讀才是模型幫得上的</a:t>
            </a:r>
            <a:endParaRPr dirty="0"/>
          </a:p>
          <a:p>
            <a:r>
              <a:rPr dirty="0"/>
              <a:t>· 這是營運端估計不是量測,W6 </a:t>
            </a:r>
            <a:r>
              <a:rPr dirty="0" err="1"/>
              <a:t>交正式拆解,不成立就轉排班</a:t>
            </a:r>
            <a:endParaRPr dirty="0"/>
          </a:p>
          <a:p>
            <a:endParaRPr dirty="0"/>
          </a:p>
          <a:p>
            <a:r>
              <a:rPr dirty="0"/>
              <a:t># 74%–107% · </a:t>
            </a:r>
            <a:r>
              <a:rPr dirty="0" err="1"/>
              <a:t>折算</a:t>
            </a:r>
            <a:r>
              <a:rPr dirty="0"/>
              <a:t> 3.7–5.4 人 · </a:t>
            </a:r>
            <a:r>
              <a:rPr dirty="0" err="1"/>
              <a:t>現有</a:t>
            </a:r>
            <a:r>
              <a:rPr dirty="0"/>
              <a:t> 5 人</a:t>
            </a:r>
          </a:p>
          <a:p>
            <a:r>
              <a:rPr dirty="0"/>
              <a:t># 2.5–5.5 天 · AI </a:t>
            </a:r>
            <a:r>
              <a:rPr dirty="0" err="1"/>
              <a:t>可處理段佔</a:t>
            </a:r>
            <a:r>
              <a:rPr dirty="0"/>
              <a:t> 43%–78%</a:t>
            </a:r>
          </a:p>
          <a:p>
            <a:endParaRPr dirty="0"/>
          </a:p>
          <a:p>
            <a:r>
              <a:rPr dirty="0"/>
              <a:t>⚠️ </a:t>
            </a:r>
            <a:r>
              <a:rPr dirty="0" err="1"/>
              <a:t>分母是</a:t>
            </a:r>
            <a:r>
              <a:rPr dirty="0"/>
              <a:t> 2.5–5.5 天,🚫 </a:t>
            </a:r>
            <a:r>
              <a:rPr dirty="0" err="1"/>
              <a:t>不是</a:t>
            </a:r>
            <a:r>
              <a:rPr dirty="0"/>
              <a:t> 2–5 天</a:t>
            </a:r>
          </a:p>
          <a:p>
            <a:endParaRPr dirty="0"/>
          </a:p>
          <a:p>
            <a:r>
              <a:rPr dirty="0"/>
              <a:t>✂️ </a:t>
            </a:r>
            <a:r>
              <a:rPr dirty="0" err="1"/>
              <a:t>若排練超過</a:t>
            </a:r>
            <a:r>
              <a:rPr dirty="0"/>
              <a:t> 9:40,這一頁砍最後四句(20 </a:t>
            </a:r>
            <a:r>
              <a:rPr dirty="0" err="1"/>
              <a:t>秒限定的重複</a:t>
            </a:r>
            <a:r>
              <a:rPr dirty="0"/>
              <a:t> + </a:t>
            </a:r>
            <a:r>
              <a:rPr dirty="0" err="1"/>
              <a:t>五萬台</a:t>
            </a:r>
            <a:r>
              <a:rPr dirty="0"/>
              <a:t> / </a:t>
            </a:r>
            <a:r>
              <a:rPr dirty="0" err="1"/>
              <a:t>三個分母</a:t>
            </a:r>
            <a:r>
              <a:rPr dirty="0"/>
              <a:t> / </a:t>
            </a:r>
            <a:r>
              <a:rPr dirty="0" err="1"/>
              <a:t>成長階梯</a:t>
            </a:r>
            <a:r>
              <a:rPr dirty="0"/>
              <a:t>)= 省 26 </a:t>
            </a:r>
            <a:r>
              <a:rPr dirty="0" err="1"/>
              <a:t>秒。第</a:t>
            </a:r>
            <a:r>
              <a:rPr dirty="0"/>
              <a:t> 2 </a:t>
            </a:r>
            <a:r>
              <a:rPr dirty="0" err="1"/>
              <a:t>頁已經講過</a:t>
            </a:r>
            <a:r>
              <a:rPr dirty="0"/>
              <a:t> 20 </a:t>
            </a:r>
            <a:r>
              <a:rPr dirty="0" err="1"/>
              <a:t>秒的限定,這裡是重複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→ </a:t>
            </a:r>
            <a:r>
              <a:rPr dirty="0" err="1"/>
              <a:t>換下一頁</a:t>
            </a:r>
            <a:endParaRPr dirty="0"/>
          </a:p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317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利用率七成四到一百零七:平均還好,尖峰這五個人已經不夠</a:t>
            </a:r>
            <a:r>
              <a:rPr dirty="0"/>
              <a:t>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</a:t>
            </a:r>
            <a:r>
              <a:rPr dirty="0" err="1"/>
              <a:t>模型看不到畫面外的東西。這是營運端估計,不是量測;前六週交出正式拆解,不成立就轉排班。二十秒是營運上的估計,還沒有正式量過</a:t>
            </a:r>
            <a:r>
              <a:rPr dirty="0"/>
              <a:t>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endParaRPr dirty="0"/>
          </a:p>
          <a:p>
            <a:r>
              <a:rPr dirty="0"/>
              <a:t>── </a:t>
            </a:r>
            <a:r>
              <a:rPr dirty="0" err="1"/>
              <a:t>備查</a:t>
            </a:r>
            <a:r>
              <a:rPr dirty="0"/>
              <a:t>(</a:t>
            </a:r>
            <a:r>
              <a:rPr dirty="0" err="1"/>
              <a:t>不唸,答辯用</a:t>
            </a:r>
            <a:r>
              <a:rPr dirty="0"/>
              <a:t>)──</a:t>
            </a:r>
          </a:p>
          <a:p>
            <a:r>
              <a:rPr dirty="0"/>
              <a:t>【rows】{'label': '</a:t>
            </a:r>
            <a:r>
              <a:rPr dirty="0" err="1"/>
              <a:t>尖峰徵調</a:t>
            </a:r>
            <a:r>
              <a:rPr dirty="0"/>
              <a:t> 7 </a:t>
            </a:r>
            <a:r>
              <a:rPr dirty="0" err="1"/>
              <a:t>位研發工程師</a:t>
            </a:r>
            <a:r>
              <a:rPr dirty="0"/>
              <a:t>', 'value': '</a:t>
            </a:r>
            <a:r>
              <a:rPr dirty="0" err="1"/>
              <a:t>不是管理失當,是算術的必然</a:t>
            </a:r>
            <a:r>
              <a:rPr dirty="0"/>
              <a:t>', 'note': '</a:t>
            </a:r>
            <a:r>
              <a:rPr dirty="0" err="1"/>
              <a:t>離開本職支援、非常態編制</a:t>
            </a:r>
            <a:r>
              <a:rPr dirty="0"/>
              <a:t> —— </a:t>
            </a:r>
            <a:r>
              <a:rPr dirty="0" err="1"/>
              <a:t>開發產能被拿去補分析產能</a:t>
            </a:r>
            <a:r>
              <a:rPr dirty="0"/>
              <a:t>', 'hot': False}</a:t>
            </a:r>
          </a:p>
          <a:p>
            <a:r>
              <a:rPr dirty="0"/>
              <a:t>【rows】{'label': '</a:t>
            </a:r>
            <a:r>
              <a:rPr dirty="0" err="1"/>
              <a:t>量已經不是瓶頸</a:t>
            </a:r>
            <a:r>
              <a:rPr dirty="0"/>
              <a:t>', 'value': '</a:t>
            </a:r>
            <a:r>
              <a:rPr dirty="0" err="1"/>
              <a:t>全客戶</a:t>
            </a:r>
            <a:r>
              <a:rPr dirty="0"/>
              <a:t> 13,000 筆/</a:t>
            </a:r>
            <a:r>
              <a:rPr dirty="0" err="1"/>
              <a:t>天,地端約</a:t>
            </a:r>
            <a:r>
              <a:rPr dirty="0"/>
              <a:t> 2.2–3.5 </a:t>
            </a:r>
            <a:r>
              <a:rPr dirty="0" err="1"/>
              <a:t>小時跑完,設備佔用率約</a:t>
            </a:r>
            <a:r>
              <a:rPr dirty="0"/>
              <a:t> 9%–15%', 'note': '⚠ </a:t>
            </a:r>
            <a:r>
              <a:rPr dirty="0" err="1"/>
              <a:t>估算,非實測;此數只含每日全量批次初篩,不含客戶爭議深挖那條路徑</a:t>
            </a:r>
            <a:r>
              <a:rPr dirty="0"/>
              <a:t>(</a:t>
            </a:r>
            <a:r>
              <a:rPr dirty="0" err="1"/>
              <a:t>其吞吐量由</a:t>
            </a:r>
            <a:r>
              <a:rPr dirty="0"/>
              <a:t> W1–6 </a:t>
            </a:r>
            <a:r>
              <a:rPr dirty="0" err="1"/>
              <a:t>量測</a:t>
            </a:r>
            <a:r>
              <a:rPr dirty="0"/>
              <a:t>)。</a:t>
            </a:r>
            <a:r>
              <a:rPr dirty="0" err="1"/>
              <a:t>瓶頸是判準與驗證,不是量</a:t>
            </a:r>
            <a:r>
              <a:rPr dirty="0"/>
              <a:t>', 'hot': False}</a:t>
            </a:r>
          </a:p>
          <a:p>
            <a:r>
              <a:rPr dirty="0"/>
              <a:t>【</a:t>
            </a:r>
            <a:r>
              <a:rPr dirty="0" err="1"/>
              <a:t>這一頁的作用】這頁回答委員會最會問的兩題:為什麼是現在、為什麼是</a:t>
            </a:r>
            <a:r>
              <a:rPr dirty="0"/>
              <a:t> AI </a:t>
            </a:r>
            <a:r>
              <a:rPr dirty="0" err="1"/>
              <a:t>而不是加人。五段天數必須印出來,委員會才親眼看到</a:t>
            </a:r>
            <a:r>
              <a:rPr dirty="0"/>
              <a:t> 43%–78% </a:t>
            </a:r>
            <a:r>
              <a:rPr dirty="0" err="1"/>
              <a:t>落在模型碰得到的那兩段;而那條因果句</a:t>
            </a:r>
            <a:r>
              <a:rPr dirty="0"/>
              <a:t>(</a:t>
            </a:r>
            <a:r>
              <a:rPr dirty="0" err="1"/>
              <a:t>兩段慢的原因是同一個技術缺陷</a:t>
            </a:r>
            <a:r>
              <a:rPr dirty="0"/>
              <a:t>)</a:t>
            </a:r>
            <a:r>
              <a:rPr dirty="0" err="1"/>
              <a:t>把整頁從營運圖表升級成</a:t>
            </a:r>
            <a:r>
              <a:rPr dirty="0"/>
              <a:t> AI </a:t>
            </a:r>
            <a:r>
              <a:rPr dirty="0" err="1"/>
              <a:t>立案</a:t>
            </a:r>
            <a:r>
              <a:rPr dirty="0"/>
              <a:t> —— </a:t>
            </a:r>
            <a:r>
              <a:rPr dirty="0" err="1"/>
              <a:t>沒有它,這只證明「有件事很花時間</a:t>
            </a:r>
            <a:r>
              <a:rPr dirty="0"/>
              <a:t>」。</a:t>
            </a:r>
            <a:r>
              <a:rPr dirty="0" err="1"/>
              <a:t>同一頁又自己標明證據等級</a:t>
            </a:r>
            <a:r>
              <a:rPr dirty="0"/>
              <a:t>(</a:t>
            </a:r>
            <a:r>
              <a:rPr dirty="0" err="1"/>
              <a:t>營運端估計,非量測</a:t>
            </a:r>
            <a:r>
              <a:rPr dirty="0"/>
              <a:t>)</a:t>
            </a:r>
            <a:r>
              <a:rPr dirty="0" err="1"/>
              <a:t>並給出反向出口</a:t>
            </a:r>
            <a:r>
              <a:rPr dirty="0"/>
              <a:t>(</a:t>
            </a:r>
            <a:r>
              <a:rPr dirty="0" err="1"/>
              <a:t>推翻就轉排班</a:t>
            </a:r>
            <a:r>
              <a:rPr dirty="0"/>
              <a:t>),</a:t>
            </a:r>
            <a:r>
              <a:rPr dirty="0" err="1"/>
              <a:t>把核准變成一個低風險決定;右側的利用率上緣破百與徵調</a:t>
            </a:r>
            <a:r>
              <a:rPr dirty="0"/>
              <a:t> 7 </a:t>
            </a:r>
            <a:r>
              <a:rPr dirty="0" err="1"/>
              <a:t>位研發,則把時效缺口接回錢與機會成本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4 頁 · P3 · 發現過程:兩種病,兩個缺口】　目標 52 秒 · 累計 3:45</a:t>
            </a:r>
          </a:p>
          <a:p>
            <a:endParaRPr/>
          </a:p>
          <a:p>
            <a:r>
              <a:t>★ 一百二十四筆誤報,一百零三筆是同一個根因 —— 八成三都是交通標誌辨識。</a:t>
            </a:r>
          </a:p>
          <a:p>
            <a:endParaRPr/>
          </a:p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>
            <a:endParaRPr/>
          </a:p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>
            <a:endParaRPr/>
          </a:p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4:44</a:t>
            </a:r>
          </a:p>
          <a:p>
            <a:endParaRPr/>
          </a:p>
          <a:p>
            <a:r>
              <a:t>★ 我們有資料,沒有習慣 —— 被判否決的那一流,沒有人回看。</a:t>
            </a:r>
          </a:p>
          <a:p>
            <a:endParaRPr/>
          </a:p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>
            <a:endParaRPr/>
          </a:p>
          <a:p>
            <a:r>
              <a:t># 39 筆測試 · 漏偵 12 筆 · 另 10 筆無法歸類(約 1/4)</a:t>
            </a:r>
          </a:p>
          <a:p>
            <a:endParaRPr/>
          </a:p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6 頁 · P5 · 五條路,含三條不用 AI】　目標 44 秒 · 累計 5:28</a:t>
            </a:r>
          </a:p>
          <a:p>
            <a:endParaRPr/>
          </a:p>
          <a:p>
            <a:r>
              <a:t>★ 這六個月,它一筆都不對外生效。</a:t>
            </a:r>
          </a:p>
          <a:p>
            <a:endParaRPr/>
          </a:p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>
            <a:endParaRPr/>
          </a:p>
          <a:p>
            <a:r>
              <a:t># 85% 是分流率(推估非實測) · 六個月對外覆蓋率 0%</a:t>
            </a:r>
          </a:p>
          <a:p>
            <a:endParaRPr/>
          </a:p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6:19</a:t>
            </a:r>
          </a:p>
          <a:p>
            <a:endParaRPr/>
          </a:p>
          <a:p>
            <a:r>
              <a:t>★ 這個緩解只擋得住人還在看的那些 —— 移交後那八成五,沒有介面,也沒有人。</a:t>
            </a:r>
          </a:p>
          <a:p>
            <a:endParaRPr/>
          </a:p>
          <a:p>
            <a:r>
              <a:t>· 資料級聯:判準不一致會變成訓練標籤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所以我另外加了兩條這個方案自己造成的風險</a:t>
            </a:r>
          </a:p>
          <a:p>
            <a:endParaRPr/>
          </a:p>
          <a:p>
            <a:r>
              <a:t># 七類十條 · R9 自動結案的漏放 · R10 自動結案的冤枉</a:t>
            </a:r>
          </a:p>
          <a:p>
            <a:endParaRPr/>
          </a:p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7:08</a:t>
            </a:r>
          </a:p>
          <a:p>
            <a:endParaRPr/>
          </a:p>
          <a:p>
            <a:r>
              <a:t>★ 每一千筆爭議,有八百五十筆沒有人會看過。</a:t>
            </a:r>
          </a:p>
          <a:p>
            <a:endParaRPr/>
          </a:p>
          <a:p>
            <a:r>
              <a:t>· 同一張表兩欄:專案期一種顏色,移交後另一種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>
            <a:endParaRPr/>
          </a:p>
          <a:p>
            <a:r>
              <a:t># 專案期 綠 0 琥珀 7 紅 1 → 移交後 綠 0 琥珀 1 紅 7</a:t>
            </a:r>
          </a:p>
          <a:p>
            <a:endParaRPr/>
          </a:p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9 頁 · P8 · 怎麼算成功:三層 KPI,一條回圈】　目標 46 秒 · 累計 7:54</a:t>
            </a:r>
          </a:p>
          <a:p>
            <a:endParaRPr/>
          </a:p>
          <a:p>
            <a:r>
              <a:t>★ 證明它有效的方法,同時是喊停它的方法。</a:t>
            </a:r>
          </a:p>
          <a:p>
            <a:endParaRPr/>
          </a:p>
          <a:p>
            <a:r>
              <a:t>· 上面兩層回答「怎麼證明有效」,護欄層回答「什麼情況下喊停」</a:t>
            </a:r>
          </a:p>
          <a:p>
            <a:r>
              <a:t>· 護欄任一未達標,上面兩層的成績一律不採計</a:t>
            </a:r>
          </a:p>
          <a:p>
            <a:r>
              <a:t>· 訂不出目標值的,寫明由哪一道門訂</a:t>
            </a:r>
          </a:p>
          <a:p>
            <a:endParaRPr/>
          </a:p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>
            <a:endParaRPr/>
          </a:p>
          <a:p>
            <a:r>
              <a:t>⚠️ ⑬ 的母體是那 850 筆(有把握桶),🚫 不是剩下的 150 筆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8:41</a:t>
            </a:r>
          </a:p>
          <a:p>
            <a:endParaRPr/>
          </a:p>
          <a:p>
            <a:r>
              <a:t>★ 六個工作包只有一包是 AI,順序本身就是風險控制。</a:t>
            </a:r>
          </a:p>
          <a:p>
            <a:endParaRPr/>
          </a:p>
          <a:p>
            <a:r>
              <a:t>· 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>
            <a:endParaRPr/>
          </a:p>
          <a:p>
            <a:r>
              <a:t># G1 第 6 週 · G2 第 12 週 · G3 第 24 週</a:t>
            </a:r>
          </a:p>
          <a:p>
            <a:endParaRPr/>
          </a:p>
          <a:p>
            <a:r>
              <a:t>⚠️ 前三臂全部含人,而要部署的是無人系統 —— 這就是為什麼要有第四臂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11 頁 · P10 · 資源、當責與請求】　目標 64 秒 · 累計 9:45</a:t>
            </a:r>
          </a:p>
          <a:p>
            <a:endParaRPr/>
          </a:p>
          <a:p>
            <a:r>
              <a:t>★ 我請求核准第一段:四點八五人月、量級四十二到四十七萬,並指定一位贊助人。</a:t>
            </a:r>
          </a:p>
          <a:p>
            <a:endParaRPr/>
          </a:p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>
            <a:endParaRPr/>
          </a:p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>
            <a:endParaRPr/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12 頁 · 參考文獻(第 11 頁 — 不佔十頁額度)】　目標 5 秒 · 累計 9:50</a:t>
            </a:r>
          </a:p>
          <a:p>
            <a:endParaRPr/>
          </a:p>
          <a:p>
            <a:r>
              <a:t>★ 以上引用依 APA 第七版列出。</a:t>
            </a:r>
          </a:p>
          <a:p>
            <a:endParaRPr/>
          </a:p>
          <a:p>
            <a:r>
              <a:t>⚠️ 這一頁不佔十頁額度,5 秒帶過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地端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事件判讀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——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六個月、三道決策門的立案提案</a:t>
            </a:r>
            <a:endParaRPr sz="20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客戶是車隊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——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物流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客運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租賃;車上裝我們的鏡頭與車機</a:t>
            </a:r>
            <a:endParaRPr sz="13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鏡頭偵測到一次危險駕駛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記一筆「事件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」(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影片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時間地點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系統分類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)</a:t>
            </a:r>
          </a:p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客戶回頭說「這筆判錯了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」=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一次「爭議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」——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只能由人重看影片才判得出來</a:t>
            </a:r>
            <a:endParaRPr sz="13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單一大型車隊約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3,000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筆事件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/天 ·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全公司</a:t>
            </a:r>
            <a:r>
              <a:rPr sz="1300" b="0" dirty="0">
                <a:solidFill>
                  <a:srgbClr val="6B7885"/>
                </a:solidFill>
                <a:latin typeface="Microsoft JhengHei"/>
              </a:rPr>
              <a:t> 5 </a:t>
            </a:r>
            <a:r>
              <a:rPr sz="1300" b="0" dirty="0" err="1">
                <a:solidFill>
                  <a:srgbClr val="6B7885"/>
                </a:solidFill>
                <a:latin typeface="Microsoft JhengHei"/>
              </a:rPr>
              <a:t>位專職分析人員逐筆看</a:t>
            </a:r>
            <a:endParaRPr sz="13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10325295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779008"/>
            <a:ext cx="3753794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90488"/>
            <a:ext cx="3753794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242086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合計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2.5–5.5 天;43%–78%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的精確值為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42.86%–77.78%(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五段各自獨立取端點、窮舉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32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組求得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)。非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段只佔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22%–57%,而排隊本身只有 0–1 天 ——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那是排班解得掉的唯一一段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。⚠ 這五段天數是營運端的估計,不是計時量測;W1–6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交出正式量測,若正式拆解推翻它,本案轉排班方案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14766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714766"/>
            <a:ext cx="10509199" cy="6206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420522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393090"/>
            <a:ext cx="2116945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393090"/>
            <a:ext cx="2787914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393090"/>
            <a:ext cx="3753794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374927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" y="5347495"/>
            <a:ext cx="2116945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347495"/>
            <a:ext cx="2787914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347495"/>
            <a:ext cx="3753794" cy="8629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6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62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18397"/>
            <a:ext cx="3753794" cy="7343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44214"/>
            <a:ext cx="375379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1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31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3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31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2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2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2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513585"/>
            <a:ext cx="9293047" cy="6222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dirty="0">
                <a:solidFill>
                  <a:srgbClr val="FFFFFF"/>
                </a:solidFill>
                <a:latin typeface="Microsoft JhengHei"/>
              </a:rPr>
              <a:t>R8 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沒有答案</a:t>
            </a:r>
            <a:r>
              <a:rPr sz="1700" b="1" dirty="0">
                <a:solidFill>
                  <a:srgbClr val="FFFFFF"/>
                </a:solidFill>
                <a:latin typeface="Microsoft JhengHei"/>
              </a:rPr>
              <a:t> —— 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法務書面意見於</a:t>
            </a:r>
            <a:r>
              <a:rPr sz="1700" b="1" dirty="0">
                <a:solidFill>
                  <a:srgbClr val="FFFFFF"/>
                </a:solidFill>
                <a:latin typeface="Microsoft JhengHei"/>
              </a:rPr>
              <a:t> G1(第 6 週)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前到位</a:t>
            </a:r>
            <a:br>
              <a:rPr lang="en-US" sz="1700" b="1" dirty="0">
                <a:solidFill>
                  <a:srgbClr val="FFFFFF"/>
                </a:solidFill>
                <a:latin typeface="Microsoft JhengHei"/>
              </a:rPr>
            </a:br>
            <a:r>
              <a:rPr sz="1700" b="1" dirty="0">
                <a:solidFill>
                  <a:srgbClr val="FFFFFF"/>
                </a:solidFill>
                <a:latin typeface="Microsoft JhengHei"/>
              </a:rPr>
              <a:t>R9 · R10 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是這個方案自己造成的,放行門在移交後,不在這六個月</a:t>
            </a:r>
            <a:r>
              <a:rPr sz="1700" b="1" dirty="0">
                <a:solidFill>
                  <a:srgbClr val="FFFFFF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68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68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6212E"/>
                          </a:solidFill>
                          <a:latin typeface="Microsoft JhengHei"/>
                        </a:rPr>
                        <a:t>1 </a:t>
                      </a:r>
                      <a:r>
                        <a:rPr sz="1200" b="0" dirty="0" err="1">
                          <a:solidFill>
                            <a:srgbClr val="16212E"/>
                          </a:solidFill>
                          <a:latin typeface="Microsoft JhengHei"/>
                        </a:rPr>
                        <a:t>人類、社會與環境福祉｜期內量增人力不變·移交後</a:t>
                      </a:r>
                      <a:r>
                        <a:rPr sz="1200" b="0" dirty="0">
                          <a:solidFill>
                            <a:srgbClr val="16212E"/>
                          </a:solidFill>
                          <a:latin typeface="Microsoft JhengHei"/>
                        </a:rPr>
                        <a:t> 850 </a:t>
                      </a:r>
                      <a:r>
                        <a:rPr sz="1200" b="0" dirty="0" err="1">
                          <a:solidFill>
                            <a:srgbClr val="16212E"/>
                          </a:solidFill>
                          <a:latin typeface="Microsoft JhengHei"/>
                        </a:rPr>
                        <a:t>筆無人覆核·推估非實測</a:t>
                      </a:r>
                      <a:endParaRPr sz="1200" b="0" dirty="0">
                        <a:solidFill>
                          <a:srgbClr val="16212E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6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62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5727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3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19" y="1740680"/>
            <a:ext cx="7237779" cy="4231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交:公司第一份可稽核的錯誤率(含 95% CI)·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冷凍評估集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兩條工作流單位工時基準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每案結案方向黃金答案標籤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時間拆解與到件分布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3152759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5819" y="2225312"/>
            <a:ext cx="7237780" cy="4231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地端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VLM,篩檢與深挖由同一台設備分時;選型與量化規格於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G1 依 W1–6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量測定案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概念層次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)。W8–12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離線試驗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W12–24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只跑影子模式:機器出結論不對外送,人照常判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0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0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5997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688565"/>
            <a:ext cx="2408822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8565"/>
            <a:ext cx="3152759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88565"/>
            <a:ext cx="4240255" cy="8414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3786075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867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867"/>
            <a:ext cx="11323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915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075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867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867"/>
            <a:ext cx="1018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915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075"/>
            <a:ext cx="330799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867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867"/>
            <a:ext cx="8656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915"/>
            <a:ext cx="3307994" cy="859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移交後天花板:約 85% 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483"/>
            <a:ext cx="9658807" cy="603044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7" y="5907483"/>
            <a:ext cx="9293047" cy="6030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5419</Words>
  <Application>Microsoft Office PowerPoint</Application>
  <PresentationFormat>寬螢幕</PresentationFormat>
  <Paragraphs>633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Po-Kai Huang</cp:lastModifiedBy>
  <cp:revision>2</cp:revision>
  <dcterms:created xsi:type="dcterms:W3CDTF">2013-01-27T09:14:16Z</dcterms:created>
  <dcterms:modified xsi:type="dcterms:W3CDTF">2026-08-16T02:07:57Z</dcterms:modified>
  <cp:category/>
</cp:coreProperties>
</file>