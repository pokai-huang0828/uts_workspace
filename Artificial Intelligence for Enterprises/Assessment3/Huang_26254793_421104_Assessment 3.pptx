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783" autoAdjust="0"/>
  </p:normalViewPr>
  <p:slideViewPr>
    <p:cSldViewPr snapToGrid="0" snapToObjects="1">
      <p:cViewPr varScale="1">
        <p:scale>
          <a:sx n="98" d="100"/>
          <a:sy n="98" d="100"/>
        </p:scale>
        <p:origin x="316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29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7750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TW" altLang="en-US"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314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誠如各位在圖上看到的,前端</a:t>
            </a:r>
            <a:r>
              <a:rPr dirty="0"/>
              <a:t> Edge AI 跟 Server AI </a:t>
            </a:r>
            <a:r>
              <a:rPr dirty="0" err="1"/>
              <a:t>這兩段已經自動化,停在第三關。客戶回頭說「這筆</a:t>
            </a:r>
            <a:r>
              <a:rPr dirty="0"/>
              <a:t> AI </a:t>
            </a:r>
            <a:r>
              <a:rPr dirty="0" err="1"/>
              <a:t>判錯了</a:t>
            </a:r>
            <a:r>
              <a:rPr dirty="0"/>
              <a:t>」,</a:t>
            </a:r>
            <a:r>
              <a:rPr dirty="0" err="1"/>
              <a:t>那一段全部靠人</a:t>
            </a:r>
            <a:r>
              <a:rPr dirty="0"/>
              <a:t> ——</a:t>
            </a:r>
            <a:r>
              <a:rPr dirty="0" err="1"/>
              <a:t>而它慢的原因不是人不夠快,是證據不在畫面裡。分析人員得打開事件檔,看</a:t>
            </a:r>
            <a:r>
              <a:rPr dirty="0"/>
              <a:t> AI </a:t>
            </a:r>
            <a:r>
              <a:rPr dirty="0" err="1"/>
              <a:t>當下是依什麼判的,才分得出這是哪一種爭議:是客戶不熟我們的判定規格、其實</a:t>
            </a:r>
            <a:r>
              <a:rPr dirty="0"/>
              <a:t>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</a:t>
            </a:r>
            <a:r>
              <a:rPr dirty="0" err="1"/>
              <a:t>加起來二十九點八到四十二點九人時,而我們五個人一天總共四十人時。上緣已經超過了,而這只是一個客戶。所以我提的是一套地端</a:t>
            </a:r>
            <a:r>
              <a:rPr dirty="0"/>
              <a:t> AI </a:t>
            </a:r>
            <a:r>
              <a:rPr dirty="0" err="1"/>
              <a:t>事件判讀,把畫面外的脈絡讀進來,讓同樣這五個人,在客戶要的兩天內交得出答案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261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各位看這條時間軸。一件爭議走完兩天到五天,而最花時間的是中間這兩段</a:t>
            </a:r>
            <a:r>
              <a:rPr dirty="0"/>
              <a:t>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</a:t>
            </a:r>
            <a:r>
              <a:rPr dirty="0" err="1"/>
              <a:t>一半來自證據包自動化,一半來自誤報量下降。而真正的差別在最下面那一句:人的時間從「找證據」換成「下判斷</a:t>
            </a:r>
            <a:r>
              <a:rPr dirty="0"/>
              <a:t>」。</a:t>
            </a:r>
            <a:r>
              <a:rPr dirty="0" err="1"/>
              <a:t>找證據機器做得比人快,下判斷只有人能做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329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那機器現在到底判錯在哪裡?這張表把兩條產品線的誤報拆開。先講假判錯:客戶不懂我們的判定邏輯,其實機器判對了</a:t>
            </a:r>
            <a:r>
              <a:rPr dirty="0"/>
              <a:t> —— 兩邊都有。真判錯才是要修的:行車輔助是速限數值錯判、車前陰影光影、前車物體錯判;駕駛監控是駕駛行為因光線被誤判、還有物件誤判。這些指向不一樣的修法。速限被錯判是**</a:t>
            </a:r>
            <a:r>
              <a:rPr dirty="0" err="1"/>
              <a:t>畫面外</a:t>
            </a:r>
            <a:r>
              <a:rPr dirty="0"/>
              <a:t>**</a:t>
            </a:r>
            <a:r>
              <a:rPr dirty="0" err="1"/>
              <a:t>的問題</a:t>
            </a:r>
            <a:r>
              <a:rPr dirty="0"/>
              <a:t> ——</a:t>
            </a:r>
            <a:r>
              <a:rPr dirty="0" err="1"/>
              <a:t>那面牌讀不出來,但地圖上有,把它讀進模型就補得上。光影跟物體誤判是</a:t>
            </a:r>
            <a:r>
              <a:rPr dirty="0"/>
              <a:t>**</a:t>
            </a:r>
            <a:r>
              <a:rPr dirty="0" err="1"/>
              <a:t>畫面裡</a:t>
            </a:r>
            <a:r>
              <a:rPr dirty="0"/>
              <a:t>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</a:t>
            </a:r>
            <a:r>
              <a:rPr dirty="0" err="1"/>
              <a:t>答案不在畫面裡。那面牌模型讀不到,可是速限資料公司手上就有。這就是下一頁那兩台要做的事:把畫面外的資料讀進來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  <a:p/>
          <a:p>
            <a:r>
              <a:t>── 硬體可行性複核(2026-08-17,已上網查證)──</a:t>
            </a:r>
          </a:p>
          <a:p>
            <a:r>
              <a:t>· DGX Spark 官方規格:128 GB LPDDR5x 統一記憶體 · 273 GB/s · GB10 Grace Blackwell · 1 PFLOP FP4</a:t>
            </a:r>
          </a:p>
          <a:p>
            <a:r>
              <a:t>· ① 篩檢台 Qwen3.5-122B-A10B 4-bit = 122B × 0.5 B = **61 GB**,128 GB 裡剩 59 GB → 非常寬鬆。</a:t>
            </a:r>
          </a:p>
          <a:p>
            <a:r>
              <a:t>  🔑 MoE 的**全部**專家都要常駐,只是每 token 活化 10B —— 不要講成「只需要 10B 的記憶體」。</a:t>
            </a:r>
          </a:p>
          <a:p>
            <a:r>
              <a:t>  🔑 NVIDIA 自己發了 Qwen3.5-122B-A10B 的 NVFP4 版本,而 DGX Spark 就是 Blackwell、原生吃 FP4。</a:t>
            </a:r>
          </a:p>
          <a:p>
            <a:r>
              <a:t>· ② 深挖台 Qwen2.5-VL-72B 8-bit = **72 GB**,剩 48 GB 給 KV cache。</a:t>
            </a:r>
          </a:p>
          <a:p>
            <a:r>
              <a:t>  KV/token = 2×8(GQA KV head)×128×80 層×2 B = 0.31 MB。</a:t>
            </a:r>
          </a:p>
          <a:p>
            <a:r>
              <a:t>  1080p 每幀 2,645 個視覺 token(patch 14 + spatial_merge 2);影片會做時間合併(每兩幀併一組)。</a:t>
            </a:r>
          </a:p>
          <a:p>
            <a:r>
              <a:t>  🔴 **20 秒 @1 FPS · Batch=4**(片長以 20 秒計):視覺 token ≈ 26,400 → KV ≈ 32 GB</a:t>
            </a:r>
          </a:p>
          <a:p>
            <a:r>
              <a:t>     → 權重+KV ≈ **104 GB / 120 GB 可用**(128 扣 OS 與框架 8 GB)✅ 過關,餘裕約 16 GB。</a:t>
            </a:r>
          </a:p>
          <a:p>
            <a:r>
              <a:t>  ⚠️ **片長就是這個算式的前提,而且餘裕不多**:</a:t>
            </a:r>
          </a:p>
          <a:p>
            <a:r>
              <a:t>     25 秒 → 112 GB(餘裕只剩 8 GB);**30 秒 → 120 GB 就爆**。</a:t>
            </a:r>
          </a:p>
          <a:p>
            <a:r>
              <a:t>     他若問「影片多長」:20 秒。若問「更長怎麼辦」:Batch 降到 2 ——</a:t>
            </a:r>
          </a:p>
          <a:p>
            <a:r>
              <a:t>     20 秒 Batch=2 只要 88 GB、30 秒 Batch=2 也只要 96 GB,都很寬鬆;</a:t>
            </a:r>
          </a:p>
          <a:p>
            <a:r>
              <a:t>     或深挖台抽幀降到 0.5 FPS(它只讀交通標誌,不需要每秒一幀)。</a:t>
            </a:r>
          </a:p>
          <a:p>
            <a:r>
              <a:t>     🚫 不要說「不會有問題」—— 要說「這是我算過的上限,超過就降 Batch,吞吐量會掉但不會塞不下」。</a:t>
            </a:r>
          </a:p>
          <a:p>
            <a:r>
              <a:t>· 一台裝不下的算式:61 + 72 = **133 GB &gt; 128 GB** —— 只差 5 GB,但就是塞不進去。</a:t>
            </a:r>
          </a:p>
          <a:p>
            <a:r>
              <a:t>  🚫 不要再講「兩個模型各佔約 75 GB」(舊值,問「哪來的 75」答不出來)。</a:t>
            </a:r>
          </a:p>
          <a:p>
            <a:r>
              <a:t>· 解碼頻寬上限:篩檢台 273÷5 ≈ 55 tok/s;深挖台 273÷72 ≈ 3.8 tok/s(Batch=4 共用權重讀取)。</a:t>
            </a:r>
          </a:p>
          <a:p>
            <a:r>
              <a:t>  🚫 片上那些秒數一律說「推算」—— 沒有實機跑過,實機量測排在第 6 週之後。</a:t>
            </a:r>
          </a:p>
          <a:p>
            <a:r>
              <a:t>· 🔴 **每筆 62 秒 → 60–80 秒** 之後的連動(2026-08-17,Kenny 拍板走「誠實承認上緣不夠」):</a:t>
            </a:r>
          </a:p>
          <a:p>
            <a:r>
              <a:t>  一個車隊:150–300 筆 × 60–80 秒 = 2.5–6.7 小時 = 一天的 10%–28%</a:t>
            </a:r>
          </a:p>
          <a:p>
            <a:r>
              <a:t>  全客戶:13,000 筆 × 爭議 5–10% = 650–1,300 筆 → 45%(650×60s)~ **120%**(1,300×80s)</a:t>
            </a:r>
          </a:p>
          <a:p>
            <a:r>
              <a:t>  🔴 上緣 120% 是**兩個上限疊加**(爭議率 10% 的上限 × 每筆 80 秒的上限)——</a:t>
            </a:r>
          </a:p>
          <a:p>
            <a:r>
              <a:t>     那時一台深挖台不夠,要第二台深挖台。中間值(975 筆 × 70 秒)是 79%。</a:t>
            </a:r>
          </a:p>
          <a:p>
            <a:r>
              <a:t>  🔑 這一格要主動講,不要等他乘:「現在的量很寬鬆;擴到全客戶,上緣會超過一台,</a:t>
            </a:r>
          </a:p>
          <a:p>
            <a:r>
              <a:t>     那時候要加第二台深挖台 —— 我算得出那條線在哪。」</a:t>
            </a:r>
          </a:p>
          <a:p>
            <a:r>
              <a:t>  🚫 不要說「兩台就夠了」。委員會怕的不是要加機器,是你不知道什麼時候要加。</a:t>
            </a:r>
          </a:p>
          <a:p>
            <a:r>
              <a:t>  ⚠️ 篩檢台不受影響(3.4 秒沒改):一個車隊 12%、全客戶 51%。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>
            <a:endParaRPr/>
          </a:p>
          <a:p>
            <a:r>
              <a:t>★ 調班只壓得到排隊那 0–1 天,而慢的五到八成八在撈數據跟判讀 —— 那一段只有 AI 壓得到。</a:t>
            </a:r>
          </a:p>
          <a:p>
            <a:endParaRPr/>
          </a:p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>
            <a:endParaRPr/>
          </a:p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>
            <a:endParaRPr/>
          </a:p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>
            <a:endParaRPr/>
          </a:p>
          <a:p>
            <a:r>
              <a:t>★ 把握只有中的那三件,共同點是都不在我手上 —— 機器的措辭、主管轉不轉達、高階的行程。</a:t>
            </a:r>
          </a:p>
          <a:p>
            <a:endParaRPr/>
          </a:p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>
            <a:endParaRPr/>
          </a:p>
          <a:p>
            <a:r>
              <a:t># 七件事 · 資料 2 · 組織 3 · 倫理 1 · 經濟 1 · 把握 高 4 / 中 3</a:t>
            </a:r>
          </a:p>
          <a:p>
            <a:endParaRPr/>
          </a:p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>
            <a:endParaRPr/>
          </a:p>
          <a:p>
            <a:r>
              <a:t>★ 八條沒有一條因為這個案子變差 —— 而每一條我都寫得出為什麼,不是一句沒問題帶過。</a:t>
            </a:r>
          </a:p>
          <a:p>
            <a:endParaRPr/>
          </a:p>
          <a:p>
            <a:r>
              <a:t>· 框架不是我挑的 —— 是課程單元六 6.3.4 引用的澳洲 AI 倫理八原則(DIIS,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>
            <a:endParaRPr/>
          </a:p>
          <a:p>
            <a:r>
              <a:t># 澳洲 AI 倫理八原則(DIIS,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>
            <a:endParaRPr/>
          </a:p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🔴 八原則 2019-11-07 由 **DIIS**(Department of Industry, Innovation and Science)發布;DISR 這個名字 2022 年 7 月才有。課程投影片若寫 DISR 不必跟著錯 ——答辯時一句「原始發布機關是 DIIS,2022 年改名 DISR」反而是加分的細節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>
            <a:endParaRPr/>
          </a:p>
          <a:p>
            <a:r>
              <a:t>★ 第 6 週交三樣、第 12 週一樣、第 16 週三樣 —— 而下面兩條沒過,上面全部不算。</a:t>
            </a:r>
          </a:p>
          <a:p>
            <a:endParaRPr/>
          </a:p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>
            <a:endParaRPr/>
          </a:p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>
            <a:endParaRPr/>
          </a:p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>
            <a:endParaRPr/>
          </a:p>
          <a:p>
            <a:r>
              <a:t>★ 六個月分三段做,每一段做完都可以喊停 —— 各位不必一次押六個月。</a:t>
            </a:r>
          </a:p>
          <a:p>
            <a:endParaRPr/>
          </a:p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>
            <a:endParaRPr/>
          </a:p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>
            <a:endParaRPr/>
          </a:p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>
            <a:endParaRPr/>
          </a:p>
          <a:p>
            <a:r>
              <a:t>★ 我今天要請各位核准的只有前六週:四點八五人月、約一萬八千七到兩萬零九百澳幣,再指定一位主管。</a:t>
            </a:r>
          </a:p>
          <a:p>
            <a:endParaRPr/>
          </a:p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>
            <a:endParaRPr/>
          </a:p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>
            <a:endParaRPr/>
          </a:p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12 頁 · 參考文獻(不佔十頁額度)】　目標 0 秒 · 累計 12:21</a:t>
            </a:r>
          </a:p>
          <a:p>
            <a:endParaRPr/>
          </a:p>
          <a:p>
            <a:r>
              <a:t>★ (不出聲)第 11 頁最後一句講完停 2 秒再切到這頁,停 3 秒收。</a:t>
            </a:r>
          </a:p>
          <a:p>
            <a:endParaRPr/>
          </a:p>
          <a:p>
            <a:r>
              <a:t>⚠️ 🚫 **這一頁不要出聲** —— 全片最後一個聲音必須是第 11 頁那句「六個月後各位手上會多三樣」</a:t>
            </a:r>
          </a:p>
          <a:p>
            <a:r>
              <a:t>⚠️ 這一頁不佔十頁額度;停 3 秒讓評分者看得到書目就可以結束錄影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0 字(忘詞才看,不是拿來唸的)──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347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地端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事件判讀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——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六個月提案計畫</a:t>
            </a:r>
            <a:endParaRPr sz="20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312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一個車隊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五個人看完三千支影片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;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而客戶要的答案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兩天內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10662037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內部數字均標示為假設或推算量級,並於各頁附推算方式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95" y="1291893"/>
            <a:ext cx="11030407" cy="101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我們客戶是車隊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包含物流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客運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礦業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車上裝我們的鏡頭</a:t>
            </a:r>
            <a:b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鏡頭偵測到一次危險駕駛 → 記一筆「事件」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影片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時間地點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系統分類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客戶回頭說「這筆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判錯了」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一次「爭議」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——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由人重看影片才判得出來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單一大型車隊約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3,000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筆事件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部門僅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位專職分析人員逐筆看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而客戶還在持續增長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2399461"/>
            <a:ext cx="5364327" cy="15096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4" y="2500884"/>
            <a:ext cx="514487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前端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793492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23895" y="2838319"/>
            <a:ext cx="1033271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①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已自動化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3177539"/>
            <a:ext cx="5144871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車機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Edge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初判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Server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複判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判定屬實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回傳裝置向駕駛警示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自動化到這裡就停了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68999" y="2399461"/>
            <a:ext cx="5364327" cy="15476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78727" y="2461719"/>
            <a:ext cx="5144871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人工複核防線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5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位專職分析人員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逐筆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58327" y="2793492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8327" y="2838319"/>
            <a:ext cx="1185672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②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沒有自動化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78727" y="3177539"/>
            <a:ext cx="5144871" cy="72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客戶回頭說「這筆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判錯了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」=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一次爭議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(約 5–10%)</a:t>
            </a: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每一筆:打開事件檔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看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當時依什麼判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回信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分兩種:客戶誤解規格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vs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真誤報,約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2:8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" y="4033465"/>
            <a:ext cx="5368900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8456" y="4179769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8456" y="4673545"/>
            <a:ext cx="4399635" cy="564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3,000 筆 × 20 秒 = 16.7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  <a:endParaRPr lang="en-US" sz="1300" b="0" dirty="0">
              <a:solidFill>
                <a:srgbClr val="16212E"/>
              </a:solidFill>
              <a:latin typeface="Microsoft JhengHei"/>
            </a:endParaRPr>
          </a:p>
          <a:p>
            <a:pPr algn="ctr">
              <a:lnSpc>
                <a:spcPct val="150000"/>
              </a:lnSpc>
            </a:pP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由一次實際判讀反推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;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單一批次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,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非長期平均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4026839"/>
            <a:ext cx="5364327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51344" y="4173143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1344" y="4666919"/>
            <a:ext cx="4399635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150–300 筆 × 5.25 分 = 13.1–26.2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</a:p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  <a:endParaRPr sz="13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66443" y="5549925"/>
            <a:ext cx="96588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合計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29.8–42.9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　vs　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產能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40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/天(5 人 × 8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小時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)</a:t>
            </a:r>
            <a:r>
              <a:rPr lang="zh-TW" altLang="en-US" sz="1500" b="1" dirty="0">
                <a:solidFill>
                  <a:srgbClr val="16212E"/>
                </a:solidFill>
                <a:latin typeface="Microsoft JhengHei"/>
              </a:rPr>
              <a:t> 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——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上緣已超過,而這只是一個客戶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本案要建的</a:t>
            </a:r>
            <a:r>
              <a:rPr sz="1400" b="1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能力</a:t>
            </a:r>
            <a:endParaRPr sz="14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00833" y="6143665"/>
            <a:ext cx="4423428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讀懂一次事件的完整脈絡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:</a:t>
            </a:r>
            <a:r>
              <a:rPr lang="zh-TW" altLang="en-US" sz="1500" b="1" dirty="0">
                <a:solidFill>
                  <a:srgbClr val="C00000"/>
                </a:solidFill>
                <a:latin typeface="Microsoft JhengHei"/>
              </a:rPr>
              <a:t>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影片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客戶問題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規則</a:t>
            </a:r>
            <a:endParaRPr sz="1500" b="1" dirty="0">
              <a:solidFill>
                <a:srgbClr val="C00000"/>
              </a:solidFill>
              <a:latin typeface="Microsoft Jheng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61711" y="6054088"/>
            <a:ext cx="4525617" cy="4396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慢的成因是證據不在畫面裡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而要建的能力正是把畫面外的東西讀進來;全客戶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導入「</a:t>
            </a:r>
            <a:r>
              <a:rPr lang="en-US" altLang="zh-TW" sz="1500" b="0" dirty="0" err="1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爭議回覆自動化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」(第 8–16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週的工作包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):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機器做分析給出事實結果,人工審閱並給出內部覆核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43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合計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2.0–5.0 天;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50%–87.5%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由五段各自取端點求得。非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段佔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12.5%–50%。</a:t>
            </a:r>
            <a:endParaRPr lang="en-US" sz="1200" b="0" dirty="0">
              <a:solidFill>
                <a:srgbClr val="6B788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</a:pPr>
            <a:r>
              <a:rPr sz="1200" b="0" dirty="0">
                <a:solidFill>
                  <a:srgbClr val="FF0000"/>
                </a:solidFill>
                <a:latin typeface="Microsoft JhengHei"/>
              </a:rPr>
              <a:t>⚠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這五段天數是營運端的估計,不是計時量測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前六週交出正式量測,若正式拆解推翻它,本案轉排班方案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(第 6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週那個喊停點判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98384"/>
            <a:ext cx="2976753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自動證據包</a:t>
            </a:r>
            <a:endParaRPr sz="1500" b="1" dirty="0">
              <a:solidFill>
                <a:srgbClr val="1F4E79"/>
              </a:solidFill>
              <a:latin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54839" y="3927880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讀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影片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客戶問題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規則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產出可讀描述並標出引用的證據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爭議回覆自動化</a:t>
            </a:r>
            <a:r>
              <a:rPr sz="1500" b="1" dirty="0">
                <a:solidFill>
                  <a:srgbClr val="1F4E79"/>
                </a:solidFill>
                <a:latin typeface="Microsoft JhengHei"/>
              </a:rPr>
              <a:t>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432229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對 100%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案件成立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20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做分析給出事實結果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人工審閱並給出內部覆核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936578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第 16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週後量測;一半靠證據包,一半靠誤報量下降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 </a:t>
            </a:r>
            <a:r>
              <a:rPr sz="1500" b="0" dirty="0" err="1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台的小車隊</a:t>
            </a:r>
            <a:r>
              <a:rPr lang="zh-TW" altLang="en-US" sz="15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的月均誤報比例</a:t>
            </a:r>
            <a:endParaRPr sz="1500" b="0" dirty="0">
              <a:solidFill>
                <a:srgbClr val="6B7885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47703"/>
              </p:ext>
            </p:extLst>
          </p:nvPr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一個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30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台的小車隊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每月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ADAS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行車輔助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要補的是「畫面外</a:t>
                      </a: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光線</a:t>
                      </a:r>
                      <a:r>
                        <a:rPr sz="1200" b="0" dirty="0">
                          <a:solidFill>
                            <a:srgbClr val="C00000"/>
                          </a:solidFill>
                          <a:latin typeface="Microsoft JhengHei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物件→更強的視覺模型;判準→先統一標註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840852"/>
            <a:ext cx="5154484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行車輔助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780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駕駛監控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150;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月事件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12,352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筆、每天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現在很寬鬆,擴到全客戶上緣要第三台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Microsoft JhengHei"/>
              </a:rPr>
              <a:t>NVIDIA DGX Spark × 2 · 各 128 GB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統一記憶體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· A$14,200–17,700;瓶頸不是算力,是 273 GB/s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的記憶體頻寬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60–80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2.5–6.7 小時(10–28%)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61 GB + 72 GB = 133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133 GB &gt; 一台 128 GB;兩台各自常駐,不用換載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筆/天:45%–120%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51%;深挖台 45%–120% —— 上緣超過一台,那時要第二台深挖台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兩台機器各只用掉一到三成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7" y="386580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8 頁)　Department of Industry, Innovation and Science. (2019). Australia's AI ethics principles.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5 頁)　Dettmers, T., Lewis, M., Belkada, Y., &amp; Zettlemoyer, L. (2022). GPT3.int8(): 8-bit matrix multiplication for transformers at scale. In Advances in neural information processing systems (Vol. 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Goddard, K., Roudsari, A., &amp; Wyatt, J. C. (2012). Automation bias: A systematic review of frequency, effect mediators, and mitigators. Journal of the American Medical Informatics Association, 19(1), 121–127.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9 頁)　Parasuraman, R., &amp; Manzey, D. H. (2010). Complacency and bias in human use of automation: An attentional integration. Human Factors, 52(3), 381–410. https://doi.org/10.1177/0018720810376055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Rohrbach, A., Hendricks, L. A., Burns, K., Darrell, T., &amp; Saenko, K. (2018). Object hallucination in image captioning. In Proceedings of the 2018 Conference on Empirical Methods in Natural Language Processing (pp. 4035–4045). https://doi.org/10.18653/v1/D18-1437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4、10 頁)　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11 頁)　Sculley, D., Holt, G., Golovin, D., Davydov, E., Phillips, T., Ebner, D., Chaudhary, V., Young, M., Crespo, J.-F., &amp; Dennison, D. (2015). Hidden technical debt in machine learning systems. In Advances in neural information processing systems (Vol. 28).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6490</Words>
  <Application>Microsoft Office PowerPoint</Application>
  <PresentationFormat>寬螢幕</PresentationFormat>
  <Paragraphs>564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微軟正黑體</vt:lpstr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Po-Kai Huang</cp:lastModifiedBy>
  <cp:revision>3</cp:revision>
  <dcterms:created xsi:type="dcterms:W3CDTF">2013-01-27T09:14:16Z</dcterms:created>
  <dcterms:modified xsi:type="dcterms:W3CDTF">2026-08-17T13:13:23Z</dcterms:modified>
  <cp:category/>
</cp:coreProperties>
</file>