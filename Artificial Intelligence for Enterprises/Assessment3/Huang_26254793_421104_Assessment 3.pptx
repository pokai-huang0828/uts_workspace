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鉤子 · 開場靜畫】　約 5 秒 · 23 字 · 累計 0:05</a:t>
            </a:r>
          </a:p>
          <a:p>
            <a:r>
              <a:t>── 講稿(照著唸)──</a:t>
            </a:r>
          </a:p>
          <a:p>
            <a:r>
              <a:t>今天,五個人要看完三千支影片;而客戶要的答案,兩天內。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P1 · 用例:兩階段推論,與它下游那道人工防線】　約 65 秒 · 288 字 · 累計 1:10</a:t>
            </a:r>
          </a:p>
          <a:p>
            <a:r>
              <a:t>── 講稿(照著唸)──</a:t>
            </a:r>
          </a:p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P2 · 為什麼是現在:工作量沒變多,客戶要的時效變了】　約 72 秒 · 317 字 · 累計 2:22</a:t>
            </a:r>
          </a:p>
          <a:p>
            <a:r>
              <a:t>── 講稿(照著唸)──</a:t>
            </a:r>
          </a:p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四成到八成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P3 · 發現過程:兩種病,兩個缺口】　約 52 秒 · 230 字 · 累計 3:14</a:t>
            </a:r>
          </a:p>
          <a:p>
            <a:r>
              <a:t>── 講稿(照著唸)──</a:t>
            </a:r>
          </a:p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【matrix-cell】尺的一致性我們從來沒量過 —— 不比誰準,只指出錯的性質不同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P4 · 我們看不見的那一半:有資料,沒有習慣】　約 59 秒 · 259 字 · 累計 4:13</a:t>
            </a:r>
          </a:p>
          <a:p>
            <a:r>
              <a:t>── 講稿(照著唸)──</a:t>
            </a:r>
          </a:p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【matrix-cell】裝置離線與鏡頭遮蔽時段無資料;事件分批上傳、頻率不一</a:t>
            </a:r>
          </a:p>
          <a:p>
            <a:r>
              <a:t>【matrix-cell】W1-6 評估底座:分層抽樣 + 冷凍評估集</a:t>
            </a:r>
          </a:p>
          <a:p>
            <a:r>
              <a:t>【matrix-cell】感測器故障;人工標註本身就會錯 - 而標註錯誤足以改變模型的評比結論(Northcutt et al., 2021);跨系統重複記錄</a:t>
            </a:r>
          </a:p>
          <a:p>
            <a:r>
              <a:t>【matrix-cell】W3-10 標註品質:誤報的操作型定義 + 判準手冊 + 黃金題</a:t>
            </a:r>
          </a:p>
          <a:p>
            <a:r>
              <a:t>【matrix-cell】目前不一致:同一段影片,不同複核者會給不同標籤(低頭 vs 閉眼、保溫瓶 vs 手機),而這個不一致從來沒有被量測過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P5 · 五條路,含三條不用 AI】　約 44 秒 · 195 字 · 累計 4:58</a:t>
            </a:r>
          </a:p>
          <a:p>
            <a:r>
              <a:t>── 講稿(照著唸)──</a:t>
            </a:r>
          </a:p>
          <a:p>
            <a:r>
              <a:t>路有五條。加人,迴路轉得更久,不會停。更便宜的是調班加人力池,我不先否決;六週後那道門用正式量測判:AI能處理的那段佔主要延遲才放行,否則轉排班。採用案是地端視覺語言模型讀事件影片。前兩包是它的必要前置:沒量測底座,就不知道它判得對不對。預期八成五的爭議件,機器有把握、直接結案,人不再看。這是推估不是實測;而人現在判得多準,我們沒量過。所以這六個月,它一筆都不對外生效——機器照出結論,人照常判,兩邊比對。這是唯一算得出自動結案漏放率的設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【matrix-name:選項 0</a:t>
            </a:r>
          </a:p>
          <a:p>
            <a:r>
              <a:t>加人】選項 0　加人</a:t>
            </a:r>
          </a:p>
          <a:p>
            <a:r>
              <a:t>【matrix-cell】以現行做法增聘專職複核人力,覆蓋全部既有客戶</a:t>
            </a:r>
          </a:p>
          <a:p>
            <a:r>
              <a:t>【matrix-cell】線性:量幾倍,人就要幾倍 → 需 17-24 人(現有 5 人)〔提案推算,非核定編制〕</a:t>
            </a:r>
          </a:p>
          <a:p>
            <a:r>
              <a:t>【matrix-cell】停不下來:編制是常態支出,而那個迴路照樣轉</a:t>
            </a:r>
          </a:p>
          <a:p>
            <a:r>
              <a:t>【matrix-cell】拒絕 - 加人只是沿著同一條成本曲線移動,不是把曲線整條外推(完整算式與迴路見下方卡片)</a:t>
            </a:r>
          </a:p>
          <a:p>
            <a:r>
              <a:t>【matrix-name:選項 0b</a:t>
            </a:r>
          </a:p>
          <a:p>
            <a:r>
              <a:t>調班 + 尖峰人力池】選項 0b　調班 + 尖峰人力池</a:t>
            </a:r>
          </a:p>
          <a:p>
            <a:r>
              <a:t>【matrix-cell】重排班表,把尖峰徵調的 7 位研發工程師從臨時支援變成有編組、有訓練的正式安排(尖峰徵調是現在就在跑的簡易版)</a:t>
            </a:r>
          </a:p>
          <a:p>
            <a:r>
              <a:t>【matrix-cell】仍線性,但斜率略低;削得掉尖峰,削不掉每日底量。⚠️ 斜率與削峰幅度目前沒有量測</a:t>
            </a:r>
          </a:p>
          <a:p>
            <a:r>
              <a:t>【matrix-cell】隨時可停、可退回原班表 - 五條路裡反悔成本最低的一條</a:t>
            </a:r>
          </a:p>
          <a:p>
            <a:r>
              <a:t>【matrix-cell】待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【matrix-name:選項 1</a:t>
            </a:r>
          </a:p>
          <a:p>
            <a:r>
              <a:t>規則式脈絡融合(不用機器學習)】選項 1　規則式脈絡融合(不用機器學習)</a:t>
            </a:r>
          </a:p>
          <a:p>
            <a:r>
              <a:t>【matrix-cell】定位 + 地圖速限硬規則比對,把畫面外的脈絡接到事件上</a:t>
            </a:r>
          </a:p>
          <a:p>
            <a:r>
              <a:t>【matrix-cell】一次性建置,之後整段下移一階、後續仍線性</a:t>
            </a:r>
          </a:p>
          <a:p>
            <a:r>
              <a:t>【matrix-cell】可逐條檢查、可回退到規則本身</a:t>
            </a:r>
          </a:p>
          <a:p>
            <a:r>
              <a:t>【matrix-cell】先做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【matrix-name:選項 2</a:t>
            </a:r>
          </a:p>
          <a:p>
            <a:r>
              <a:t>地端視覺語言模型事件判讀】選項 2　地端視覺語言模型事件判讀</a:t>
            </a:r>
          </a:p>
          <a:p>
            <a:r>
              <a:t>【matrix-cell】讓機器讀懂一次事件的完整脈絡(影片 + 客戶問題 + 規則),產出可交付的描述與證據包</a:t>
            </a:r>
          </a:p>
          <a:p>
            <a:r>
              <a:t>【matrix-cell】前期一次性投入,之後次線性 - 事件量繼續長,人時不跟著等比長。這是五條裡唯一不是線性的形狀</a:t>
            </a:r>
          </a:p>
          <a:p>
            <a:r>
              <a:t>【matrix-cell】三道門都可停:G1(W6)· G2(W12)· G3(W24);且六個月內對外自動結案 0%</a:t>
            </a:r>
          </a:p>
          <a:p>
            <a:r>
              <a:t>【matrix-cell】採用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【matrix-name:選項 3</a:t>
            </a:r>
          </a:p>
          <a:p>
            <a:r>
              <a:t>公司既有的雲端判讀規劃】選項 3　公司既有的雲端判讀規劃</a:t>
            </a:r>
          </a:p>
          <a:p>
            <a:r>
              <a:t>【matrix-cell】不在本案範圍,由技術長辦公室決定</a:t>
            </a:r>
          </a:p>
          <a:p>
            <a:r>
              <a:t>【matrix-cell】前置條件,不是競爭關係 - 雲端判定真假,誰判定雲端?本案提供它需要的可稽核量測與乾淨標註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56…</a:t>
            </a:r>
          </a:p>
          <a:p>
            <a:r>
              <a:t>【card:選項 0 的算式(照印,含對本案不利的部分)】合計   129.1-185.9 人時 / 8 小時 = 16…</a:t>
            </a:r>
          </a:p>
          <a:p>
            <a:r>
              <a:t>【card:選項 0 的算式(照印,含對本案不利的部分)】5.25 分/筆由一次實際判讀反推:5 人 x 3.…</a:t>
            </a:r>
          </a:p>
          <a:p>
            <a:r>
              <a:t>【card:選項 0 的算式(照印,含對本案不利的部分)】兩個尚未驗證的假設:①約 20 秒/筆是營運端…</a:t>
            </a:r>
          </a:p>
          <a:p>
            <a:r>
              <a:t>【card:選項 0 的算式(照印,含對本案不利的部分)】加人會讓迴路轉得更久,不會讓它停:裝機量…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可處理」(…</a:t>
            </a:r>
          </a:p>
          <a:p>
            <a:r>
              <a:t>【card:G1(第 6 週)= 因果判定門】出口 A:AI 可處理的那一堆佔主要延遲 → 放…</a:t>
            </a:r>
          </a:p>
          <a:p>
            <a:r>
              <a:t>【card:G1(第 6 週)= 因果判定門】出口 B:否則 → 轉選項 0b(調班 + 尖峰人…</a:t>
            </a:r>
          </a:p>
          <a:p>
            <a:r>
              <a:t>【card:G1(第 6 週)= 因果判定門】⚠️ 初步拆解已顯示 AI 可處理段佔全程 43…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到底是什麼(三層,一層都不可省)】本案層:🔴 六個月內對外自動結案覆蓋率目標…</a:t>
            </a:r>
          </a:p>
          <a:p>
            <a:r>
              <a:t>【card:這 85% 到底是什麼(三層,一層都不可省)】放行層:要讓它對外生效,需通過本案之外的…</a:t>
            </a:r>
          </a:p>
          <a:p>
            <a:r>
              <a:t>【card:這 85% 到底是什麼(三層,一層都不可省)】技術寫到概念層次:一套地端視覺語言模型…</a:t>
            </a:r>
          </a:p>
          <a:p>
            <a:r>
              <a:t>【card:這 85% 到底是什麼(三層,一層都不可省)】吞吐:1,000 支 15 秒事件影片約 10-16 分…</a:t>
            </a:r>
          </a:p>
          <a:p>
            <a:r>
              <a:t>【card:這 85% 到底是什麼(三層,一層都不可省)】怎麼驗:第 12 週用同一份凍結評估集,四臂…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P6 · 風險:七類十條,緩解位移與殘餘風險】　約 51 秒 · 223 字 · 累計 5:48</a:t>
            </a:r>
          </a:p>
          <a:p>
            <a:r>
              <a:t>── 講稿(照著唸)──</a:t>
            </a:r>
          </a:p>
          <a:p>
            <a:r>
              <a:t>選了這條,我先講它會出什麼事。風險歸成七類十條,我只講三條。第一,資料級聯:複核判準不一致會變成訓練標籤,脈絡資料有錯也會整批傳下去。第二,自動化偏差:介面一顯示模型信心,人就直接蓋章。我的決策是介面不顯示信心。但這個緩解只擋得住人還在看的那些 —— 移交後開到天花板,那八成五沒有介面、也沒有人。所以我另外加了兩條:機器把真的危險事件判成誤報,跟機器單方面駁回駕駛。兩條都掛在自動結案那道門上,不在這六個月裡。第三,法律面:曾判為誤報的紀錄,在事故舉證裡算什麼。這題我沒有答案,它由法務在 G1 前給書面意見。</a:t>
            </a:r>
          </a:p>
          <a:p>
            <a:r>
              <a:t>── 錄影提示(不唸)──</a:t>
            </a:r>
          </a:p>
          <a:p>
            <a:r>
              <a:t>· 錄影標記:唸完「這題我沒有答案,它由法務在 G1 前給書面意見」整句後,畫面停在 R8 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【matrix-name:R1 技術局限 · 成功 中</a:t>
            </a:r>
          </a:p>
          <a:p>
            <a:r>
              <a:t>模型不可解釋 → 複核者不信任】R1 技術局限 · 成功 中　模型不可解釋 → 複核者不信任</a:t>
            </a:r>
          </a:p>
          <a:p>
            <a:r>
              <a:t>【matrix-cell】解釋:輸出可讀的描述與　引用到的證據 (Rudin, 2019)</a:t>
            </a:r>
          </a:p>
          <a:p>
            <a:r>
              <a:t>【matrix-cell】錯的描述一樣通順,　比錯的分數更難察覺</a:t>
            </a:r>
          </a:p>
          <a:p>
            <a:r>
              <a:t>【matrix-cell】推翻模型判定的比例不降;　只看得到人有看的那些</a:t>
            </a:r>
          </a:p>
          <a:p>
            <a:r>
              <a:t>【matrix-name:R2 數據 · 成功 中</a:t>
            </a:r>
          </a:p>
          <a:p>
            <a:r>
              <a:t>資料級聯:判準與脈絡資料】R2 數據 · 成功 中　資料級聯:判準與脈絡資料</a:t>
            </a:r>
          </a:p>
          <a:p>
            <a:r>
              <a:t>【matrix-cell】審計:黃金題 + 抽樣雙人　複核 + 來源版本快照</a:t>
            </a:r>
          </a:p>
          <a:p>
            <a:r>
              <a:t>【matrix-cell】雙人複核使複核成本　近倍增,需以抽樣控制</a:t>
            </a:r>
          </a:p>
          <a:p>
            <a:r>
              <a:t>【matrix-cell】交通標誌根因佔比偏離基準　基準 = 某小型車隊單月樣本 83%</a:t>
            </a:r>
          </a:p>
          <a:p>
            <a:r>
              <a:t>【matrix-name:R3 數據｜自動化偏差 · 成功 中</a:t>
            </a:r>
          </a:p>
          <a:p>
            <a:r>
              <a:t>(Parasuraman &amp; Manzey, 2010)】R3 數據｜自動化偏差 · 成功 中　(Parasuraman &amp; Manzey, 2010)</a:t>
            </a:r>
          </a:p>
          <a:p>
            <a:r>
              <a:t>【matrix-cell】教育・介面 (Goddard et al., 2012)　介面不顯示信心 (Guo et al., 2017)</a:t>
            </a:r>
          </a:p>
          <a:p>
            <a:r>
              <a:t>【matrix-cell】不顯示信心使複核變慢,　與時效缺口相衝</a:t>
            </a:r>
          </a:p>
          <a:p>
            <a:r>
              <a:t>【matrix-cell】盲測組與對照組判定差異　超過設計書所訂容忍值</a:t>
            </a:r>
          </a:p>
          <a:p>
            <a:r>
              <a:t>【matrix-name:R4 倫理 · 成功 低</a:t>
            </a:r>
          </a:p>
          <a:p>
            <a:r>
              <a:t>駕駛本人沒有申訴管道】R4 倫理 · 成功 低　駕駛本人沒有申訴管道</a:t>
            </a:r>
          </a:p>
          <a:p>
            <a:r>
              <a:t>【matrix-cell】問責:申訴機制到位前,　產出不供個人考核使用</a:t>
            </a:r>
          </a:p>
          <a:p>
            <a:r>
              <a:t>【matrix-cell】限制用途會降低　客戶端採用意願</a:t>
            </a:r>
          </a:p>
          <a:p>
            <a:r>
              <a:t>【matrix-cell】駕駛端申訴無處可收,　件數恆為零</a:t>
            </a:r>
          </a:p>
          <a:p>
            <a:r>
              <a:t>【matrix-name:R5 社會性 · 成功 高</a:t>
            </a:r>
          </a:p>
          <a:p>
            <a:r>
              <a:t>複核團隊抵觸角色改變】R5 社會性 · 成功 高　複核團隊抵觸角色改變</a:t>
            </a:r>
          </a:p>
          <a:p>
            <a:r>
              <a:t>【matrix-cell】教育:角色轉型說明 +　判準手冊共同編寫</a:t>
            </a:r>
          </a:p>
          <a:p>
            <a:r>
              <a:t>【matrix-cell】參與式做法拉長　判準定案時程</a:t>
            </a:r>
          </a:p>
          <a:p>
            <a:r>
              <a:t>【matrix-cell】複核團隊留任率或　黃金題參與率下滑</a:t>
            </a:r>
          </a:p>
          <a:p>
            <a:r>
              <a:t>【matrix-name:R6 經濟 · 成功 中</a:t>
            </a:r>
          </a:p>
          <a:p>
            <a:r>
              <a:t>期內回本難證 · 與雲端競合】R6 經濟 · 成功 中　期內回本難證 · 與雲端競合</a:t>
            </a:r>
          </a:p>
          <a:p>
            <a:r>
              <a:t>【matrix-cell】審計:三道決策門　逐段釋出額度</a:t>
            </a:r>
          </a:p>
          <a:p>
            <a:r>
              <a:t>【matrix-cell】分段釋出使長週期　工作包難以排人</a:t>
            </a:r>
          </a:p>
          <a:p>
            <a:r>
              <a:t>【matrix-cell】決策門審查時單位成本　改善低於門檻</a:t>
            </a:r>
          </a:p>
          <a:p>
            <a:r>
              <a:t>【matrix-name:R7 組織與管理 · 成功 高</a:t>
            </a:r>
          </a:p>
          <a:p>
            <a:r>
              <a:t>缺管理層支持(誠實命中)】R7 組織與管理 · 成功 高　缺管理層支持(誠實命中)</a:t>
            </a:r>
          </a:p>
          <a:p>
            <a:r>
              <a:t>【matrix-cell】問責:贊助人指派 +　決策門出席為放行前提</a:t>
            </a:r>
          </a:p>
          <a:p>
            <a:r>
              <a:t>【matrix-cell】決策門增加治理負擔　與會議成本</a:t>
            </a:r>
          </a:p>
          <a:p>
            <a:r>
              <a:t>【matrix-cell】決策門連續兩次　無高階出席</a:t>
            </a:r>
          </a:p>
          <a:p>
            <a:r>
              <a:t>【matrix-name:R8 政治法律政策 · 尚無緩解</a:t>
            </a:r>
          </a:p>
          <a:p>
            <a:r>
              <a:t>「曾判為誤報」的舉證地位】R8 政治法律政策 · 尚無緩解　「曾判為誤報」的舉證地位</a:t>
            </a:r>
          </a:p>
          <a:p>
            <a:r>
              <a:t>【matrix-cell】問責:法務書面意見　於 G1(第 6 週)前到位</a:t>
            </a:r>
          </a:p>
          <a:p>
            <a:r>
              <a:t>【matrix-cell】無 —— 目前沒有　可執行的緩解措施</a:t>
            </a:r>
          </a:p>
          <a:p>
            <a:r>
              <a:t>【matrix-cell】客戶回頭標記的案件中　出現援引我方誤報的爭議</a:t>
            </a:r>
          </a:p>
          <a:p>
            <a:r>
              <a:t>【matrix-name:R9 倫理｜自動結案的漏放</a:t>
            </a:r>
          </a:p>
          <a:p>
            <a:r>
              <a:t>本案自己造成的 · 放行門在移交後】R9 倫理｜自動結案的漏放　本案自己造成的 · 放行門在移交後</a:t>
            </a:r>
          </a:p>
          <a:p>
            <a:r>
              <a:t>【matrix-cell】問責:六個月影子模式(對外 0%)　碰撞 / 疲勞 / 行人不自動結案</a:t>
            </a:r>
          </a:p>
          <a:p>
            <a:r>
              <a:t>【matrix-cell】抽樣稽核吃掉自動化　省下來的一部分(見資源頁)</a:t>
            </a:r>
          </a:p>
          <a:p>
            <a:r>
              <a:t>【matrix-cell】漏濾率(否決型):自動結案桶　與人工桶的漏放率差值 95% CI</a:t>
            </a:r>
          </a:p>
          <a:p>
            <a:r>
              <a:t>【matrix-name:R10 倫理｜自動結案的冤枉</a:t>
            </a:r>
          </a:p>
          <a:p>
            <a:r>
              <a:t>本案自己造成的 · 放行門在移交後】R10 倫理｜自動結案的冤枉　本案自己造成的 · 放行門在移交後</a:t>
            </a:r>
          </a:p>
          <a:p>
            <a:r>
              <a:t>【matrix-cell】問責:申訴即強制轉人工　且不得由同一模型複判</a:t>
            </a:r>
          </a:p>
          <a:p>
            <a:r>
              <a:t>【matrix-cell】轉人工的量與時效　回到人力瓶頸上</a:t>
            </a:r>
          </a:p>
          <a:p>
            <a:r>
              <a:t>【matrix-cell】申訴率與　申訴翻案率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P7 · 倫理與可申訴性:對照澳洲 AI 倫理八原則】　約 50 秒 · 219 字 · 累計 6:38</a:t>
            </a:r>
          </a:p>
          <a:p>
            <a:r>
              <a:t>── 講稿(照著唸)──</a:t>
            </a:r>
          </a:p>
          <a:p>
            <a:r>
              <a:t>還有一條,是我們自己造成的。這道人工防線的產能有限,所以它是配給的 —— 依客戶的購買量排序。同樣一個誤判,發生在大客戶身上會被人攔下來,小客戶身上不會。分配依據是客戶大小,不是風險大小。這六個月我能做的,是第一次量得出它覆蓋了誰。但我要說清楚:這個方案開到天花板之後,配給的依據會從客戶大小換成機器的信心,而那八成五沒有人看過 —— 那是我造成的新問題,不是我解掉的舊問題。所以八原則裡的問責跟可申訴性,我這一頁全部標紅,而它們掛在第二十四週那道門上。申訴機制到位前,本案產出不供個人考核使用。</a:t>
            </a:r>
          </a:p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【matrix-name:1 人類、社會與環境福祉</a:t>
            </a:r>
          </a:p>
          <a:p>
            <a:r>
              <a:t>期內同樣人力承接更高複核量;移交後那約 850 筆無人覆核〔推估,非實測〕】1 人類、社會與環境福祉　期內同樣人力承接更高複核量;移交後那約 850 筆無人覆核〔推估,非實測〕</a:t>
            </a:r>
          </a:p>
          <a:p>
            <a:r>
              <a:t>【matrix-name:2 以人為本的價值觀</a:t>
            </a:r>
          </a:p>
          <a:p>
            <a:r>
              <a:t>期內人仍逐筆判;移交後駕駛承受的是機器單方面的決定】2 以人為本的價值觀　期內人仍逐筆判;移交後駕駛承受的是機器單方面的決定</a:t>
            </a:r>
          </a:p>
          <a:p>
            <a:r>
              <a:t>【matrix-name:3 公平性 (Australian Human Rights Commission, 2020)</a:t>
            </a:r>
          </a:p>
          <a:p>
            <a:r>
              <a:t>期內排序仍依客戶購買量;移交後配給依據換成機器的信心】3 公平性 (Australian Human Rights Commission, 2020)　期內排序仍依客戶購買量;移交後配給依據換成機器的信心</a:t>
            </a:r>
          </a:p>
          <a:p>
            <a:r>
              <a:t>【matrix-name:4 隱私保護與安全</a:t>
            </a:r>
          </a:p>
          <a:p>
            <a:r>
              <a:t>擴大影像調閱與判定紀錄保存;唯一不因自動結案而惡化的一條】4 隱私保護與安全　擴大影像調閱與判定紀錄保存;唯一不因自動結案而惡化的一條</a:t>
            </a:r>
          </a:p>
          <a:p>
            <a:r>
              <a:t>【matrix-name:5 可靠性與安全性</a:t>
            </a:r>
          </a:p>
          <a:p>
            <a:r>
              <a:t>漏放率目前不存在,只有一份 39 筆人工觸發測試(獨立樣本,自註為下限)】5 可靠性與安全性　漏放率目前不存在,只有一份 39 筆人工觸發測試(獨立樣本,自註為下限)</a:t>
            </a:r>
          </a:p>
          <a:p>
            <a:r>
              <a:t>【matrix-name:6 透明性與解釋性</a:t>
            </a:r>
          </a:p>
          <a:p>
            <a:r>
              <a:t>對客戶揭露到哪一層尚未決定;移交後客戶不會知道那是機器判的】6 透明性與解釋性　對客戶揭露到哪一層尚未決定;移交後客戶不會知道那是機器判的</a:t>
            </a:r>
          </a:p>
          <a:p>
            <a:r>
              <a:t>【matrix-name:7 可申訴性</a:t>
            </a:r>
          </a:p>
          <a:p>
            <a:r>
              <a:t>只有車隊安全主管能標記,駕駛本人不能提出質疑】7 可申訴性　只有車隊安全主管能標記,駕駛本人不能提出質疑</a:t>
            </a:r>
          </a:p>
          <a:p>
            <a:r>
              <a:t>【matrix-cell】未達成　部署否決條件</a:t>
            </a:r>
          </a:p>
          <a:p>
            <a:r>
              <a:t>【matrix-name:8 問責性</a:t>
            </a:r>
          </a:p>
          <a:p>
            <a:r>
              <a:t>RACI 與三道決策門管的是專案;那 850 筆裡某一筆判錯,沒有人簽過名】8 問責性　RACI 與三道決策門管的是專案;那 850 筆裡某一筆判錯,沒有人簽過名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P8 · 怎麼算成功:三層 KPI,一條回圈】　約 46 秒 · 201 字 · 累計 7:24</a:t>
            </a:r>
          </a:p>
          <a:p>
            <a:r>
              <a:t>── 講稿(照著唸)──</a:t>
            </a:r>
          </a:p>
          <a:p>
            <a:r>
              <a:t>講完該不該做,接下來是怎麼算做成了。最上層第一個指標,是客戶等多久拿到分析,這是這個專案要買的東西。現況兩到五天,目標兩天內、單純案件當天;是客戶期望,不是已簽的服務水準協議。護欄層是否決型,今天多一條:漏濾率——機器說有把握、直接結案的那一桶裡,有多少其實該讓人看。第十二週交出它跟人工的差值,門檻第六週就要先訂,不能看完數據再訂。錯誤攔截比例我算不出來,分母還不存在,那正是護欄層要交的能力。訂不出目標值的,我寫的是它什麼時候被訂出來、由哪一道門訂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【matrix-cell】單件爭議從分析到回信的完整鏈路,平均 2–5 天;約半數超過兩天(營運端估計,不是量測,W6 交出正式量測)</a:t>
            </a:r>
          </a:p>
          <a:p>
            <a:r>
              <a:t>【matrix-cell】2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【matrix-cell】現況為配給制,依購買量與問題嚴重性排序;涵蓋率無紀錄,W6 建立</a:t>
            </a:r>
          </a:p>
          <a:p>
            <a:r>
              <a:t>【matrix-cell】本案期內維持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【matrix-cell】支撐全客戶 13,000+ 筆/天〔提案目標;所需人力由 G2 後依實測單位工時重估〕。驅動因子不在我方控制內 —— 由客戶的開通時點決定</a:t>
            </a:r>
          </a:p>
          <a:p>
            <a:r>
              <a:t>【matrix-cell】不做本案、以現行做法覆蓋全部既有客戶需 17–24 人(現有 5 人)</a:t>
            </a:r>
          </a:p>
          <a:p>
            <a:r>
              <a:t>【matrix-cell】做本案、移交後開到天花板需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【matrix-cell】批次複核約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【matrix-cell】兩者的正式量測都提前到 W6,與時間拆解同批交出;目標值於 G1 訂定 —— 全客戶人力推算與可避免成本都掛在這兩個單價上</a:t>
            </a:r>
          </a:p>
          <a:p>
            <a:r>
              <a:t>【matrix-cell】某小型車隊單月樣本 104 / 1,029 ≈ 10.1%(該樣本全部誤報 124 筆 = ADAS 104 + 駕駛監控約 20;本列只算 ADAS 側)</a:t>
            </a:r>
          </a:p>
          <a:p>
            <a:r>
              <a:t>【matrix-cell】降至 7% 以下〔提案目標;以該樣本為基準,G1 後依重新校準的量測重訂〕。只在人機系統軌量,第 12 週判 —— 🚫 不掛在模型本身</a:t>
            </a:r>
          </a:p>
          <a:p>
            <a:r>
              <a:t>【matrix-cell】現況 5–10%;同時是「駕駛端無效警示率」的可觀測代理</a:t>
            </a:r>
          </a:p>
          <a:p>
            <a:r>
              <a:t>【matrix-cell】尖峰徵調 7 位研發工程師(離開本職 · 非常態編制 · 非專職)</a:t>
            </a:r>
          </a:p>
          <a:p>
            <a:r>
              <a:t>【matrix-cell】期內建立峰值徵調人時的量測基準,目標值於 G2 訂定;歸零列為移交後目標</a:t>
            </a:r>
          </a:p>
          <a:p>
            <a:r>
              <a:t>【matrix-cell】不存在。唯一量測是一份 39 筆人工觸發測試,獨立樣本,公司自註為下限</a:t>
            </a:r>
          </a:p>
          <a:p>
            <a:r>
              <a:t>【matrix-cell】W6 交出帶 95% 信賴區間的點估計;上限值於 G1 由委員會核定</a:t>
            </a:r>
          </a:p>
          <a:p>
            <a:r>
              <a:t>【matrix-cell】否決 G1 放不放行後段工作 · 技術負責人</a:t>
            </a:r>
          </a:p>
          <a:p>
            <a:r>
              <a:t>【matrix-cell】W10 前建立基線,目標值於 G2 訂定</a:t>
            </a:r>
          </a:p>
          <a:p>
            <a:r>
              <a:t>【matrix-cell】否決 G2 准不准開放對照重訓 · 複核營運主管</a:t>
            </a:r>
          </a:p>
          <a:p>
            <a:r>
              <a:t>【matrix-cell】未達 100% 不移交(否決型,無中間值)</a:t>
            </a:r>
          </a:p>
          <a:p>
            <a:r>
              <a:t>【matrix-cell】定義:被分到「有把握、可直接結案」桶,但描述錯誤且該錯誤足以改變判定結論的比例。基準不存在 —— 自動結案機制尚未建立</a:t>
            </a:r>
          </a:p>
          <a:p>
            <a:r>
              <a:t>【matrix-cell】W12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【matrix-cell】否決自動結案能不能對外生效 —— 沒有它,分流率就等於把那部分風險藏進「機器有把握」那一桶 · 技術負責人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P9 · 六個月 · 六個工作包 · 三道決策門】　約 47 秒 · 208 字 · 累計 8:11</a:t>
            </a:r>
          </a:p>
          <a:p>
            <a:r>
              <a:t>── 講稿(照著唸)──</a:t>
            </a:r>
          </a:p>
          <a:p>
            <a:r>
              <a:t>六個月,六個工作包,三道門。順序不能換:評估集、標註、特徵,最後才是地端模型。第六週是因果判定門:交出時間拆解、兩天逾時率跟到件分布。證據搜尋跟誤報量佔主要延遲,才續行;不是,就轉排班。第十二週同一組凍結集比四臂:現行模型、規則式基線、人機協作,加一臂影子模式——機器自己結案、不對外送,跟人的判定比對。自動結案的漏放率,只有這一臂算得出來。這道門不能取消實驗,只能調整規模;要不要真的對外自動結案,不在這六個月決定。規則式今天就能做,為什麼排第五週?沒有前六週的基準線,證不出有效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【matrix-cell】現況的基準線。沒有它,後面三臂就沒有「比什麼」</a:t>
            </a:r>
          </a:p>
          <a:p>
            <a:r>
              <a:t>【matrix-cell】不含模型能解掉多少誤報。它是地端 VLM 的對照基線 —— 如果它就夠,本案的模型端該縮</a:t>
            </a:r>
          </a:p>
          <a:p>
            <a:r>
              <a:t>【matrix-cell】人工觸碰時間 · P90 回覆時間 · 判定品質。這是六個月內真正會上線的形態,誤報率也只能在這一軌量</a:t>
            </a:r>
          </a:p>
          <a:p>
            <a:r>
              <a:t>【matrix-cell】機器自己結案但不對外送,人照常逐筆判,兩邊比對</a:t>
            </a:r>
          </a:p>
          <a:p>
            <a:r>
              <a:t>【matrix-cell】🔴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P10 · 資源、當責與請求】　約 64 秒 · 280 字 · 累計 9:15</a:t>
            </a:r>
          </a:p>
          <a:p>
            <a:r>
              <a:t>── 講稿(照著唸)──</a:t>
            </a:r>
          </a:p>
          <a:p>
            <a:r>
              <a:t>三個輸入都印在上面,它是量級,不是報價。設備一台十六到二十萬,一次性,不到一個人一年成本的五分之一;這個專案的成本主體是人,不是設備。它也不是為單一用途買的:第二個應用是內部規格文件的技術問答,不在本次請求範圍內,但硬體的攤提對象不只一個。那筆擴編暴露不是承諾的節省;要第十二週實測證明能避免或延後至少一點四到一點七個 loaded FTE-year,業務也確認會轉成少招人或少徵調研發,才放行後續預算。我要的不只預算,是贊助人跟三道門。我請求核准六個月額度輪廓、分段釋出;第一段四點八五人月、量級新台幣四十二到四十七萬,第六週由贊助人決定續不續行。第二十四週我會回到這裡,交出三方比較結果:地端 VLM 有增量,或者沒有。</a:t>
            </a:r>
          </a:p>
          <a:p>
            <a:r>
              <a:t>→ 換下一頁</a:t>
            </a:r>
          </a:p>
          <a:p>
            <a:r>
              <a:t>── 備查(不唸,答辯用)──</a:t>
            </a:r>
          </a:p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【card:我請求核准的錢】G1(第 6 週)由贊助人決定是否續行 —— 它決定的是要不要續行剩下的工作,不是要不要開始</a:t>
            </a:r>
          </a:p>
          <a:p>
            <a:r>
              <a:t>【card:我請求核准的錢】第一段 = 評估底座全部 + 標註品質 / 脈絡…</a:t>
            </a:r>
          </a:p>
          <a:p>
            <a:r>
              <a:t>【card:我請求核准的錢】G1(第 6 週)由贊助人決定是否續行 —— 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【card:我請求核准的人】請委員會指定贊助人,並於 G1 前確認本案與…</a:t>
            </a:r>
          </a:p>
          <a:p>
            <a:r>
              <a:t>【card:我請求核准的人】組織障礙不在技術側:政策可改 · 優先序照…</a:t>
            </a:r>
          </a:p>
          <a:p>
            <a:r>
              <a:t>【card:六個月之後 / 不做的話】委員會手上會多三樣東西:① 一份可稽核的錯誤率 ② 一層把畫面外脈絡帶進事件的判斷層 ③ 一份證明或推翻「脈絡到底有沒有用」的對照實驗結果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天、小客戶繼…</a:t>
            </a:r>
          </a:p>
          <a:p>
            <a:r>
              <a:t>【card:六個月之後 / 不做的話】但這句必須交代對價:本案移交後開到天花板…</a:t>
            </a:r>
          </a:p>
          <a:p>
            <a:r>
              <a:t>【card:六個月之後 / 不做的話】受影響但不在核准鏈上:5 位專職分析人員(…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參考文獻(第 11 頁 — 不佔十頁額度)】　約 5 秒 · 21 字 · 累計 9:20</a:t>
            </a:r>
          </a:p>
          <a:p>
            <a:r>
              <a:t>── 講稿(照著唸)──</a:t>
            </a:r>
          </a:p>
          <a:p>
            <a:r>
              <a:t>這些是本提案引用的公開文獻,完整清單在這一頁。</a:t>
            </a:r>
          </a:p>
          <a:p>
            <a:r>
              <a:t>→ 換下一頁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7146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5457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05457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452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7146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9211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9211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452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71461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6766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766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452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275"/>
            <a:ext cx="5300319" cy="1082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579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355"/>
            <a:ext cx="5007711" cy="25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275"/>
            <a:ext cx="5300319" cy="10829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579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355"/>
            <a:ext cx="5007711" cy="25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75438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7559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48160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48160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48160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79940"/>
            <a:ext cx="45720" cy="49402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52508"/>
            <a:ext cx="2116945" cy="585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52508"/>
            <a:ext cx="2787914" cy="585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52508"/>
            <a:ext cx="3753794" cy="5854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8391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241472"/>
            <a:ext cx="10874959" cy="87235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241472"/>
            <a:ext cx="10509199" cy="8723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撈數據慢,是因為人要自己去查那個位置與那段路的速限;判讀慢,是因為模型只拿到一張圖。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69275"/>
            <a:ext cx="45720" cy="96440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241843"/>
            <a:ext cx="2116945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241843"/>
            <a:ext cx="278791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241843"/>
            <a:ext cx="3753794" cy="10558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416561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389129"/>
            <a:ext cx="211694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389129"/>
            <a:ext cx="278791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389129"/>
            <a:ext cx="3753794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84639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8463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730063"/>
          <a:ext cx="10874957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事件量(該樣本)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1,029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104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20 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該樣本人工判定為正確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這兩個比例共用同一把尺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尺的一致性我們從來沒量過 —— 不比誰準,只指出錯…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標註品質那一包第 10 週建立基線,G2 訂目標值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錯的是誰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缺口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脈絡:判定依據不在畫面裡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判準:同一段影片,不同複核者給不同標籤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5038959"/>
            <a:ext cx="45720" cy="6123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011527"/>
            <a:ext cx="2116945" cy="7037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6481" y="5011527"/>
            <a:ext cx="2787914" cy="7037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3652" y="5011527"/>
            <a:ext cx="3753794" cy="7037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34179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806747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6481" y="5806747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3652" y="5806747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990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7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990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761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927895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4910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2167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21671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21671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53452"/>
            <a:ext cx="45720" cy="56207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26020"/>
            <a:ext cx="2408822" cy="6535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26020"/>
            <a:ext cx="3152759" cy="6535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26020"/>
            <a:ext cx="4240255" cy="6535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58368" y="4948157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這一關難在哪(內部觀察)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對應的資料品質屬性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誰在什麼時候把它變成數字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收集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裝置離線與鏡頭遮蔽時段無…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完整性 · 及時性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W1-6 評估底座:分層抽樣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處理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感測器故障;人工標註本身…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準確性 · 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W3-10 標註品質:誤報的操…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處理後的理解程度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目前不一致:同一段影片…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可解釋性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W10 前建立複核者一致性基線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5" cy="179222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1903117"/>
                <a:gridCol w="1903117"/>
                <a:gridCol w="1903117"/>
                <a:gridCol w="19031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成本形狀(隨每日事件量怎麼長)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能不能停 · 反悔成本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判決 · 為什麼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　加人…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以現行做法增聘專職複…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線性:量幾倍,人就要…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停不下來:編制是常態…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拒絕 - 加人只是沿著…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0b　調班 + 尖峰人力池…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重排班表,把尖峰徵調…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仍線性,但斜率略低…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隨時可停、可退回原班…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待 G1 判定,本案不預…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1　規則式脈絡融合(不用機器學習)…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定位 + 地圖速限硬規…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一次性建置,之後整段…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可逐條檢查、可回退到…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先做 - 某小型車隊單…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選項 2　地端視覺語言模型事件判讀…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讓機器讀懂一次事件的…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前期一次性投入,之後…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三道門都可停:G1(W6)…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採用 - 前三包不是流…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選項 3　公司既有的雲端判讀規劃…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仍在研擬中的雲端判讀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尚未開始,曲線未定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不在本案範圍,由技術…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前置條件,不是競爭關…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072639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2006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66367" y="4822447"/>
            <a:ext cx="1711452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66367" y="4822447"/>
            <a:ext cx="17114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06495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2122" y="4072639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1850" y="42006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84367" y="4822447"/>
            <a:ext cx="82296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84367" y="482244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850" y="5206495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5876" y="4072639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5604" y="4200655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6276" y="4822447"/>
            <a:ext cx="14066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66276" y="4822447"/>
            <a:ext cx="14066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提案推估,非實測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5604" y="5206495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能力層:以現行小模型的表現外推,預期約 85…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800855"/>
            <a:ext cx="9658807" cy="709672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5800855"/>
            <a:ext cx="9293047" cy="709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2552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緩解(治理四道)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緩解自己的代價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偵測訊號 (NIST, 2023)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R1 技術局限 · 成功 中　模型不可…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解釋:輸出可讀的描述與　引用到…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錯的描述一樣通順,　比錯的分數…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推翻模型判定的比例不降;　只看…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R2 數據 · 成功 中　資料級聯:判…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審計:黃金題 + 抽樣雙人　複核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雙人複核使複核成本　近倍增,需…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交通標誌根因佔比偏離基準　基準…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R3 數據｜自動化偏差 · 成功 中…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教育・介面 (Goddard et al.,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不顯示信心使複核變慢,　與時效…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盲測組與對照組判定差異　超過設…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R4 倫理 · 成功 低　駕駛本人沒有…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問責:申訴機制到位前,　產出不…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　客戶端採用意願…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駕駛端申訴無處可收,　件數恆為…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R5 社會性 · 成功 高　複核團隊抵…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教育:角色轉型說明 +　判準手冊…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參與式做法拉長　判準定案時程…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複核團隊留任率或　黃金題參與率…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R6 經濟 · 成功 中　期內回本難證…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審計:三道決策門　逐段釋出額度…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分段釋出使長週期　工作包難以排…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決策門審查時單位成本　改善低於…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R7 組織與管理 · 成功 高　缺管理…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問責:贊助人指派 +　決策門出席…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決策門增加治理負擔　與會議成本…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決策門連續兩次　無高階出席…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R8 政治法律政策 · 尚無緩解　「…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問責:法務書面意見　於 G1(第 6…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無 —— 目前沒有　可執行的緩解…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客戶回頭標記的案件中　出現援引…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R9 倫理｜自動結案的漏放　本案自…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問責:六個月影子模式(對外 0%)…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抽樣稽核吃掉自動化　省下來的一…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漏濾率(否決型):自動結案桶　與…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R10 倫理｜自動結案的冤枉　本案…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問責:申訴即強制轉人工　且不得…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轉人工的量與時效　回到人力瓶頸…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申訴率與　申訴翻案率…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10332"/>
            <a:ext cx="9658807" cy="70019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10332"/>
            <a:ext cx="9293047" cy="7001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倫理八原則(2019)· 專案期 綠 0 琥珀 7 紅 1;移交後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981227"/>
                <a:gridCol w="2446865"/>
                <a:gridCol w="24468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專案期(影子模式)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移交後(開到天花板)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人類、社會與環境福祉　期內同樣人力承接更高複核量;移交後那約 850 筆無人…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以人為本的價值觀　期內人仍逐筆判;移交後駕駛承受的是機器單方面的決定…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公平性 (Australian Human Rights Commission, 2020)　期內排序仍依客戶…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隱私保護與安全　擴大影像調閱與判定紀錄保存;唯一不因自動結案而惡化的一條…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5 可靠性與安全性　漏放率目前不存在,只有一份 39 筆人工觸發測試(獨立樣本,自…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透明性與解釋性　對客戶揭露到哪一層尚未決定;移交後客戶不會知道那是機器判…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可申訴性　只有車隊安全主管能標記,駕駛本人不能提出質疑…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　部署否決條件…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問責性　RACI 與三道決策門管的是專案;那 850 筆裡某一筆判錯,沒有人簽過名…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部分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未達成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646406"/>
            <a:ext cx="9658807" cy="86412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646406"/>
            <a:ext cx="9293047" cy="8641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那正是把它們變回琥珀的唯一路徑。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91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22128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指標(層別)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今天的基準 · 母體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業務① 客戶爭議回覆時效｜主要業務價值指標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單件爭議從分析到回信的完整鏈路,平均 2–5 天;約…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天內;單純案件當天〔提案目標 · 客戶期望,非已…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業務② 獲得人工驗證判定的客戶涵蓋率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現況為配給制,依購買量與問題嚴重性排序;涵蓋率…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本案期內維持 100%(影子模式,機器不對外結案)。…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業務③ 可服務的每日事件量上限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現況撐一個大型車隊約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支撐全客戶 13,000+ 筆/天〔提案目標;所需人力…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業務④ 可避免的年度增聘成本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不做本案、以現行做法覆蓋全部既有客戶需 17–24 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做本案、移交後開到天花板需 11–12 人(仍須增聘 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營運⑤⑥ 兩條工作流的每筆人工工時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批次複核約 20 秒/筆(全量;營運端實務估計,尚未…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兩者的正式量測都提前到 W6,與時間拆解同批交出…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營運⑦ ADAS ·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某小型車隊單月樣本 104 / 1,029 ≈ 10.1%(該樣…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7% 以下〔提案目標;以該樣本為基準,G1 後依…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營運⑧ 客戶回頭標記率(越低越好)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 5–10%;同時是「駕駛端無效警示率」的可觀測…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降至 5% 以下〔提案目標〕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營運⑨ 尖峰徵調研發人時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尖峰徵調 7 位研發工程師(離開本職 · 非常態編制…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期內建立峰值徵調人時的量測基準,目標值於 G2 訂…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5010912"/>
          <a:ext cx="9658805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2253721"/>
                <a:gridCol w="2253721"/>
                <a:gridCol w="2253721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護欄層｜否決型 · 任一未達標不移交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⑩ 漏放率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不存在。唯一量測是一份 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W6 交出帶 95% 信賴區間…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G1 放不放行後段工…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⑪ 複核者一致性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現況未量測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W10 前建立基線,目標值於…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否決 G2 准不准開放對照…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⑫ 訓練資料可追溯率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100%,無中間值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未達 100% 不移交(否決型…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⑬ 漏濾率(本輪新增)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定義:被分到「有把握、可…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W12 由影子模式軌交出「…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否決自動結案能不能對外生…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91797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357757"/>
            <a:ext cx="45720" cy="39179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330325"/>
            <a:ext cx="2408822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330325"/>
            <a:ext cx="3152759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330325"/>
            <a:ext cx="4240255" cy="48323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41578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06959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0613" y="369138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0613" y="369138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075434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2941578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06959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7721" y="3691386"/>
            <a:ext cx="201625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7721" y="3691386"/>
            <a:ext cx="20162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只能改規模,不能取消實驗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075434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2941578"/>
            <a:ext cx="352745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06959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58122" y="3691386"/>
            <a:ext cx="82296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58122" y="369138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075434"/>
            <a:ext cx="3307994" cy="338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58368" y="4669794"/>
          <a:ext cx="9658806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97642"/>
                <a:gridCol w="3380582"/>
                <a:gridCol w="338058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G2 的四臂(同一凍結評估集)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這一臂誰在判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現行影像模型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機器初判,人全數複核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現況的基準線。沒有它,後面三臂就沒有「比…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規則式脈絡基線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規則式脈絡層 + 人全數複核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不含模型能解掉多少誤報。它是地端 VLM 的…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人機協作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機器輔助、人判定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人工觸碰時間 · P90 回覆時間 · 判定品質…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影子模式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機器自己結案但不對外送,人照常逐筆判,兩…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自動結案桶與人工桶的漏放率差值(95% 信…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37485"/>
            <a:ext cx="45720" cy="77152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710053"/>
            <a:ext cx="2408822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710053"/>
            <a:ext cx="3152759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710053"/>
            <a:ext cx="4240255" cy="86296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908403"/>
            <a:ext cx="3527450" cy="16883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036419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55927" y="4658211"/>
            <a:ext cx="11323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55927" y="4658211"/>
            <a:ext cx="11323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5042259"/>
            <a:ext cx="3307994" cy="426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908403"/>
            <a:ext cx="3527450" cy="168836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4036419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86831" y="4658211"/>
            <a:ext cx="10180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86831" y="4658211"/>
            <a:ext cx="1018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5042259"/>
            <a:ext cx="3307994" cy="426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908403"/>
            <a:ext cx="3527450" cy="16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4036419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36786" y="4658211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6786" y="4658211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5042259"/>
            <a:ext cx="3307994" cy="426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一份可稽核的錯…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5724780"/>
            <a:ext cx="9658807" cy="78574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5724780"/>
            <a:ext cx="9293047" cy="7857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NT$1,248–2,223 萬 —— 這是反事實成本暴露,不是本案承諾的節省。② 完整專案的人力成本約等於 1.…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