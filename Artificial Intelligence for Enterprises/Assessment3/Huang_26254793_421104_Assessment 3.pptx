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約 5 秒 · 23 字 · 累計 0:05</a:t>
            </a:r>
          </a:p>
          <a:p>
            <a:r>
              <a:t>── 講稿(照著唸)──</a:t>
            </a:r>
          </a:p>
          <a:p>
            <a:r>
              <a:t>今天,五個人要看完三千支影片;而客戶要的答案,兩天內。</a:t>
            </a:r>
          </a:p>
          <a:p>
            <a:r>
              <a:t>→ 換下一頁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約 65 秒 · 288 字 · 累計 1:10</a:t>
            </a:r>
          </a:p>
          <a:p>
            <a:r>
              <a:t>── 講稿(照著唸)──</a:t>
            </a:r>
          </a:p>
          <a:p>
            <a:r>
              <a:t>地端 AI 的技術可行性,公司內部評估過,我是其中一員。今天我不是提一個新點子,是把它從技術研討,變成一個有業務數字、有驗證機制、有停止條件的正式立案。要建的能力:讓機器讀懂一次事件的完整脈絡——影片、客戶問題、規則——產出可交付的證據與描述。兩階段架構各位熟悉,自動化到第二階段就停了:剩下每一筆,都要由人看過。這道防線有兩種單價。看畫面就能判的,一筆二十秒。要離開畫面去找證據的——那面牌是什麼、速限多少——一筆五分多鐘。差約十六倍,差別不在人,在證據在不在畫面裡。我請委員會核准一個六個月、三道決策門的專案:在客戶要的兩天內交出分析,第一次量得到自己漏掉什麼。要建它,得先有凍結的評估集、一致的標註、餵進模型的脈絡,那是前三個工作包。本案不重新開啟架構選擇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【card:車上裝置 · 即時初判】一個「事件」= 一段影片 + 時間地點 + 系統給的分類</a:t>
            </a:r>
          </a:p>
          <a:p>
            <a:r>
              <a:t>【card:車上裝置 · 即時初判】單一大型車隊約 3,000 筆/天</a:t>
            </a:r>
          </a:p>
          <a:p>
            <a:r>
              <a:t>【card:雲端 · 複判】自動化到這裡就停了</a:t>
            </a:r>
          </a:p>
          <a:p>
            <a:r>
              <a:t>【card:人工防線 · 5 位專職分析人員 · 逐筆】一次「爭議」= 客戶回頭說「這筆判錯了」;約 5–10% 的事件會被客戶回頭標記 —— 那筆是客戶先看到,我們後知道</a:t>
            </a:r>
          </a:p>
          <a:p>
            <a:r>
              <a:t>【card:人工防線 · 5 位專職分析人員 · 逐筆】一次「爭議」= 客戶回頭說「這筆判錯了」;約 5–10% 的事件會被客戶回頭標記 —— 那筆是客…</a:t>
            </a:r>
          </a:p>
          <a:p>
            <a:r>
              <a:t>【card:人工防線 · 5 位專職分析人員 · 逐筆】尖峰時另徵調 7 位研發工程師離開本職</a:t>
            </a:r>
          </a:p>
          <a:p>
            <a:r>
              <a:t>【compare:例行批次複核 · 全量,每一筆都看】營運端的實務估計,尚未以計時量測驗證</a:t>
            </a:r>
          </a:p>
          <a:p>
            <a:r>
              <a:t>【compare:例行批次複核 · 全量,每一筆都看】當責:複核營運主管 · 第 6 週交出正式基準 · G1 驗收後才據以重估</a:t>
            </a:r>
          </a:p>
          <a:p>
            <a:r>
              <a:t>【compare:客戶爭議深入判讀 · 只發生在客戶回頭標記的 5–10%】由一次實際判讀反推:5 人 × 3.6 個工作日 × 8 小時 ÷ 1,647 筆</a:t>
            </a:r>
          </a:p>
          <a:p>
            <a:r>
              <a:t>【compare:客戶爭議深入判讀 · 只發生在客戶回頭標記的 5–10%】樣本:某小型車隊 · 單月 · 4 台車 · 23 天;不含整理與回信</a:t>
            </a:r>
          </a:p>
          <a:p>
            <a:r>
              <a:t>【rows】{'label': '今天的量', 'value': '29.8–42.9 人時/天', 'note': '單一大型車隊約 3,000 筆/天;提案人依現有單價推算', 'hot': False}</a:t>
            </a:r>
          </a:p>
          <a:p>
            <a:r>
              <a:t>【rows-value[本案要建的 AI 能力]】讓機器讀懂一次事件的完整脈絡(影片 + 客戶問題 + 規則),並產出可交付的證據與描述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約 72 秒 · 317 字 · 累計 2:22</a:t>
            </a:r>
          </a:p>
          <a:p>
            <a:r>
              <a:t>── 講稿(照著唸)──</a:t>
            </a:r>
          </a:p>
          <a:p>
            <a:r>
              <a:t>利用率七成四到一百零七:平均還好,尖峰這五個人已經不夠——折算三點七到五點四人,我們只有五個。一件爭議目前要兩到五天,現況約一半超過兩天;客戶要兩天、單純案件當天,那是客戶期望,不是簽了的服務水準。這兩到五天花在哪裡,我拆開了:排隊零到一天、撈數據半天、判讀一到三天、內部覆核半天、回信半天。撈數據加判讀,就是模型幫得上的那兩段,佔四成到八成。這兩段之所以慢,是同一個原因——模型看不到畫面外的東西。這是營運端估計,不是量測;前六週交出正式拆解,不成立就轉排班。二十秒是營運上的估計,還沒有正式量過——第六週交出正式基準,G1 驗收。上線約五萬台,售出更多;落差就是排不了程的工作量,開通權在客戶手上。我不預測撞牆的時點;第六週對齊三個分母,成長不納入回報估算。成長是階梯:一個大型車隊上線,事件量一次跳兩成三,手上正在談一個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【rows】{'label': '尖峰徵調 7 位研發工程師', 'value': '不是管理失當,是算術的必然', 'note': '離開本職支援、非常態編制 —— 開發產能被拿去補分析產能', 'hot': False}</a:t>
            </a:r>
          </a:p>
          <a:p>
            <a:r>
              <a:t>【rows】{'label': '量已經不是瓶頸', 'value': '全客戶 13,000 筆/天,地端約 2.2–3.5 小時跑完,設備佔用率約 9%–15%', 'note': '⚠ 估算,非實測;此數只含每日全量批次初篩,不含客戶爭議深挖那條路徑(其吞吐量由 W1–6 量測)。瓶頸是判準與驗證,不是量', 'hot': False}</a:t>
            </a:r>
          </a:p>
          <a:p>
            <a:r>
              <a:t>【rows-value[今天的利用率]】74%–107%(29.8–42.9 ÷ 40 人時/天);折算 3.7–5.4 人,現有 5 人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約 52 秒 · 230 字 · 累計 3:14</a:t>
            </a:r>
          </a:p>
          <a:p>
            <a:r>
              <a:t>── 講稿(照著唸)──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P4 · 我們看不見的那一半:有資料,沒有習慣】　約 59 秒 · 259 字 · 累計 4:13</a:t>
            </a:r>
          </a:p>
          <a:p>
            <a:r>
              <a:t>── 講稿(照著唸)──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【compare:看得見的一半:誤報 - 量得到】代價:誤報只花我們的人時,可以換算成錢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約 44 秒 · 195 字 · 累計 4:58</a:t>
            </a:r>
          </a:p>
          <a:p>
            <a:r>
              <a:t>── 講稿(照著唸)──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【card:選項 0 的算式(照印,含對本案不利的部分)】批次   13,000 x 20 秒 = 72.2 人時(13,000+ 筆/天 = 全客戶每日平均總事件量,雲端伺服器實測統計)</a:t>
            </a:r>
          </a:p>
          <a:p>
            <a:r>
              <a:t>【card:選項 0 的算式(照印,含對本案不利的部分)】合計   129.1-185.9 人時 / 8 小時 = 16.14-23.24 FTE → 取整員額 17-24 人(保產能只能無條件進位;現有 5 人);工作量比 = 129.1 / 29.8 = 4.33 倍,這就是「四倍以上」的算術依據</a:t>
            </a:r>
          </a:p>
          <a:p>
            <a:r>
              <a:t>【card:選項 0 的算式(照印,含對本案不利的部分)】5.25 分/筆由一次實際判讀反推:5 人 x 3.6 個分析日 x 8 小時 = 144 人時 / 1,647 筆。這是單一批次的實際節奏,不是長期平均</a:t>
            </a:r>
          </a:p>
          <a:p>
            <a:r>
              <a:t>【card:選項 0 的算式(照印,含對本案不利的部分)】兩個尚未驗證的假設:①約 20 秒/筆是營運端的實務估計,尚未以計時量測驗證 ②假設所有客戶有相同的案件組合與 5-10% 的爭議比例。兩項都由 W1-6 檢驗、G1 上桌;任一項被推翻,17-24 人要重算</a:t>
            </a:r>
          </a:p>
          <a:p>
            <a:r>
              <a:t>【card:選項 0 的算式(照印,含對本案不利的部分)】加人會讓迴路轉得更久,不會讓它停:裝機量成長 → 複核量成長 → 人力吃緊 → 標註品質不穩 → 回流訓練資料不穩 → 誤報降不下來 → 複核量繼續成長。低品質標註會沿著訓練流程往下游放大(資料級聯)(Sambasivan et al., 2021)</a:t>
            </a:r>
          </a:p>
          <a:p>
            <a:r>
              <a:t>【card:選項 0 的算式(照印,含對本案不利的部分)】爭議   13,000 x 5-10% x 5.25 分 = 56.8-113.7 人時</a:t>
            </a:r>
          </a:p>
          <a:p>
            <a:r>
              <a:t>【card:選項 0 的算式(照印,含對本案不利的部分)】合計   129.1-185.9 人時 / 8 小時 = 16.14-23.24 FTE → 取整員額 17-24 人(保產能只…</a:t>
            </a:r>
          </a:p>
          <a:p>
            <a:r>
              <a:t>【card:選項 0 的算式(照印,含對本案不利的部分)】5.25 分/筆由一次實際判讀反推:5 人 x 3.6 個分析日 x 8 小時 = 144 人時 / 1,647 筆…</a:t>
            </a:r>
          </a:p>
          <a:p>
            <a:r>
              <a:t>【card:選項 0 的算式(照印,含對本案不利的部分)】兩個尚未驗證的假設:①約 20 秒/筆是營運端的實務估計,尚未以計時量測驗證 ②假設所有客戶…</a:t>
            </a:r>
          </a:p>
          <a:p>
            <a:r>
              <a:t>【card:選項 0 的算式(照印,含對本案不利的部分)】加人會讓迴路轉得更久,不會讓它停:裝機量成長 → 複核量成長 → 人力吃緊 → 標註品質不穩 …</a:t>
            </a:r>
          </a:p>
          <a:p>
            <a:r>
              <a:t>【card:G1(第 6 週)= 因果判定門】W1-6 要交出:一件客戶爭議的時間拆解(等待排隊 0-1 天 · 撈數據 0.5 天 · 判讀 1-3 天 · 內部覆核 0.5 天 · 回信 0.5 天 = 合計 2.5-5.5 天)· 兩天逾時率 · 尖峰到件分布 · 抽幀率的召回率比較</a:t>
            </a:r>
          </a:p>
          <a:p>
            <a:r>
              <a:t>【card:G1(第 6 週)= 因果判定門】怎麼判:把五段分成兩堆 - 「AI 可處理」(撈數據 · 判讀 · 證據包製作)與「AI 不可處理」(排隊 · 排班 · 人力調度)</a:t>
            </a:r>
          </a:p>
          <a:p>
            <a:r>
              <a:t>【card:G1(第 6 週)= 因果判定門】⚠️ 初步拆解已顯示 AI 可處理段佔全程 43%-78%,但那是營運端的一次口述拆解,不是系統量測;W1-6 要把它做成正式量測,判定規則不因初步結果而放寬。六週買一個答案,答案不對就不做後面</a:t>
            </a:r>
          </a:p>
          <a:p>
            <a:r>
              <a:t>【card:G1(第 6 週)= 因果判定門】怎麼判:把五段分成兩堆 - 「AI 可處理」(撈數據 · 判讀 · 證據包製作)與「AI 不可處理」…</a:t>
            </a:r>
          </a:p>
          <a:p>
            <a:r>
              <a:t>【card:G1(第 6 週)= 因果判定門】出口 A:AI 可處理的那一堆佔主要延遲 → 放行選項 1 / 2 的後段</a:t>
            </a:r>
          </a:p>
          <a:p>
            <a:r>
              <a:t>【card:G1(第 6 週)= 因果判定門】出口 B:否則 → 轉選項 0b(調班 + 尖峰人力池),本案的後五個工作包不執行</a:t>
            </a:r>
          </a:p>
          <a:p>
            <a:r>
              <a:t>【card:G1(第 6 週)= 因果判定門】⚠️ 初步拆解已顯示 AI 可處理段佔全程 43%-78%,但那是營運端的一次口述拆解,不是系統量…</a:t>
            </a:r>
          </a:p>
          <a:p>
            <a:r>
              <a:t>【card:這 85% 到底是什麼(三層,一層都不可省)】能力層:以現行小模型的表現外推,預期約 85% 的爭議件機器有把握、可直接結案 - 1,000 筆進來約 850 筆,剩約 150 筆送人細看。對那些件而言那就是終局判定〔提案推估,非實測;母體只有客戶爭議段,不含每日全量批次複核〕</a:t>
            </a:r>
          </a:p>
          <a:p>
            <a:r>
              <a:t>【card:這 85% 到底是什麼(三層,一層都不可省)】本案層:🔴 六個月內對外自動結案覆蓋率目標 = 0%。W12-24 只跑影子模式 - 機器照樣出結論但不對外送,人照常逐筆判,兩邊比對。這是唯一算得出自動結案漏放率的設計</a:t>
            </a:r>
          </a:p>
          <a:p>
            <a:r>
              <a:t>【card:這 85% 到底是什麼(三層,一層都不可省)】技術寫到概念層次:一套地端視覺語言模型,篩檢與深挖兩種負載由同一台設備分時處理;實際選型與量化規格於 G1 依 W1-6 的量測定案 - 它直接決定要買幾台</a:t>
            </a:r>
          </a:p>
          <a:p>
            <a:r>
              <a:t>【card:這 85% 到底是什麼(三層,一層都不可省)】吞吐:1,000 支 15 秒事件影片約 10-16 分〔估算,非實測;依一組公開可得模型的公開吞吐特性推估〕;同一批人以 1.0 倍速看完約 250 分</a:t>
            </a:r>
          </a:p>
          <a:p>
            <a:r>
              <a:t>【card:這 85% 到底是什麼(三層,一層都不可省)】怎麼驗:第 12 週用同一份凍結評估集,四臂同場比 - 現行影像模型 / 規則式脈絡基線 / VLM 輔助人工 / 影子模式。G2 只能調整模型假設與規模,不能取消這個實驗</a:t>
            </a:r>
          </a:p>
          <a:p>
            <a:r>
              <a:t>【card:這 85% 到底是什麼(三層,一層都不可省)】本案層:🔴 六個月內對外自動結案覆蓋率目標 = 0%。W12-24 只跑影子模式 - 機器照樣出結論…</a:t>
            </a:r>
          </a:p>
          <a:p>
            <a:r>
              <a:t>【card:這 85% 到底是什麼(三層,一層都不可省)】放行層:要讓它對外生效,需通過本案之外的一道獨立門,不在本次請求範圍</a:t>
            </a:r>
          </a:p>
          <a:p>
            <a:r>
              <a:t>【card:這 85% 到底是什麼(三層,一層都不可省)】技術寫到概念層次:一套地端視覺語言模型,篩檢與深挖兩種負載由同一台設備分時處理;實際選…</a:t>
            </a:r>
          </a:p>
          <a:p>
            <a:r>
              <a:t>【card:這 85% 到底是什麼(三層,一層都不可省)】吞吐:1,000 支 15 秒事件影片約 10-16 分〔估算,非實測;依一組公開可得模型的公開吞吐特…</a:t>
            </a:r>
          </a:p>
          <a:p>
            <a:r>
              <a:t>【card:這 85% 到底是什麼(三層,一層都不可省)】怎麼驗:第 12 週用同一份凍結評估集,四臂同場比 - 現行影像模型 / 規則式脈絡基線 / VLM…</a:t>
            </a:r>
          </a:p>
          <a:p>
            <a:r>
              <a:t>【callout】⚠️ 85% 是分流率:它決定「這筆要不要人細看」,不是「這筆是不是誤報」;它與偵測誤報率量的不是同一件事,不可比、不可並排、不可相減。而人現在判得多準,我們沒有量過 - 所以我也不知道 85% 是進步還是退步,那正是第一個工作包要建的東西。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約 51 秒 · 223 字 · 累計 5:48</a:t>
            </a:r>
          </a:p>
          <a:p>
            <a:r>
              <a:t>── 講稿(照著唸)──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約 50 秒 · 219 字 · 累計 6:38</a:t>
            </a:r>
          </a:p>
          <a:p>
            <a:r>
              <a:t>── 講稿(照著唸)──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約 46 秒 · 201 字 · 累計 7:24</a:t>
            </a:r>
          </a:p>
          <a:p>
            <a:r>
              <a:t>── 講稿(照著唸)──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【callout】這一頁不是外掛的合規章節:上面兩層回答「怎麼證明這個 AI 真的有效」,護欄層回答「什麼情況下要喊停」。護欄層任一未達標,上面兩層的成績一律不採計。參照 Australia's AI Ethics Principles (2019) 第七條可申訴性 —— 被機器處理掉的事件必須有人能提出質疑;把它做成否決型指標,是本提案自己的設計決定,不是該文獻的主張。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約 47 秒 · 208 字 · 累計 8:11</a:t>
            </a:r>
          </a:p>
          <a:p>
            <a:r>
              <a:t>── 講稿(照著唸)──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【】一套地端視覺語言模型,篩檢與深挖兩種負載由同一台設備分時處理;實際選型與量化規格於 G1 依 W1–6 的量測定案(概念層次)。W8–12 最小離線試驗 → W12–24 只跑影子模式:機器照樣出結論但不對外送,人照常逐筆判,兩邊比對。總投入 4.50 人月不變,係 WP-E 內部人力前移,不增加總人月</a:t>
            </a:r>
          </a:p>
          <a:p>
            <a:r>
              <a:t>【】交:公司第一份可稽核的錯誤率(含 95% 信賴區間)· 冷凍評估集 · 兩條工作流的單位工時正式基準 · 每案「結案方向」的黃金答案標籤 · 爭議處理的時間拆解、兩天逾時率、尖峰到件分布。公開數據:資料工作佔掉分析人員約八成時間 (Press, 2016) —— 前三包份量偏重是產業常態,不是計畫灌水</a:t>
            </a:r>
          </a:p>
          <a:p>
            <a:r>
              <a:t>【】交:規則式脈絡層(刻意先做不含模型的版本,它同時是地端 VLM 的對照基線)· 誤報下降量測 (Rudin, 2019)。規則式今天就能做,排第五週是因為沒有前六週的基準線就證不出它有效 —— 這個取捨我提出來,決定權在各位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 (Rudin, 2019)。規則式今天就能做,排第五週是因為沒有前六週的基準線就證不出它有效 —— 這個取捨我提出來,決定權在各位'}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【rows[0]WP-A 評估底座｜AI 的前置】交:公司第一份可稽核的錯誤率(含 95% 信賴區間)· 冷凍評估集 · 兩條工作流的單位工時正式基準 · 每案「結案方向」的黃金答案標籤 · 爭議處理的時間拆解、兩天逾時率、尖峰到件分布。公開數據:資料工作佔掉分析人員約八成時間 (Press, 2016) —— 前三包份量偏重是產業常態,不是計畫灌水</a:t>
            </a:r>
          </a:p>
          <a:p>
            <a:r>
              <a:t>【rows[1]WP-E 地端 VLM 事件判讀｜🔴 本案唯一的 AI 主體】一套地端視覺語言模型,篩檢與深挖兩種負載由同一台設備分時處理;實際選型與量化規格於 G1 依 W1–6 的量測定案(概念層次)。W8–12 最小離線試驗 → W12–24 只跑影子模式:機器照樣出結論但不對外送,人照常逐筆判,兩邊比對。總投入 4.50 人月不變,係 WP-E 內部人力前移,不增加總人月</a:t>
            </a:r>
          </a:p>
          <a:p>
            <a:r>
              <a:t>【card:G1 · 第 6 週｜因果判定門】交:時間拆解(等待 / 找證據 / 判讀 / 內部覆核 / 回信)· 兩天逾時率 · 尖峰到件分布 · 抽幀率對交通標誌召回率的比較(它直接決定要買幾台)</a:t>
            </a:r>
          </a:p>
          <a:p>
            <a:r>
              <a:t>【card:G1 · 第 6 週｜因果判定門】🔴 停的條件一:只有當「證據搜尋、誤報量與證據包製作」佔主要延遲,才續行後段;否則本案轉為排班與尖峰人力池方案</a:t>
            </a:r>
          </a:p>
          <a:p>
            <a:r>
              <a:t>【card:G1 · 第 6 週｜因果判定門】同時要事前預註冊漏濾率的非劣性邊際 δ —— 判準必須寫在跑實驗之前。初步拆解顯示 AI 可處理段(找證據 + 判讀)佔全程 43%–78%,為營運端的初步估計,W1–6 交可稽核版本</a:t>
            </a:r>
          </a:p>
          <a:p>
            <a:r>
              <a:t>【card:G1 · 第 6 週｜因果判定門】🔴 停的條件一:只有當「證據搜尋、誤報量與證據包製作」佔主要延遲,才續行後段;否則本案轉…</a:t>
            </a:r>
          </a:p>
          <a:p>
            <a:r>
              <a:t>【card:G1 · 第 6 週｜因果判定門】🔴 停的條件二:評估底座未產出 → 剩餘工作全數不續行</a:t>
            </a:r>
          </a:p>
          <a:p>
            <a:r>
              <a:t>【card:G1 · 第 6 週｜因果判定門】同時要事前預註冊漏濾率的非劣性邊際 δ —— 判準必須寫在跑實驗之前。初步拆解顯示 AI 可…</a:t>
            </a:r>
          </a:p>
          <a:p>
            <a:r>
              <a:t>【card:G2 · 第 12 週｜四臂比較門】🔴 這道門停不掉實驗,只能調整模型的假設與規模。規則式若已解掉大部分誤報 → 靶心改為殘餘;規則式若無效 → 先查脈絡資料本身的品質</a:t>
            </a:r>
          </a:p>
          <a:p>
            <a:r>
              <a:t>【card:G2 · 第 12 週｜四臂比較門】🔴 但「自動結案要不要對外開啟」不由 G2、也不由 G3 決定 —— 那需要移交後一道獨立的門,不在本次請求範圍</a:t>
            </a:r>
          </a:p>
          <a:p>
            <a:r>
              <a:t>【card:G2 · 第 12 週｜四臂比較門】🔴 這道門停不掉實驗,只能調整模型的假設與規模。規則式若已解掉大部分誤報 → 靶心改為殘…</a:t>
            </a:r>
          </a:p>
          <a:p>
            <a:r>
              <a:t>【card:G2 · 第 12 週｜四臂比較門】放行條件:人機判定品質不劣於現況,且人工觸碰時間與 P90 回覆時間達預註冊門檻</a:t>
            </a:r>
          </a:p>
          <a:p>
            <a:r>
              <a:t>【card:G2 · 第 12 週｜四臂比較門】🔴 但「自動結案要不要對外開啟」不由 G2、也不由 G3 決定 —— 那需要移交後一道獨立的門…</a:t>
            </a:r>
          </a:p>
          <a:p>
            <a:r>
              <a:t>【card:G3 · 第 24 週｜部署決定門】就算證不出增量,公司仍留下第一套可重複的模型評估與標註品質流程 —— 那個東西不隨這道門撤掉</a:t>
            </a:r>
          </a:p>
          <a:p>
            <a:r>
              <a:t>【card:G3 · 第 24 週｜部署決定門】對照實驗的設計(hold-out 怎麼凍 · 因子怎麼拆 · 預註冊門檻訂在哪)由技術負責人在 W8 前提出、G2 核可</a:t>
            </a:r>
          </a:p>
          <a:p>
            <a:r>
              <a:t>【card:G3 · 第 24 週｜部署決定門】就算證不出增量,公司仍留下第一套可重複的模型評估與標註品質流程 —— 那個東西不隨這道門…</a:t>
            </a:r>
          </a:p>
          <a:p>
            <a:r>
              <a:t>【card:G3 · 第 24 週｜部署決定門】對照實驗的設計(hold-out 怎麼凍 · 因子怎麼拆 · 預註冊門檻訂在哪)由技術負責人在 W8 …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約 64 秒 · 280 字 · 累計 9:15</a:t>
            </a:r>
          </a:p>
          <a:p>
            <a:r>
              <a:t>── 講稿(照著唸)──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【】市場採購量級,非核定採購價;本頁唯一不由算式推得的金額。規格等級與選型於 G1 依 W1–6 量測定案。採購時點在 G1 之後、W8 之前,不在第一段額度內。設備 = 一個初階工程師年成本(NT$104–117 萬)的 14%–19%;硬體僅佔已估成本的 8%–12%。🚫 不得寫成「用 16–20 萬取代千萬元增聘」—— 機器只打得到那一段裡的一部分,證據整理完人還是要覆核</a:t>
            </a:r>
          </a:p>
          <a:p>
            <a:r>
              <a:t>【】移交後爭議段毛節省 48.3–96.7 人時/天 = 6.0–12.1 FTE;但自動結案必須抽樣盲測稽核,樣本量由精度反推(整體 ±1% 需 753 筆/月 = 0.39 FTE;分層 8 類各 ±1% 需 6,024 筆/月 = 3.14 FTE)→ 淨節省 2.9–11.7 FTE。提案推估,非實測。🚫 在稽核稅、申訴重判與漂移調查三項齊備前,不宣稱任何節省額</a:t>
            </a:r>
          </a:p>
          <a:p>
            <a:r>
              <a:t>【】18.2 人月 × 月薪 NT$6.7–7.5 萬(年薪 80–90 萬 ÷ 12)× 間接費率 1.3。三個輸入都印在上面:薪資量級、間接費率、匯率(1 A$ ≈ NT$21,概算),三項都是提案人設定的假設 —— 它是量級,不是報價。唯一叫法為「人力成本估算」,🚫 不得稱總成本</a:t>
            </a:r>
          </a:p>
          <a:p>
            <a:r>
              <a:t>【】設備 16–20(一次性)+ 電力三年 0.7–1.9〔假設 1.9–3.8 kWh/日 · NT$3.5–4.5/kWh〕+ 延保三年 2.4–6.0〔假設硬體價 5–10%/年〕+ 維運監控與模型更新三年 31.2–70.2。維運人力佔 59%–62%,電力只佔設備價 4%–12%(低功耗工作站級,不是機房 GPU 伺服器)。上界跳這麼大不是估算失準,是治理成本的真實形狀 —— 要多細的精度就要付多少人。🚫 唯一叫法為「三年可推算 TCO」,不得稱三年總成本</a:t>
            </a:r>
          </a:p>
          <a:p>
            <a:r>
              <a:t>【】不做本案、以現行做法覆蓋全部既有客戶需 17–24 人(現有 5 人);做本案、移交後開到天花板仍需 11–12 人 —— 仍須增聘 6–7 人,🚫 不是「不用增聘」也不是「可以縮編」。以初階工程師公開薪資量級推算,非核定預算,非本案承諾的節省額;🚫 不得與設備價相減成 ROI</a:t>
            </a:r>
          </a:p>
          <a:p>
            <a:r>
              <a:t>【】① 影片儲存 ② 雲端運算(伺服器端推論)③ 圖資更新 ④ 測試環境建置 ⑤ AI 訓練資料蒐集。當責:技術負責人與數據負責人於 G1 前補齊量級,它決定第二段額度要不要上修。🚫 因這五項未估價,人力與設備相加後只能稱「已估成本」,不得稱總成本 —— 已辨識而未估價,和沒想到,是兩件事</a:t>
            </a:r>
          </a:p>
          <a:p>
            <a:r>
              <a:t>【rows】{'label': '人力(18.2 人月,六包 × 五種角色 + 專案負責人)', 'value': '約 NT$158–177 萬', 'note': '18.2 人月 × 月薪 NT$6.7–7.5 萬(年薪 80–90 萬 ÷ 12)× 間接費率 1.3。三個輸入都印在上面:薪資量級、間接費率、匯率(1 A$ ≈ NT$21,概算),三項都是提案人設定的假設 —— 它是量級,不是報價。唯一叫法為「人力成本估算」,🚫 不得稱總成本'}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0.7–1.9〔假設 1.9–3.8 kWh/日 · NT$3.5–4.5/kWh〕+ 延保三年 2.4–6.0〔假設硬體價 5–10%/年〕+ 維運監控與模型更新三年 31.2–70.2。維運人力佔 59%–62%,電力只佔設備價 4%–12%(低功耗工作站級,不是機房 GPU 伺服器)。上界跳這麼大不是估算失準,是治理成本的真實形狀 —— 要多細的精度就要付多少人。🚫 唯一叫法為「三年可推算 TCO」,不得稱三年總成本'}</a:t>
            </a:r>
          </a:p>
          <a:p>
            <a:r>
              <a:t>【rows】{'label': '可避免的年度增聘(移交後,不是六個月的交付)', 'value': '5–13 人 ≈ NT$520–1,521 萬/年', 'note': '不做本案、以現行做法覆蓋全部既有客戶需 17–24 人(現有 5 人);做本案、移交後開到天花板仍需 11–12 人 —— 仍須增聘 6–7 人,🚫 不是「不用增聘」也不是「可以縮編」。以初階工程師公開薪資量級推算,非核定預算,非本案承諾的節省額;🚫 不得與設備價相減成 ROI'}</a:t>
            </a:r>
          </a:p>
          <a:p>
            <a:r>
              <a:t>【rows】{'label': '已辨識、尚未估價的五項非人力成本', 'value': '不編金額', 'note': '① 影片儲存 ② 雲端運算(伺服器端推論)③ 圖資更新 ④ 測試環境建置 ⑤ AI 訓練資料蒐集。當責:技術負責人與數據負責人於 G1 前補齊量級,它決定第二段額度要不要上修。🚫 因這五項未估價,人力與設備相加後只能稱「已估成本」,不得稱總成本 —— 已辨識而未估價,和沒想到,是兩件事'}</a:t>
            </a:r>
          </a:p>
          <a:p>
            <a:r>
              <a:t>【rows[0]地端設備(一台起步)】市場採購量級,非核定採購價;本頁唯一不由算式推得的金額。規格等級與選型於 G1 依 W1–6 量測定案。採購時點在 G1 之後、W8 之前,不在第一段額度內。設備 = 一個初階工程師年成本(NT$104–117 萬)的 14%–19%;硬體僅佔已估成本的 8%–12%。🚫 不得寫成「用 16–20 萬取代千萬元增聘」—— 機器只打得到那一段裡的一部分,證據整理完人還是要覆核</a:t>
            </a:r>
          </a:p>
          <a:p>
            <a:r>
              <a:t>【rows[1]🔴 稽核稅 —— 自動化不是免費的】移交後爭議段毛節省 48.3–96.7 人時/天 = 6.0–12.1 FTE;但自動結案必須抽樣盲測稽核,樣本量由精度反推(整體 ±1% 需 753 筆/月 = 0.39 FTE;分層 8 類各 ±1% 需 6,024 筆/月 = 3.14 FTE)→ 淨節省 2.9–11.7 FTE。提案推估,非實測。🚫 在稽核稅、申訴重判與漂移調查三項齊備前,不宣稱任何節省額</a:t>
            </a:r>
          </a:p>
          <a:p>
            <a:r>
              <a:t>【card:我請求核准的錢】第一段 = 評估底座全部 + 標註品質 / 脈絡特徵的限額探索;約 4.85 人月(2.08 + 1.39 + 0.69 + 0.69)/ 量級 NT$42–47 萬〔提案規劃,非核定預算〕</a:t>
            </a:r>
          </a:p>
          <a:p>
            <a:r>
              <a:t>【card:我請求核准的錢】第一段 = 評估底座全部 + 標註品質 / 脈絡特徵的限額探索;約 4.85 人月(2.08 + 1.39 +…</a:t>
            </a:r>
          </a:p>
          <a:p>
            <a:r>
              <a:t>【card:我請求核准的錢】G1(第 6 週)由贊助人決定是否續行 —— 它決定的是要不要續行剩下的工作,不是要不要開始</a:t>
            </a:r>
          </a:p>
          <a:p>
            <a:r>
              <a:t>【card:我請求核准的人】六方當責:項目贊助人 · 業務負責人 · 數據負責人 · 技術負責人 · 複核營運主管 · 專案負責人(提案人)。每個工作包只有一個 A;三道決策門的 A 一律落在項目贊助人</a:t>
            </a:r>
          </a:p>
          <a:p>
            <a:r>
              <a:t>【card:我請求核准的人】請委員會指定贊助人,並於 G1 前確認本案與公司既有雲端判讀規劃的範圍、預算與當責邊界(我主張的相依關係,待共同確認;若評估結果是兩案應合併或改序,我接受)</a:t>
            </a:r>
          </a:p>
          <a:p>
            <a:r>
              <a:t>【card:我請求核准的人】組織障礙不在技術側:政策可改 · 優先序照購買量 · 尖峰徵調研發 —— 所以我要的不只是一筆錢,是一個贊助人跟三道門</a:t>
            </a:r>
          </a:p>
          <a:p>
            <a:r>
              <a:t>【card:我請求核准的人】請委員會指定贊助人,並於 G1 前確認本案與公司既有雲端判讀規劃的範圍、預算與當責邊界(…</a:t>
            </a:r>
          </a:p>
          <a:p>
            <a:r>
              <a:t>【card:我請求核准的人】組織障礙不在技術側:政策可改 · 優先序照購買量 · 尖峰徵調研發 —— 所以我要的不只是一…</a:t>
            </a:r>
          </a:p>
          <a:p>
            <a:r>
              <a:t>【card:六個月之後 / 不做的話】委員會手上會多三樣東西:① 一份可稽核的錯誤率 ② 一層把畫面外脈絡帶進事件的判斷層 ③ 一份證明或推翻「脈絡到底有沒有用」的對照實驗結果</a:t>
            </a:r>
          </a:p>
          <a:p>
            <a:r>
              <a:t>【card:六個月之後 / 不做的話】不做的代價:客戶繼續等 2–5 天、小客戶繼續拿到沒有人看過的判定,而研發工程師在尖峰繼續被拉去看影片</a:t>
            </a:r>
          </a:p>
          <a:p>
            <a:r>
              <a:t>【card:六個月之後 / 不做的話】但這句必須交代對價:本案移交後開到天花板時,是所有客戶約 85% 的爭議拿到沒有人看過的判定。差別只有一個,那個差別就是本案要買的東西 —— 那時我們量得出它錯多少,今天量不出</a:t>
            </a:r>
          </a:p>
          <a:p>
            <a:r>
              <a:t>【card:六個月之後 / 不做的話】受影響但不在核准鏈上:5 位專職分析人員(工作從逐筆看片變成處理難題與治理,對應「同樣人力、更高產出」這個既有成效樣態)· 車隊客戶的安全主管 · 駕駛(目前無申訴管道)</a:t>
            </a:r>
          </a:p>
          <a:p>
            <a:r>
              <a:t>【card:六個月之後 / 不做的話】不做的代價:客戶繼續等 2–5 天、小客戶繼續拿到沒有人看過的判定,而研發工程師在尖峰繼續…</a:t>
            </a:r>
          </a:p>
          <a:p>
            <a:r>
              <a:t>【card:六個月之後 / 不做的話】但這句必須交代對價:本案移交後開到天花板時,是所有客戶約 85% 的爭議拿到沒有人看過的判…</a:t>
            </a:r>
          </a:p>
          <a:p>
            <a:r>
              <a:t>【card:六個月之後 / 不做的話】受影響但不在核准鏈上:5 位專職分析人員(工作從逐筆看片變成處理難題與治理,對應「同樣人…</a:t>
            </a:r>
          </a:p>
          <a:p>
            <a:r>
              <a:t>【callout】放行條件(本案的損益兩平門檻):① 若公司選擇以現行流程覆蓋全客戶,年度擴編暴露約 NT$1,248–2,223 萬 —— 這是反事實成本暴露,不是本案承諾的節省。② 完整專案的人力成本約等於 1.4–1.7 個 loaded FTE-year。③ 只有 G2 實測證明可避免或延後至少此容量,且業務確認會轉成少招人或少徵調研發,才放行後續預算。(當責:業務負責人提出容量轉換的確認 · 時點 G2 / 第 12 週 · 它決定第二段預算放不放行)  (IBM, n.d.)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約 5 秒 · 21 字 · 累計 9:20</a:t>
            </a:r>
          </a:p>
          <a:p>
            <a:r>
              <a:t>── 講稿(照著唸)──</a:t>
            </a:r>
          </a:p>
          <a:p>
            <a:r>
              <a:t>這些是本提案引用的公開文獻,完整清單在這一頁。</a:t>
            </a:r>
          </a:p>
          <a:p>
            <a:r>
              <a:t>→ 換下一頁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讓機器讀懂一次事件的完整脈絡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六個月、三道決策門的立案提案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今天,五個人要看完三千支影片;而客戶要的答案,兩天內。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950208"/>
            <a:ext cx="98142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車隊行車影像 AI · 單一大型車隊約 3,000 筆事件/天 · 5 位專職分析人員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718304"/>
            <a:ext cx="79397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車上初判 → 雲端複判 → 人工複核;而人工這段有兩種單價,差約 16 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車上裝置 · 即時初判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05457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5457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鏡頭在車上即時初判,偵測到一次可能的危險就記下一筆「事件」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2122" y="1755648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1850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雲端 · 複判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9211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9211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已自動化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850" y="2889503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初判結果上傳,雲端再判一次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5876" y="1755648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5604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人工防線 · 5 位專職分析人員 · 逐筆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6766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766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③ 沒有自動化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5604" y="2889503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這 5 個人做的事:重看影片 → 判成立或誤報 → 離開畫面查證據 → 書面回覆客戶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95344"/>
            <a:ext cx="5300319" cy="11612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041648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例行批次複核 · 全量,每一筆都看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535424"/>
            <a:ext cx="500771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20 秒 / 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3895344"/>
            <a:ext cx="5300319" cy="11612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9311" y="4041648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客戶爭議深入判讀 · 只發生在客戶回頭標記的 5–10%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9311" y="4535424"/>
            <a:ext cx="500771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5.25 分鐘 / 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129783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差約 16 倍(5.25 分 ÷ 20 秒 ≈ 15.7)—— 差別不在人,在證據在不在畫面裡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650992"/>
            <a:ext cx="45720" cy="306323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623560"/>
            <a:ext cx="2116945" cy="3977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今天的產能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6481" y="5623560"/>
            <a:ext cx="2787914" cy="3977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40 人時/天 = 5 人 × 8 小時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3652" y="5623560"/>
            <a:ext cx="3753794" cy="3977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上緣 42.9 已超過現有產能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140196"/>
            <a:ext cx="45720" cy="306323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6112764"/>
            <a:ext cx="2116945" cy="3977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6481" y="6112764"/>
            <a:ext cx="2787914" cy="3977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讓機器讀懂一次事件的完整脈絡(影片 + 客戶問題 + 規則),並…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3652" y="6112764"/>
            <a:ext cx="3753794" cy="3977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16 倍的成因就是證據不在畫面裡,而要建的能力正是把畫面外的東西讀進來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那 2.5–5.5 天裡,四成到八成是模型幫得上的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五段天數已拆開;那兩段慢的原因相同 —— 模型看不到畫面外的東西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2.5–5.5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7737" y="2194560"/>
            <a:ext cx="135936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773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773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7107" y="2194560"/>
            <a:ext cx="543747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7107" y="2240279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07" y="2478024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458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58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58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7395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395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395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7737" y="2852928"/>
            <a:ext cx="679684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7737" y="2944368"/>
            <a:ext cx="679684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43%–78%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8391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2.5–5.5 天;43%–78% 的精確值為 42.86%–77.78%(五段各自獨立取端點、窮舉 32 組求得)。非 AI 段只佔 22%–57%,而排隊本身只有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241472"/>
            <a:ext cx="10874959" cy="87235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241472"/>
            <a:ext cx="10509199" cy="872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這兩段之所以慢,是同一個原因:模型看不到畫面外的東西 —— 撈數據慢,是因為人要自己去查那個位置與那段路的速限;判讀慢,是因為模型只拿到一張圖。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69275"/>
            <a:ext cx="45720" cy="9644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241843"/>
            <a:ext cx="2116945" cy="10558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今天的利用率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481" y="4241843"/>
            <a:ext cx="2787914" cy="10558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74%–107%(29.8–42.9 ÷ 40 人時/天);折算 3.7–5.4 人,現…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3652" y="4241843"/>
            <a:ext cx="3753794" cy="10558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平均編制口徑,不是任何一天的同時在線人力;下緣 74% 仍在產能內 —— 本頁主張的是尖峰做不到,不是天天做不完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416561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389129"/>
            <a:ext cx="2116945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客戶端已經在承受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6481" y="5389129"/>
            <a:ext cx="278791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現況約半數爭議超過兩天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3652" y="5389129"/>
            <a:ext cx="375379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客戶期望 2 天內、單純案件當天 —— 客戶期望,非已簽訂之服務水準協議;此為營運端估計,尚未以工單時戳量測,W1–6 交出正式逾時率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857181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8571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樣本:4 台車 · 23 天 · 1,647 筆 = 一個小型車隊、一個月 —— 以下所有比例僅在此樣本內成立。這一件的分析段:5 位專職分析人員並行 3.6 個工作日 = 144 人時(不含整理與回信)。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740845"/>
          <a:ext cx="10874957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一致性從未量測｜不比誰準,只指錯的性質不同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標註品質包｜第 10 週建立基線，G2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判準:同一段影片,不同複核者給不同標籤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981125"/>
            <a:ext cx="45720" cy="64125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953693"/>
            <a:ext cx="2116945" cy="7326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953693"/>
            <a:ext cx="2787914" cy="7326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3652" y="4953693"/>
            <a:ext cx="3753794" cy="7326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052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777830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777830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3652" y="5777830"/>
            <a:ext cx="375379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46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46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114020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6352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6077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607796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3343" y="3607796"/>
            <a:ext cx="424025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139577"/>
            <a:ext cx="45720" cy="60007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112145"/>
            <a:ext cx="2408822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112145"/>
            <a:ext cx="3152759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3343" y="4112145"/>
            <a:ext cx="4240255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批次   13,000 x 20 秒 = 72.2 人時(13,000+ 筆/天 = 全客戶每日平均總事件量,雲端伺…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要交出:一件客戶爭議的時間拆解(等待排隊 0-1 天 · 撈數據 0.5 天 · 判讀 1-3 天 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能力層:以現行小模型的表現外推,預期約 85% 的爭議件機器有把握、可直接結案 - 1,000 筆…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815583"/>
            <a:ext cx="9658807" cy="694943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815583"/>
            <a:ext cx="9293047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是分流率:它決定「這筆要不要人細看」,不是「這筆是不是誤報」;它與偵測誤報率量…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證明它有效的方法,同時是喊停它的方法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證明有效,四道護欄一票否決;訂不出的目標值寫明由哪道門訂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這一頁不是外掛的合規章節:上面兩層回答「怎麼證明這個 AI 真的有效」,護欄層回答「什麼情況下要喊…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省5–13人≈NT$520–1,521萬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只有一包是 AI,順序本身就是風險控制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56615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48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448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448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信賴區間)· 冷凍評估集 · 兩條工作流的單位工時正式基準 · 每案「結案方向」的黃金答案標籤 · 爭議處理的時間拆解、兩天逾時率、尖峰到…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322575"/>
            <a:ext cx="45720" cy="35661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95144"/>
            <a:ext cx="2408822" cy="448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95144"/>
            <a:ext cx="3152759" cy="448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295144"/>
            <a:ext cx="4240255" cy="448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一套地端視覺語言模型,篩檢與深挖兩種負載由同一台設備分時處理;實際選型與量化規格於 G1 依 W1–6 的量測定案(概念層次)。W8–12 最小離線試驗 → W12–24 只跑影子模式:機器…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871215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999231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621023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621023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005071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交:時間拆解(等待 / 找證據 / 判讀 / 內部覆核 / 回信)· 兩天逾時率 · 尖峰到件分布 · 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871215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999231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621023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621023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005071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同一凍結評估集上跑四臂(見下表),分兩軌:工具品質軌 · 結案判定軌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871215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999231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621023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621023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005071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停的條件:對照重訓證不出增量 → 模型端不部署,只留前四包的成果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7135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804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804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804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市場採購量級,非核定採購價;本頁唯一不由算式推得的金額。規格等級與選型於 G1 依 W1–6 量測定案。採購時點在 G1 之後、W8 之前,不在第一段額度內。設備 = 一個初階工程師年…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679510"/>
            <a:ext cx="45720" cy="7135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52078"/>
            <a:ext cx="2408822" cy="804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652078"/>
            <a:ext cx="3152759" cy="804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652078"/>
            <a:ext cx="4240255" cy="804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移交後爭議段毛節省 48.3–96.7 人時/天 = 6.0–12.1 FTE;但自動結案必須抽樣盲測稽核,樣本量由精度反推(整體 ±1% 需 753 筆/月 = 0.39 FTE;分層 8 類各 ±1% 需 6,024 筆/…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85084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1310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334892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334892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18940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六個月整體額度輪廓 · 分段釋出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585084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1310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334892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334892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18940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六方當責:項目贊助人 · 業務負責人 · 數據負責人 · 技術負責人 · 複核營運主管 · 專案負…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585084"/>
            <a:ext cx="352745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1310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 / 不做的話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334892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334892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18940"/>
            <a:ext cx="330799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委員會手上會多三樣東西:① 一份可稽核的錯誤率 ② 一層把畫面外脈絡帶進事件的判斷層 ③ 一…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724780"/>
            <a:ext cx="9658807" cy="785747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724780"/>
            <a:ext cx="9293047" cy="7857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放行條件(本案的損益兩平門檻):① 若公司選擇以現行流程覆蓋全客戶,年度擴編暴露約 NT$1,248–2,223 萬 —— 這是反事實成本暴露,不是本案承諾的節省。② 完整專案的人力成本約等於 1.…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