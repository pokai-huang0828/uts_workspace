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f0e697f63742f7" /><Relationship Type="http://schemas.openxmlformats.org/officeDocument/2006/relationships/extended-properties" Target="/docProps/app.xml" Id="R6935f8ec55f640a5" /><Relationship Type="http://schemas.openxmlformats.org/officeDocument/2006/relationships/officeDocument" Target="/ppt/presentation.xml" Id="R529db24206ef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54ecfef1384a28"/>
  </p:sldMasterIdLst>
  <p:notesMasterIdLst>
    <p:notesMasterId xmlns:r="http://schemas.openxmlformats.org/officeDocument/2006/relationships" r:id="R0ae9742e71e74a7b"/>
  </p:notesMasterIdLst>
  <p:sldIdLst>
    <p:sldId xmlns:r="http://schemas.openxmlformats.org/officeDocument/2006/relationships" id="256" r:id="Rd033ff0c5d0d426e"/>
    <p:sldId xmlns:r="http://schemas.openxmlformats.org/officeDocument/2006/relationships" id="257" r:id="Rc764c221589a4df1"/>
    <p:sldId xmlns:r="http://schemas.openxmlformats.org/officeDocument/2006/relationships" id="258" r:id="R436e263066be42c0"/>
    <p:sldId xmlns:r="http://schemas.openxmlformats.org/officeDocument/2006/relationships" id="259" r:id="R9c85519848b24ab6"/>
    <p:sldId xmlns:r="http://schemas.openxmlformats.org/officeDocument/2006/relationships" id="260" r:id="Re836dd7fea04414c"/>
    <p:sldId xmlns:r="http://schemas.openxmlformats.org/officeDocument/2006/relationships" id="261" r:id="R24090b339bdf47fe"/>
    <p:sldId xmlns:r="http://schemas.openxmlformats.org/officeDocument/2006/relationships" id="262" r:id="Rdfd2b01f952c4778"/>
    <p:sldId xmlns:r="http://schemas.openxmlformats.org/officeDocument/2006/relationships" id="263" r:id="Rceabb1160a124b59"/>
    <p:sldId xmlns:r="http://schemas.openxmlformats.org/officeDocument/2006/relationships" id="264" r:id="R7abb18a132b64eff"/>
    <p:sldId xmlns:r="http://schemas.openxmlformats.org/officeDocument/2006/relationships" id="265" r:id="R3ef918f08ea24c30"/>
    <p:sldId xmlns:r="http://schemas.openxmlformats.org/officeDocument/2006/relationships" id="266" r:id="R6c529d0f616d41ce"/>
    <p:sldId xmlns:r="http://schemas.openxmlformats.org/officeDocument/2006/relationships" id="267" r:id="Rb21b143f175c42a9"/>
    <p:sldId xmlns:r="http://schemas.openxmlformats.org/officeDocument/2006/relationships" id="268" r:id="R1cfee65be377492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6f647cee334865" /><Relationship Type="http://schemas.openxmlformats.org/officeDocument/2006/relationships/slideMaster" Target="/ppt/slideMasters/slideMaster1.xml" Id="R4854ecfef1384a28" /><Relationship Type="http://schemas.openxmlformats.org/officeDocument/2006/relationships/notesMaster" Target="/ppt/notesMasters/notesMaster1.xml" Id="R0ae9742e71e74a7b" /><Relationship Type="http://schemas.openxmlformats.org/officeDocument/2006/relationships/presProps" Target="/ppt/presProps.xml" Id="R0fff3deccd2e46f9" /><Relationship Type="http://schemas.openxmlformats.org/officeDocument/2006/relationships/viewProps" Target="/ppt/viewProps.xml" Id="R147d8762262b4115" /><Relationship Type="http://schemas.openxmlformats.org/officeDocument/2006/relationships/tableStyles" Target="/ppt/tableStyles.xml" Id="Rfd5a1c99071f4a80" /><Relationship Type="http://schemas.openxmlformats.org/officeDocument/2006/relationships/slide" Target="/ppt/slides/slide1.xml" Id="Rd033ff0c5d0d426e" /><Relationship Type="http://schemas.openxmlformats.org/officeDocument/2006/relationships/slide" Target="/ppt/slides/slide2.xml" Id="Rc764c221589a4df1" /><Relationship Type="http://schemas.openxmlformats.org/officeDocument/2006/relationships/slide" Target="/ppt/slides/slide3.xml" Id="R436e263066be42c0" /><Relationship Type="http://schemas.openxmlformats.org/officeDocument/2006/relationships/slide" Target="/ppt/slides/slide4.xml" Id="R9c85519848b24ab6" /><Relationship Type="http://schemas.openxmlformats.org/officeDocument/2006/relationships/slide" Target="/ppt/slides/slide5.xml" Id="Re836dd7fea04414c" /><Relationship Type="http://schemas.openxmlformats.org/officeDocument/2006/relationships/slide" Target="/ppt/slides/slide6.xml" Id="R24090b339bdf47fe" /><Relationship Type="http://schemas.openxmlformats.org/officeDocument/2006/relationships/slide" Target="/ppt/slides/slide7.xml" Id="Rdfd2b01f952c4778" /><Relationship Type="http://schemas.openxmlformats.org/officeDocument/2006/relationships/slide" Target="/ppt/slides/slide8.xml" Id="Rceabb1160a124b59" /><Relationship Type="http://schemas.openxmlformats.org/officeDocument/2006/relationships/slide" Target="/ppt/slides/slide9.xml" Id="R7abb18a132b64eff" /><Relationship Type="http://schemas.openxmlformats.org/officeDocument/2006/relationships/slide" Target="/ppt/slides/slide10.xml" Id="R3ef918f08ea24c30" /><Relationship Type="http://schemas.openxmlformats.org/officeDocument/2006/relationships/slide" Target="/ppt/slides/slide11.xml" Id="R6c529d0f616d41ce" /><Relationship Type="http://schemas.openxmlformats.org/officeDocument/2006/relationships/slide" Target="/ppt/slides/slide12.xml" Id="Rb21b143f175c42a9" /><Relationship Type="http://schemas.openxmlformats.org/officeDocument/2006/relationships/slide" Target="/ppt/slides/slide13.xml" Id="R1cfee65be37749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2e66ea0b146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TS Editabl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1f0f9d52454e49" /><Relationship Type="http://schemas.openxmlformats.org/officeDocument/2006/relationships/notesMaster" Target="/ppt/notesMasters/notesMaster1.xml" Id="R2d27fb6f4d3149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6c5831bcdd4b08" /><Relationship Type="http://schemas.openxmlformats.org/officeDocument/2006/relationships/notesMaster" Target="/ppt/notesMasters/notesMaster1.xml" Id="Re0c96b3fba0a41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756a0350154e11" /><Relationship Type="http://schemas.openxmlformats.org/officeDocument/2006/relationships/notesMaster" Target="/ppt/notesMasters/notesMaster1.xml" Id="R60073fffe09c47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2f2e5c575149a4" /><Relationship Type="http://schemas.openxmlformats.org/officeDocument/2006/relationships/notesMaster" Target="/ppt/notesMasters/notesMaster1.xml" Id="R8c8f47878db548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0e3316ec9b4621" /><Relationship Type="http://schemas.openxmlformats.org/officeDocument/2006/relationships/notesMaster" Target="/ppt/notesMasters/notesMaster1.xml" Id="R8f2906f1647944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15dc9658a44df0" /><Relationship Type="http://schemas.openxmlformats.org/officeDocument/2006/relationships/notesMaster" Target="/ppt/notesMasters/notesMaster1.xml" Id="Re2d00bde8d8b41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34394e36434538" /><Relationship Type="http://schemas.openxmlformats.org/officeDocument/2006/relationships/notesMaster" Target="/ppt/notesMasters/notesMaster1.xml" Id="Rb71be4c581034a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f06295b15b49b6" /><Relationship Type="http://schemas.openxmlformats.org/officeDocument/2006/relationships/notesMaster" Target="/ppt/notesMasters/notesMaster1.xml" Id="R02b00842ebd74c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a1a258ed0845d3" /><Relationship Type="http://schemas.openxmlformats.org/officeDocument/2006/relationships/notesMaster" Target="/ppt/notesMasters/notesMaster1.xml" Id="R41db6415a94247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d30335905e4c65" /><Relationship Type="http://schemas.openxmlformats.org/officeDocument/2006/relationships/notesMaster" Target="/ppt/notesMasters/notesMaster1.xml" Id="Rc971c1eb308b4b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80327867cf45c5" /><Relationship Type="http://schemas.openxmlformats.org/officeDocument/2006/relationships/notesMaster" Target="/ppt/notesMasters/notesMaster1.xml" Id="R5f7386fe9e7f47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d38e8997354a34" /><Relationship Type="http://schemas.openxmlformats.org/officeDocument/2006/relationships/notesMaster" Target="/ppt/notesMasters/notesMaster1.xml" Id="Rd7c0a7b0495548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703468acd04d4d" /><Relationship Type="http://schemas.openxmlformats.org/officeDocument/2006/relationships/notesMaster" Target="/ppt/notesMasters/notesMaster1.xml" Id="R9c4b4912bfc44f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開場先交代問題、建議、六個月價值、風險界線與本次請求。不要把本案說成部署核准；今天只請求六週量測與贊助人。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用三段流程讓非技術評分者先看懂現況。人工段有兩條工作流：全量批次約 20 秒一筆；客戶爭議深挖約 5.25 分鐘一筆。每日合計 29.8–42.9 人時，對上 40 人時產能，峰值超載。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不要說『量不是瓶頸』。正確說法是：43%–78% 落在 AI 可介入段；每日批次吞吐暫非瓶頸，爭議深挖吞吐仍需 W1–6 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Hopp, W. J., &amp; Spearman, M. L. (2011). Factory physics (3rd ed., chaps. 7–9). Waveland Press.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這是最可信的投報靶心：樣本、工時、母體與根因都明確。強調 104 是 ADAS 側，124 是整批全部誤報，避免母體混淆。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左右兩側不要做精準度比較，因為母體不同。主張只是：誤報證據較厚，漏放證據薄；因此先買量測。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把五條路縮成四個真正可比較的策略；公司既有雲端判讀是前置依賴，不是競爭選項。『有把握』必須由凍結評估集上的校準式門檻定義，G1 預註冊、G2 四臂驗證，不採模型自然語言自信宣稱。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不要念出未經 Kenny 確認的具體安全類別。統一說『G1 由業務與法務核定的安全紅線類別』。R8 誠實承認現在沒有可執行緩解；R9、R10 是方案自己新增的風險。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先說清楚標題中的 850 筆是『移交後、且通過 G4 後』，不是六個月內。本案期內人仍逐筆判。2019 八原則只作公開可查的對照框架；2025 已有後續採用指引。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85% 不是承諾，也不是 VLM 自述信心；由凍結評估集上的校準式選擇門檻定義，G1 預註冊、G2 四臂驗證。漏濾率是自動結案能否對外生效的否決點。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主片維持概念層次：一套地端視覺語言模型，同一設備分時處理篩檢與深挖；選型與量化規格由 G1 依 W1–6 量測定案。G4 是移交後獨立門。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兩組看似衝突的數字其實是不同語義：NT$1,248–2,223 萬是『不做本案的全部增聘暴露』；NT$520–1,521 萬是『做本案後可避免的增聘』。兩者都只屬移交後反事實，不得與設備價相減成 ROI。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本頁僅供文獻追溯，不需逐條朗讀。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本頁僅供文獻追溯，不需逐條朗讀。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8722e84db40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87e631c9149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667ff90604e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d8ca4381141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463d7e9b14a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af4802b894c4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2b546c72b47d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bf28638bb483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59cbe4ba045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19a8cdf364d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07a3f6c174a8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403D5B-AB3E-4A3D-98C3-903041AD69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BC4379C-6A51-4ECF-A6AD-1FCE2C795D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8324E5-1B63-4AB7-9A41-C96E42498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FFF74D-AE12-44F5-B1B9-88F2E58A85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867FA9-37E9-49A6-B100-012063D59E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600B09-E029-4A71-AABE-6840B388C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C05652-E2D9-409B-8EE2-A70E2F6772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9CC60C-0540-43E3-A4DE-3E6F1131DC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1FD455-95E4-4D3F-91FA-9B278E8CF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3EC8C2-CE2B-4FEE-B013-D046A136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BE820-8D7D-4A94-AD4A-D696C4997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9BE3AF-DB7A-4894-8E79-BAC869180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B9B68F-DA4A-4AAB-8754-34CAC533C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45A6E3-3155-4ED4-83DA-91FD36BA4F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D7E9F6-BFAE-4556-8F5B-81D3E1AB3F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18B627-2588-4BF8-996C-FFE657C75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0AC009-0CB7-48C6-B239-D90A0CE61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9584C60-A704-4D70-AEBE-2019974207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022B65-BA0D-4153-9A8F-DDF1EB3568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2D148A-CB5E-40FB-A9CE-162C644543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827B39A-A020-43FC-9978-D059D6EF14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31F86-0954-4F11-8796-A51A05695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BE72B3-607F-4BF2-A301-0AAF63ED8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DF8336-2B8E-441D-96EF-D0F2C9C268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6B6E442-A969-4ABD-B9EA-605FAE3D35D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191EBAB-64EF-4A75-81D4-02B74ABE88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8B5A5EE-1280-4491-8540-F33D929FAB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E1ACF89-35B8-45C3-B270-A4A1A57B0B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635E996-D3E4-4A17-B395-12C1CCEC2C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F0BD4C-63ED-424B-BAEF-F668DADD6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7B66014-9B41-4CD4-865A-06791D0969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EEAF53B-382E-4D58-A398-174AA4088B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AC3980-1B2D-4B86-A41C-064EE206A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E2B268-930D-4EC6-A624-8EF08BAAA9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CA4175-1497-4DEB-BE17-4125EE57BF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4486FD7-C43E-4587-A944-FD47871FF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5340C0-F0C7-4A09-BAAF-9B749DE1A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447E3C-5765-48B5-A604-5BA27C1AFC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DA045A-B9E9-4A4B-84E5-27D4E44C7B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82D5EB-B1A0-4791-AEAE-8F3C6C9C11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943A59-379B-4FCE-B4C5-CF38D20DEE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A042EE-E8AB-4782-8609-4393DC9243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3A2AF6-ED01-4CA3-8A89-82DD1049F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C7F142E-1C33-490B-B57C-42DFE2439AB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4D0D5-C01F-4C11-A2E1-360C7BE41F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6DE0A6B-3D0A-45E1-8295-1F517CD98D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7077A8-CF0F-4DEF-8BD6-B41AC813BE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673875-67CA-4D51-83D8-6F75C151ED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B761E2-7916-4B97-80EC-98B377C0F2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B484784-52EE-4009-ABF6-A766699F0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337B37-7637-4D49-BE63-CA144DB8E1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607ACA-45CF-4961-B611-1A79D04A16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6BFD01-5637-42BC-93F6-9FC9173FFE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91CEB0C-60FB-4D55-B803-A6FB2BF382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225839-A521-45ED-B27F-EDD378340A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79FA1F-FDA2-43DE-A67D-2091616ADF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BF7AA1-2730-40BB-9B7D-D7B30DB169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7683DB-555C-4C20-8839-3254D7D4C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8448966946408f" /><Relationship Type="http://schemas.openxmlformats.org/officeDocument/2006/relationships/slideLayout" Target="/ppt/slideLayouts/slideLayout1.xml" Id="R6b153ad67c784f2b" /><Relationship Type="http://schemas.openxmlformats.org/officeDocument/2006/relationships/slideLayout" Target="/ppt/slideLayouts/slideLayout2.xml" Id="Rd60a746a8541486c" /><Relationship Type="http://schemas.openxmlformats.org/officeDocument/2006/relationships/slideLayout" Target="/ppt/slideLayouts/slideLayout3.xml" Id="R42c9d8f41c1b4c5e" /><Relationship Type="http://schemas.openxmlformats.org/officeDocument/2006/relationships/slideLayout" Target="/ppt/slideLayouts/slideLayout4.xml" Id="R636fc1a7834148f5" /><Relationship Type="http://schemas.openxmlformats.org/officeDocument/2006/relationships/slideLayout" Target="/ppt/slideLayouts/slideLayout5.xml" Id="Recc8b7f170204836" /><Relationship Type="http://schemas.openxmlformats.org/officeDocument/2006/relationships/slideLayout" Target="/ppt/slideLayouts/slideLayout6.xml" Id="R5b5b15786a1b4820" /><Relationship Type="http://schemas.openxmlformats.org/officeDocument/2006/relationships/slideLayout" Target="/ppt/slideLayouts/slideLayout7.xml" Id="Rd5feeb7ed3b94222" /><Relationship Type="http://schemas.openxmlformats.org/officeDocument/2006/relationships/slideLayout" Target="/ppt/slideLayouts/slideLayout8.xml" Id="R40b0f12151274794" /><Relationship Type="http://schemas.openxmlformats.org/officeDocument/2006/relationships/slideLayout" Target="/ppt/slideLayouts/slideLayout9.xml" Id="R6ef684fb95cb47b4" /><Relationship Type="http://schemas.openxmlformats.org/officeDocument/2006/relationships/slideLayout" Target="/ppt/slideLayouts/slideLayout10.xml" Id="Rd5d5dcd2f5d64c75" /><Relationship Type="http://schemas.openxmlformats.org/officeDocument/2006/relationships/slideLayout" Target="/ppt/slideLayouts/slideLayout11.xml" Id="Rdf4b2a590b7848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388974A-4CDD-417E-B252-CFC523CE7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346A7F-8F2E-4524-95F4-EF2678A800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1CC763-3637-4BCD-B508-87EBF71C60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AC9E1F-3AE9-4A1F-850E-29923FC922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DF9B0A-33B6-45D3-BF14-4B147B3AF2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153ad67c784f2b"/>
    <p:sldLayoutId xmlns:r="http://schemas.openxmlformats.org/officeDocument/2006/relationships" id="2147483650" r:id="Rd60a746a8541486c"/>
    <p:sldLayoutId xmlns:r="http://schemas.openxmlformats.org/officeDocument/2006/relationships" id="2147483651" r:id="R42c9d8f41c1b4c5e"/>
    <p:sldLayoutId xmlns:r="http://schemas.openxmlformats.org/officeDocument/2006/relationships" id="2147483652" r:id="R636fc1a7834148f5"/>
    <p:sldLayoutId xmlns:r="http://schemas.openxmlformats.org/officeDocument/2006/relationships" id="2147483653" r:id="Recc8b7f170204836"/>
    <p:sldLayoutId xmlns:r="http://schemas.openxmlformats.org/officeDocument/2006/relationships" id="2147483654" r:id="R5b5b15786a1b4820"/>
    <p:sldLayoutId xmlns:r="http://schemas.openxmlformats.org/officeDocument/2006/relationships" id="2147483655" r:id="Rd5feeb7ed3b94222"/>
    <p:sldLayoutId xmlns:r="http://schemas.openxmlformats.org/officeDocument/2006/relationships" id="2147483656" r:id="R40b0f12151274794"/>
    <p:sldLayoutId xmlns:r="http://schemas.openxmlformats.org/officeDocument/2006/relationships" id="2147483657" r:id="R6ef684fb95cb47b4"/>
    <p:sldLayoutId xmlns:r="http://schemas.openxmlformats.org/officeDocument/2006/relationships" id="2147483658" r:id="Rd5d5dcd2f5d64c75"/>
    <p:sldLayoutId xmlns:r="http://schemas.openxmlformats.org/officeDocument/2006/relationships" id="2147483659" r:id="Rdf4b2a590b78480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TS Editabl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6f9bedfe404395" /><Relationship Type="http://schemas.openxmlformats.org/officeDocument/2006/relationships/notesSlide" Target="/ppt/notesSlides/notesSlide1.xml" Id="R741269fefe194d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b54c04f6e9457f" /><Relationship Type="http://schemas.openxmlformats.org/officeDocument/2006/relationships/notesSlide" Target="/ppt/notesSlides/notesSlide2.xml" Id="Rab6690d93b4841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b6882d74b140cd" /><Relationship Type="http://schemas.openxmlformats.org/officeDocument/2006/relationships/notesSlide" Target="/ppt/notesSlides/notesSlide3.xml" Id="R7c073cdc140d4b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214282a01b491a" /><Relationship Type="http://schemas.openxmlformats.org/officeDocument/2006/relationships/notesSlide" Target="/ppt/notesSlides/notesSlide4.xml" Id="Rac983d3f54b445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376823ae4e4355" /><Relationship Type="http://schemas.openxmlformats.org/officeDocument/2006/relationships/notesSlide" Target="/ppt/notesSlides/notesSlide5.xml" Id="R6136eb09e0b445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ebc81c18ed4d35" /><Relationship Type="http://schemas.openxmlformats.org/officeDocument/2006/relationships/notesSlide" Target="/ppt/notesSlides/notesSlide6.xml" Id="R627120643c0c40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3065d1236643c6" /><Relationship Type="http://schemas.openxmlformats.org/officeDocument/2006/relationships/notesSlide" Target="/ppt/notesSlides/notesSlide7.xml" Id="R33658fe1737843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18402b3b2a4e0d" /><Relationship Type="http://schemas.openxmlformats.org/officeDocument/2006/relationships/notesSlide" Target="/ppt/notesSlides/notesSlide8.xml" Id="R93362791d56246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3b8955d95240c6" /><Relationship Type="http://schemas.openxmlformats.org/officeDocument/2006/relationships/notesSlide" Target="/ppt/notesSlides/notesSlide9.xml" Id="R8c9fadacde1341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2fd03e566146e7" /><Relationship Type="http://schemas.openxmlformats.org/officeDocument/2006/relationships/notesSlide" Target="/ppt/notesSlides/notesSlide10.xml" Id="Rd5f30ce582c540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bcd6d0a10441ba" /><Relationship Type="http://schemas.openxmlformats.org/officeDocument/2006/relationships/notesSlide" Target="/ppt/notesSlides/notesSlide11.xml" Id="R88c7ebd1002044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90b835e79c468a" /><Relationship Type="http://schemas.openxmlformats.org/officeDocument/2006/relationships/notesSlide" Target="/ppt/notesSlides/notesSlide12.xml" Id="R242093488fc346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9cc5e19e2c4a3b" /><Relationship Type="http://schemas.openxmlformats.org/officeDocument/2006/relationships/notesSlide" Target="/ppt/notesSlides/notesSlide13.xml" Id="Rde77d126d76948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3802C-D613-4608-AAB8-45020632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0FCA1-ED07-4844-AD1B-AE515E61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讓機器讀懂一次事件的完整脈絡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AFC78-949E-41DA-9D23-946E5298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地端 AI 事件判讀｜六個月、四道決策門的立案提案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71530-F9BA-4133-B3CF-FCD94A10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C4C33-C2E4-4CFF-8B9B-7785C890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8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今天的瓶頸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9BAA8-58D0-4FA6-B4E7-60046A0A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668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3,000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0855B-6E74-42EE-8655-68AC4145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事件／日，由 5 人逐筆覆核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D3EB7-25B3-462B-88B8-07AE1724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733B5-B643-47EF-A5B1-0EA1FE70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建議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0C38B-4922-4565-AA3F-397FEBC3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194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建立一套地端視覺語言模型，先做可稽核評估，再跑影子模式。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088FB-04C3-4FAC-8749-1C395268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六個月價值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E1B44-D037-4A8E-A76D-B9CE57D8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242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把爭議回覆壓到 2 天內；人仍逐筆判定。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BC368-2F08-4979-B03F-FCCC41B5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62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風險界線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F7030-DB3F-4E73-A5FD-C2179DC0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AI 結案判定對外生效 = 0%。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31D45-9281-4BB0-B7F1-FE0AA2E4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1430">
            <a:solidFill>
              <a:srgbClr val="E67E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44783-4511-4084-968E-D039A75F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本次請求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95729-CA98-4664-AFA9-DAC95522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只核准 W1–6 的量測底座，並指定一位專案贊助人。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6D868-AEC2-44BB-A317-F2629EA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Po-Kai Huang｜26254793｜421104 Artificial Intelligence for Enterprises｜Assessment 3｜2026.08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41F8F-0B0D-4720-A845-209254FC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E1BA8-4044-4972-A926-8BA2FD1F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The company name has been changed for commercial in confidence reasons.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74724-2A9F-4433-89A1-6853AA5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6188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E49B2-D362-4F30-BAE6-697FFD62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介紹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8389861-7F01-4749-80CF-951EF424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自動化停在第二關，瓶頸集中在最後的人工作業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924E6-9A20-4D49-B1C0-5E3CBA8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兩段自動判讀之後，5 位分析人員仍須逐筆重看影片、補脈絡、寫回覆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E19CF-DFAD-4147-98F8-F407FB8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AAC6A-523E-446C-8AC2-6DA4AB52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81EFD-C47E-4506-BEBA-C1F54BD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6D575-C6B1-4453-8BD0-8C527AA0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ABABF-4DA9-492E-8CA7-FACD1D1B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24100"/>
            <a:ext cx="838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7CAAE-95DA-4AB5-AE34-0D42D248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838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CE9DC-4347-4421-8532-46BBA434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667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51F75-2565-47BE-90F9-BE652FB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① 車上即時初判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F8A38-AA0E-46D6-B14F-E0E9674A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已自動化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產生事件影片與分類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3802D-827B-4C2B-B2C3-964743DB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2667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A8506-8EC3-423E-B501-573D1801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907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② 雲端複判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BF4AB-6EE1-48B6-BBE4-9235A916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已自動化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判定真假並回傳警示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86CBD-3C7A-4B7A-AE67-D69E0B6B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90700"/>
            <a:ext cx="37147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67E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46518-5076-4507-88E1-351FFDED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90725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③ 人工防線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85268-1AD7-41B7-9F03-E4D4259D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2412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5 人逐筆看完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重看影片 → 補畫外脈絡 → 回覆客戶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85D3C-D480-4C60-A816-4542AA4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每天需要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C709E-5762-4FC0-9CD6-6E26D22D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29.8–42.9 人時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9989E-4CE9-4B47-91F8-EA51CAFE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可用產能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F604B-EE3E-4F70-81BE-6AFF82DD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40 人時／日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A41B8-DC51-4DF7-B2CE-0DC7238E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62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峰值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B76E3-C5A0-45A7-8EE7-E39E7805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38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107%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C2085-1AB0-45D1-8F41-1BDE878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000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C4E97-E4FB-49DF-9A83-1107FBBB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879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21779-7199-4338-81DF-C4E5047C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29175"/>
            <a:ext cx="12096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021F62-07D8-413B-B54D-CACD5D58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766C5-29FD-49F1-8328-B5E2F33F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19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40 h 產能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BC67FB-A665-450E-B9C4-164528C1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197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42.9 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22D920-2587-486C-A473-6B12592A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瓶頸不是影片數量，而是畫面外的脈絡與一致判準。</a:t>
            </a:r>
          </a:p>
        </p:txBody>
      </p:sp>
    </p:spTree>
    <p:extLst>
      <p:ext uri="{BB962C8B-B14F-4D97-AF65-F5344CB8AC3E}">
        <p14:creationId xmlns:p14="http://schemas.microsoft.com/office/powerpoint/2010/main" val="616663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8257B4-77F6-4955-8CEF-C79CF090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AI 機會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7BEC8C8-ABFF-44CB-B615-E9AB4FE2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AI 可介入 43%–78% 的流程；但深挖吞吐量必須先量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C1696-6EAB-491A-B61D-795690C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2–5 天的回覆時間裡，撈數據與判讀是同一個可工程化缺口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BD08A-0DDC-4829-9104-CB31D7E7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3E41E-66B7-4CE7-92F7-588327DB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EC4A6-A603-4282-88BD-DA810960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C6D3D-6455-4768-B30C-DDC63B4B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CF8FC-377A-4722-9D13-2C689F26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現況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5FEEC-FE5A-4076-8426-680C6CAA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2–5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DBFC0-52A0-4B7F-BE50-AEFD5AF4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66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目標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633BB-0BAA-421E-A0A9-BAA332B9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≤ 2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C81BE-AA5E-4D30-A37C-0D31D428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B3BF1-D295-463E-A3F5-5FED0A04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等待／排隊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37B80-573A-4CF9-9F0A-D38C3504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0–1 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D6504-8169-4615-87E4-14F54323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0512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9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B7596-9709-4B9D-9444-5E7C6CC9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323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撈數據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CBF8C-960C-4E11-9118-19C95340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323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0.5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E9DE7-7634-42E9-A951-01DFFF66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05125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75388-0C4D-4C79-BE7E-09741744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57525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判讀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560E9-AAE8-4FE4-8823-91CF9744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71850"/>
            <a:ext cx="441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1–3 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EF9F9-0CB7-42E0-81B2-AD2C0AE5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0512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F787B-6F38-4C0B-9198-3456AD73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575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內部覆核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F3213-F8E8-40C7-91E6-B16DA9CD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71850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0.5 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885FE-096A-48EC-8D96-F1E88692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6A2DD-7D4E-4307-802D-CF04A31B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57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寫報回信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7B0BE-98F1-4528-A87B-B46C5660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7185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0.5 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6CA7B-6651-492B-A607-52FD7F0B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57625"/>
            <a:ext cx="704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6C28BB-7E32-4A6C-9558-87C9E5EA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719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AI 可介入段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8B1DE9-6024-4E52-BCFE-1E325840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48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43%–78%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BA503-678C-4B3D-AA24-E4018C89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3219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966A51-BF2B-410E-9ADB-8582501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33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今日利用率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C8AEB5-A66C-47EA-8F64-1B7A61E2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74%–107%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56800-64E9-4F9F-BF4D-340DB3A5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81575"/>
            <a:ext cx="3219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80965B-67CD-4073-B7C0-5F1A964E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33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尖峰徵調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3B62A4-718B-44E6-80BF-C52E6B05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38162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7 位研發工程師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C619F8-59CD-432B-98B7-0544A63E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81575"/>
            <a:ext cx="3829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D87338-A001-495F-B0EF-0CD7FD4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339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79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7791F"/>
                </a:solidFill>
                <a:latin typeface="Microsoft JhengHei"/>
                <a:ea typeface="Microsoft JhengHei"/>
                <a:cs typeface="Microsoft JhengHei"/>
              </a:rPr>
              <a:t>證據界線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99FB5E-8326-42C0-8F89-4FA6721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81625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批次暫非瓶頸；深挖吞吐 W1–6 驗證</a:t>
            </a:r>
          </a:p>
        </p:txBody>
      </p:sp>
    </p:spTree>
    <p:extLst>
      <p:ext uri="{BB962C8B-B14F-4D97-AF65-F5344CB8AC3E}">
        <p14:creationId xmlns:p14="http://schemas.microsoft.com/office/powerpoint/2010/main" val="812343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DEE8E-9049-44FE-949E-BE388003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發現過程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127FE81-172E-4320-A35A-A74A5D07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一件真實批次顯示：八成三的誤報集中在同一根因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ECC4E-8448-4ACB-A97A-9E8E7FB0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1,647 筆樣本｜5 人 × 3.6 個工作日｜同一判準下拆出可工程化靶心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25E7D-D14E-4D94-837D-03E86E15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7410B-4D96-4D80-952F-03A7E0F6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007BD-F3CD-4119-B0E9-24117065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161E1-4835-484A-BC31-7922D2C1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260BB-D89C-4F1B-9D7A-618C7870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333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D308D-BCB3-4AFC-BCC5-3901B88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1,647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EF9F1-26AD-4DC0-A5B9-7474B118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90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事件樣本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5F36D-ED15-43EA-BEC2-7A05D392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66900"/>
            <a:ext cx="2333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9E218-12C6-4AB3-850C-B6F6B473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28825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144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94977-FC33-46BF-9B69-9BC9260C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1990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人工判讀時間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6B27D-1E4C-442E-9FB9-89679AB1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669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425A5-169E-46C8-A5D8-C8D4D2CF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8825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7659A-0FA7-4826-9FE1-291A107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全部誤報｜ADAS 104 + DMS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69F88-10BC-4746-9A7D-62B24E6F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62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959D6-1397-4437-804A-EFD6575A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288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83%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816E7-0098-40E2-AC6F-7286AE7E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90800"/>
            <a:ext cx="2419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103 / 124 為交通標誌根因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6B9D5-CEB2-4739-924C-9C99E31E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誤報根因集中度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FB3AA-700A-4008-B539-01074CD6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C34EF-3A7C-4867-9FC2-C338B625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877252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32C71-5416-42B0-A663-02BAB9E0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交通標誌辨識 103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7AE4E9-E2F8-4CD0-9C0C-79ABA0DC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243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其他 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61521-E9A5-40D9-84E7-B3AD8E0F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1057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E4F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F3688-8D88-4068-814E-7C5B5DCE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決策含義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9BEAC-6198-4CAF-BBC7-7887C252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先做可逐條檢查的規則式脈絡基線，再證明 VLM 帶來的增量。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A1AEAB-425F-4947-9B7F-5B6C0FF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速限資料已存在；不必先買模型，也不必先承諾部署。</a:t>
            </a:r>
          </a:p>
        </p:txBody>
      </p:sp>
    </p:spTree>
    <p:extLst>
      <p:ext uri="{BB962C8B-B14F-4D97-AF65-F5344CB8AC3E}">
        <p14:creationId xmlns:p14="http://schemas.microsoft.com/office/powerpoint/2010/main" val="1079874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7B5EBC-0522-41CE-B1AD-A18EF04B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發現過程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4CFAD11-98AF-4AAD-81A1-C9D0F30A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看得見的誤報有證據；看不見的漏放只有一份薄樣本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8BD51-C6EE-4209-8A12-1E50044C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兩側證據強度的落差，正是第一筆錢應該買量測的理由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A2947-CDAC-45BD-92BA-5797EA9B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20061-0568-4A8A-81BA-FC3693B7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2A5B2-17B6-4B9B-9356-16E46661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8B96E-B562-4FA9-93D5-84895984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7054A-DC32-4B41-8977-79F81B2C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8577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9DCD0-A43D-44CC-86B1-28C923D2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看得見｜誤報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CDFAF-0390-4606-893D-7836729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1,647 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32A35-2F2F-4D41-BA78-7D4AFA5E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71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獨立批次母體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8BD33-63A2-41BA-8BF4-8BAEA7CD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124 筆誤報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7EAA4-0E01-48AD-81E2-FFB5898B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103 / 124 同一根因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1077B-F92D-497D-BDA9-A2FA07E1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證據可直接連到規則基線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F53EB-339B-461A-AD7C-D66FE94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57375"/>
            <a:ext cx="54673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AEF41-40EE-4460-BD69-7BD925AB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看不見｜漏放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7EFEC-A92F-4AF9-ADD9-83A0C37C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39 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62574-6ED7-4735-A1DD-8FF137D9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717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一次性人工觸發測試｜自註為下限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0D5C9-73AB-4388-9150-5725E4D9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6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12 / 39 漏偵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0CCEA-443B-4685-8B2E-8E3F9BC2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95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其中 6 / 12 為低光或雨天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5B7B5-F278-45CF-AC21-2F10B2A1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71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 / 39 尚無法歸類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6BD2C-F45E-4495-9172-C130CE78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572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0CC5B-F9C0-4B42-B2B4-D00947C0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578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W1–6 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09CE3-D392-4DAD-9C44-A657ED3D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911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凍結評估集｜帶 95% 信賴區間的漏放率｜複核者一致性基準</a:t>
            </a:r>
          </a:p>
        </p:txBody>
      </p:sp>
    </p:spTree>
    <p:extLst>
      <p:ext uri="{BB962C8B-B14F-4D97-AF65-F5344CB8AC3E}">
        <p14:creationId xmlns:p14="http://schemas.microsoft.com/office/powerpoint/2010/main" val="1733362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6C4E6B-9748-4E0F-A3A6-7362925C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策略選擇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3D12AC1-518B-4498-AF65-AEFFEF4C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先做規則，再用第 6 週證據決定是否投 VLM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B5287-C1A8-4EAC-B1C9-D6E139ED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四條路用同一把尺比較：量化效果、成本形狀、反悔成本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0C331-D316-430E-BA5C-3080F5C9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2C015-589A-4D0E-A033-ACA654F8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3ED8B-204A-4A32-AD13-91E5E1D2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1540B-FC9A-4499-BAB0-98E7F968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7854B-7B41-4919-A9CE-6A57686A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選項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881BD-D728-4514-A05C-2C30DCC5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量化依據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4D15F-1FDB-436C-88E2-7A50CB69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成本形狀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6AF5A-751E-4D24-97FA-1EB7725F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可停止性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333BF-3842-4448-A9BF-C799149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85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E1E46-6C4C-4400-8C48-9EDE5639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加人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A2073-B45B-4BF4-9727-E2B77C16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覆蓋全客戶需 17–24 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C0E7A-1770-4AAD-8B39-811874AC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線性常態支出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F023C-1761-45B0-AEC0-A50286CF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288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低｜編制留下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42077-082C-4AEA-9264-711E506C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85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B1688-7D3A-4E14-90AC-F03B81C6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調班＋尖峰池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C3421-DF75-430B-99CF-DAC8FD47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只動等待／排隊 0–1 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F51A9-0C6C-482B-B9BE-EB62945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線性、削峰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A4B27-0CF2-40B3-8811-CB2F8D77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71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高｜G1 可轉向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E9E7F-F878-4F8D-9750-D53DB13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085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8CFE4-8688-4692-80ED-D20BC12B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規則式脈絡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56710-0865-4160-82A7-ED9B6357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103 / 124 同一根因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B5F09-1EF4-4951-8EFE-EA37B8A1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一次性下移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027215-04B3-4A16-8F7F-19CD9B02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14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高｜逐條回退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47FA2-C985-4A55-97A3-436D3A5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085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40EE4-6B4A-4544-AF51-9D1AF269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地端 VLM 影子試驗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B9DDB-B60B-47C9-8559-D6AC940C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W1–6 定義門檻；六個月對外 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734FC3-9635-4D0E-833D-A63FCE6F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次線性潛力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8CFE95-26B1-4FBA-BC84-CCE4DF8E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577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中高｜G1/G2/G3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09BE7-C7B2-45B8-B1C0-8B8647BE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57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2C04A3-10AB-4F4A-9249-24F0B491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81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推薦組合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33BB78-415E-407A-9147-A5365A78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054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規則式基線現在做；VLM 只核准影子試驗，G1 保留轉回調班方案的出口。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35C426-0ADC-4402-85E7-8F66611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24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競爭差異：沿用既有兩階段推論與自有脈絡資料，不以堆疊車端算力取勝。</a:t>
            </a:r>
          </a:p>
        </p:txBody>
      </p:sp>
    </p:spTree>
    <p:extLst>
      <p:ext uri="{BB962C8B-B14F-4D97-AF65-F5344CB8AC3E}">
        <p14:creationId xmlns:p14="http://schemas.microsoft.com/office/powerpoint/2010/main" val="1150606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D2313B-3DD2-4DC5-B321-BAB3A599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業務影響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3C8DD32-94DF-4D4C-B7A4-5E8BB658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真正的說服力，是把方案自己新增的風險也算進去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C7221-5363-4575-878D-F73129EB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完整風險登錄 10 項；主片只留 6 項最會改變放行決策的風險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2E7EB-CAAA-451D-8FD6-DDDB699D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4507F-A9E9-4144-B1DC-727F14A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AC605-942A-47A6-8A03-913DDA9D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8DA34-98BC-40C1-A091-64A446FF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24910-141A-416D-ADCC-C9E7F6CA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風險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E6829-7111-4053-B290-41A660C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緩解與當責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B256C-D5A2-4CF3-82DD-B3BC48F8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43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失效／停止訊號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71418-E50B-4FA2-B00C-2E09DD10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84B45-F24D-44EF-B7FD-C21CE284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R2 判準不一致／資料級聯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FB12A-142A-4D7A-8E21-60FEF833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621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黃金題＋抽樣雙人複核｜數據負責人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35A78-E0B9-4D3D-9517-FA28E7DD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621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根因占比偏離基準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BE58C-37FE-437D-B1B8-6D73F447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2299A-078D-49C4-BEB2-5880A9BB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R3 自動化偏差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A0249-A11C-41C3-AFF2-9C852751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不顯示模型信心＋盲測｜業務負責人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67E33-993A-464A-88E4-D3AE48C1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098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盲測組與對照組差異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0DF74-1495-4E48-8953-B8C7670E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28D71-EEC4-4D00-96FE-B00F26F7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R7 缺管理層支持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7B3EF-FF04-46CD-AC58-B2B6D59D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贊助人指派＋門會出席｜專案贊助人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1633C-BAC1-41AB-924A-AEA2DC45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575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連續兩次無高階出席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1DB9B-A70F-4149-85B1-4539A377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2B8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B0D06-9185-42B6-96FC-49FC82AE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R8 既有誤報的法律地位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0435C-54B5-4573-A6E9-11B2EDC1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052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G1 前取得法務書面意見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B79EA-CD41-4C72-B303-F5024522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052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目前尚無可執行緩解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E7D99-5C50-4178-AA4F-46602BEF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2B8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23E3CC-9BF1-413D-A6E7-0C27BB0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R9 自動結案造成漏放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E9F599-7A2A-476B-B562-3576F774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529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六個月影子模式＋G1 核定安全紅線類別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89738-49E0-4025-AB15-AFEC3547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529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漏濾率差值 95% CI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C9BC7-D71C-4683-9BE1-B32031B1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2B8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AF4F2C-44F5-486B-9F20-31FCA3AD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R10 自動結案造成冤枉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44D8D-0E88-41C5-914C-62B44C4B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006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申訴強制轉人工，且不用同一模型複判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FBEF0D-4982-480F-B7B0-0B8714A7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4006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申訴率與翻案率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E706F6-9703-4E77-967A-24D9FEFE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R9 / R10 是本方案新增的風險；放行責任在移交後的獨立 G4，不在本次核准範圍。</a:t>
            </a:r>
          </a:p>
        </p:txBody>
      </p:sp>
    </p:spTree>
    <p:extLst>
      <p:ext uri="{BB962C8B-B14F-4D97-AF65-F5344CB8AC3E}">
        <p14:creationId xmlns:p14="http://schemas.microsoft.com/office/powerpoint/2010/main" val="136233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399950-8D38-4B6E-BE0B-B69D2ECC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業務影響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D5E3E9C-5AA6-4E43-8DCA-6FCAC6CD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六個月只核准影子模式；移交後仍有 7 項未達標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6E829-9910-4449-9B12-DD1E77F9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移交後若通過獨立放行門，每 1,000 筆爭議最多約 850 筆不再人工覆核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E14C1-B7CA-4378-8B33-A2E5C0DE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5FA24-DF73-480B-99DC-3D70B226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9C17C-7849-49A4-B186-495995D4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FE2EA-E8AF-455B-9E64-86AB1024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722D6-8AE0-44C0-8C3B-73926FE6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澳洲 AI 倫理八原則（2019）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69398-6203-438C-88D0-189FB4AD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專案期｜影子模式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D189A-E9BC-4EF8-892A-9FB29D58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43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移交後｜開到天花板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FAD69-DE59-4BF9-BB38-40AF7804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B2224-06E8-471A-BBAC-AA690336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1 人類、社會與環境福祉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0E7DA-0863-46E8-925E-9E9BAAC1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00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9E298-D813-4D27-A466-A3425289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同人力承接更高量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9E57C-062B-429F-8CD6-21500A1F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0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DB1A4-41A3-42FC-8658-4572C7F3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約 850 / 1,000 無人看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41A06-BBED-4766-AAB1-E1414E8A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104E8-3FB5-48F6-A4CF-0A6D003E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2 以人為本的價值觀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15B6F-0B73-426B-BCB0-55CEC62F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2D877-2865-4223-A43E-2F1415BF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1937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人仍逐筆判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AC0D15-4E11-41A1-8B36-CAF860E2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76BD7-FDEA-4499-A676-CE13DCD4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19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機器做終局判定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5C492-83BA-42C1-B11A-3F1BCA99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58438-EAAE-4F5D-88C4-22DFA50D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3 公平性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04FC3-15A9-4A8E-94FA-8A70C80A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316FD-1B70-4B7E-B02A-AFFACCDB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051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配給制未解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2D648-E25A-4B76-BAC7-221996CC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BC8F74-83B2-48C5-BC9E-12A92417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05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改由機器信心配給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625EB-A267-4104-9013-2F21700D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978DA-9DA5-45A7-8A69-0321F4F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4 隱私保護與安全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B0C1A2-101B-4C58-990D-5EA7751F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57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8446C-02EC-4874-A441-03710B6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909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擴大影像調閱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D1A7AE-ED2B-4E0C-ADE4-A60CC157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86F79A-4E1A-4AB3-B434-A8D4128D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909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不因自動結案額外惡化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F76C23-6D18-4532-A780-38F1B226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3EC48E-D4A4-4497-AFD0-CDF8184E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5 可靠性與安全性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516EBE-A5C1-4BFD-9169-032D3021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43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967973-4B06-40CB-991F-D7CEC9BE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767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漏放率基準尚缺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34529F-9FFE-474A-8F67-0C11421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6DE19A-B696-4C34-8E43-DAF2593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76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尚無部署證據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A8991B-491C-4A98-A36E-F27F877F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B6F319-EA66-4F48-B79A-0DE35C22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1525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6 透明性與解釋性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434ED4-C7AB-40DA-B7B0-EFCCDE05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2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72171A-2996-4FF5-8479-595E8FF9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6247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只記錄、只比對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12BC2D-1893-4A65-97AC-C5F288C9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D47FCC-DA72-4CD7-B875-B9FD1DD5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62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客戶揭露層級未定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8702A5-C40C-446A-B6C0-844910EB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80C7EA-FC0B-4AEB-99D1-CC72B766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7 可申訴性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983874-4747-43AF-9620-63830BE2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14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DFD5CA-9AE5-4B78-A6F5-A828FB25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482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駕駛本人無管道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6DCE5E-8621-49A3-9935-C705A68C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14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87CDEC-4600-48FA-8005-C5524714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048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部署否決條件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BFE3D0-63D1-4870-A296-AABA2EB6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831565-0977-4D35-B91B-1C62CBF3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8 問責性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E02F8F-A2A8-4EA0-AFF7-16DA1E98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600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757F87-8689-4EEB-BAE2-E6C928A9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5340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RACI 與三道專案門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618C11-8AB7-4ADA-A5B5-70BAEAF3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00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FA5312-6B96-4A09-AF1B-478D75E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534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單案無人簽名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60539C-A4ED-4B33-8C77-92B4EFF8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0572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2FDEAB-8C75-41BD-A9D5-E5D27AA3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86475"/>
            <a:ext cx="1032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G4 是移交後的獨立部署門；未通過前，任何 AI 結案判定都不得對外生效。</a:t>
            </a:r>
          </a:p>
        </p:txBody>
      </p:sp>
    </p:spTree>
    <p:extLst>
      <p:ext uri="{BB962C8B-B14F-4D97-AF65-F5344CB8AC3E}">
        <p14:creationId xmlns:p14="http://schemas.microsoft.com/office/powerpoint/2010/main" val="6873351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E487DD-051F-48BC-8D69-C5D7C9EC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效益與衡量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EAE6207-C6C0-489A-97BF-15A65208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成功不是『模型更準』；而是 2 天內回覆，並保留一票否決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B06DC-421D-4A3B-AA0D-4E531601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業務成果 → 營運驅動 → 否決型護欄，目標與責任落在不同決策門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C2DF1-8403-466B-BCC6-D3A93AD1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E58D1-BA35-45C7-9D1C-B23637CD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50B05-A7B6-4F0C-8EBF-4CC03AAD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E0183-1101-458C-AB11-948C70EA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DEDC5-184C-465F-BA43-A453C3D6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12F47-D9EC-4BB7-9C3A-86A3D623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2–5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DD83E-F342-42BE-99D1-CC6164B3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→ 2 天內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FDA32-C0E7-4481-B69E-D0BC69C0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336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CEA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DCEAF4"/>
                </a:solidFill>
                <a:latin typeface="Microsoft JhengHei"/>
                <a:ea typeface="Microsoft JhengHei"/>
                <a:cs typeface="Microsoft JhengHei"/>
              </a:rPr>
              <a:t>主要業務價值指標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5B9C9-A024-4FD3-A1B7-5CFE2427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45659-648D-42BE-89AC-BEA96B2D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A492B-7D45-44A8-85BE-6B8DC37D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期內人工驗證涵蓋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73954-3EFE-45C1-944F-10471F3D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5C335-C7EF-484A-ABE6-D4A1B100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13,000+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F994C-EE2C-4249-903A-16D7516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事件／日目標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325C9-991C-4915-B390-4A1EE071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CA43F-3029-477F-88FD-8B6339A5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NT$520–1,521萬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F8577-69E6-4958-A47A-5184F230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可避免增聘／年｜移交後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87339-C534-44A3-96AC-8504349D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營運驅動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642F5-53A3-4467-9AD7-77EE9012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06BFB-572D-4CEA-B361-9F01F723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單位人工工時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E68C5-2066-4A97-BF2D-73CE2729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兩條工作流 W6 正式量測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0BBED-F957-4AFE-B6BD-1B1D8DE5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6C7EE-45A0-4A88-A622-525994B8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ADAS 誤報率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DEDB8-AB1C-4B33-9B65-8A521CBE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10.1% 基準 → G1 重訂 &lt;7% 目標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23016-3D5E-49F3-B88F-EC3C2076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C4497-7CBC-4589-BB84-8053DE65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尖峰研發人時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26261B-41E8-4346-8415-51056C9D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期內先建基準；移交後歸零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759073-0C75-430C-8EFA-32062742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58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F62940-3265-4010-B6A0-AD6821CA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護欄層｜否決型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FC5DAD-C4F1-4FE1-8A74-D637D118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漏放率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9B851F-E42F-4E7B-937D-2C65B60F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W6 交 95% CI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EA9604-A28D-47B7-AD23-0B453A64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複核者一致性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41AD7A-900B-4D45-830B-0FBE7731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否決 G2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1C421E-D074-4860-AF19-A5113449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資料可追溯率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F62EEE-6FA0-4BB9-AA44-B4843F8B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100%｜無中間值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32CD30-B5D0-4AC5-9E29-4208D863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漏濾率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6333AB-C003-4E37-8CBE-41858764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差值 95% CI ≤ G1 預註冊 δ</a:t>
            </a:r>
          </a:p>
        </p:txBody>
      </p:sp>
    </p:spTree>
    <p:extLst>
      <p:ext uri="{BB962C8B-B14F-4D97-AF65-F5344CB8AC3E}">
        <p14:creationId xmlns:p14="http://schemas.microsoft.com/office/powerpoint/2010/main" val="682673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956D4E-69F7-4D90-A69B-02F65687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項目計畫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DDAD53A8-BD16-4F37-A10F-B7F29FB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前三包不是繞路：沒有量測，就沒有資格部署模型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51750-8AC7-4E5B-A16E-E50F737D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四階段、四臂比較、四道門；只有 WP-E 是 AI 主體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F01A5-7937-480C-993B-3BA0EAD3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7DA0A-40A6-48B1-AB89-8E4ECDB3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E39FA-2784-4931-B849-7079184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F356F-12B2-40A2-B6C5-B89E17FE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07EFB-36ED-447E-938C-7CD22435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W1–6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66C87-1A97-4019-BD46-D97BE782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W7–12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8123D-29D6-49F4-81A6-02BAE5AB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W13–24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03FE2-7FD1-4271-B1F0-FD6AFA2F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240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移交後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F4FDB-3000-4458-9027-AA5A498E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7EAF2-3A50-4A9D-89D3-F648EAE8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18199-0C7E-4765-91D0-5A8124AC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19392-A7AF-4717-9EA8-DBE4C38B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評估底座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F7DC4-A0B7-4A47-9F56-30EBBA4F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692D5-4759-4EC4-9175-2DB4B4FD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WP-A｜凍結集・錯誤率・工時基準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71A6F-3EF2-4262-B08B-425C78A9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判準品質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BEE83-84D9-4C75-A2BF-6D717092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14625"/>
            <a:ext cx="4762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7B377-384E-42E6-8575-120B1B35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03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WP-B｜黃金題・一致性・判準手冊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AC841-10D3-4AE4-BA29-E2E57A0D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規則基線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7C5BC-7C86-4519-A258-BA082CD4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48025"/>
            <a:ext cx="3143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2FBD0-EAD4-4DB7-AD30-27CE5C77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WP-C｜脈絡規則與可解釋對照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B279C-AA37-41C6-8354-083A1997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營運自動化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E5ACB-CAA0-4803-928D-D5AD5016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81425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FA063-83B9-4EC9-A25A-E6869319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WP-D｜證據包・2 天內回覆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EF2AF-0F8E-4974-B945-3B5B23F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地端 VLM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DF3DA-A2BC-4ABD-92B5-302090E4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3524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03C184-9FC0-4C3D-9936-88B2F941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WP-E｜離線試驗 → 影子模式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698498-0D76-4B35-BAD6-A2C6829E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治理移交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E19CBA-56AC-46DB-8065-4CA8B01F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4822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F9BB3D-A596-47D2-96B0-5E5E3059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WP-F｜儀表板・文件・移交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7229FC-B2BB-4C40-B71D-C8E9613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B71FC1-1C89-4FC4-B403-65C5BF67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G1｜W6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CC7CD9-20CE-431E-8A01-DEA2DCE2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695950"/>
            <a:ext cx="923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門檻預註冊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可轉回調班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2878C5-930B-4FBB-80AA-7AE73EFD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C1EE9B-3F51-499A-BDF8-81567E54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G2｜W12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1A0A26-EC42-468E-A455-D0C0F7B9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695950"/>
            <a:ext cx="923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四臂比較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工具＋人機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18AEB2-010B-419A-896E-766543F3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9F40A8-3367-45EB-9618-451AB33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G3｜W24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A06768-F44E-432F-8FAA-63C90F2B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695950"/>
            <a:ext cx="923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部署決定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可不部署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0D425A-506F-4A35-90B3-90D343B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381625"/>
            <a:ext cx="1190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969CDA-6721-4CB1-9DEE-B82552EE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67350"/>
            <a:ext cx="1114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G4｜移交後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7EC82F-3AE0-40B0-828A-5C4333B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695950"/>
            <a:ext cx="1114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獨立放行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不在本案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200314-041E-42F1-BF61-7703BB3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G2 四臂：現行模型｜規則式脈絡｜人機協作｜影子模式（唯一能量到無人結案風險）</a:t>
            </a:r>
          </a:p>
        </p:txBody>
      </p:sp>
    </p:spTree>
    <p:extLst>
      <p:ext uri="{BB962C8B-B14F-4D97-AF65-F5344CB8AC3E}">
        <p14:creationId xmlns:p14="http://schemas.microsoft.com/office/powerpoint/2010/main" val="1879805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DFE41E-EFCA-4246-BB14-0C051221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決策請求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B1AE572B-419E-45DC-8A7A-448BD8DC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請先核准 6 週量測；不要先核准部署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A3706-7BF1-4E4E-9FD1-16E5B3A8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成本主體是人，治理成本也由人構成；所有金額皆為量級、非報價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3B000-9529-4024-AF76-F3647AC2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63217-0A48-4F38-A3A1-E1F5BFE8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B0DD2-7469-4BAD-95FD-852654D4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FC30D-AB4E-4017-8F5F-15920236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C8124-7A5A-43AE-965C-D361F89C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000625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0D5B7-38B2-458E-9681-7B50D02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今天核准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8AFED-5F62-487F-A51D-C496757C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W1–6｜4.85 人月＋指定贊助人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6ACF2-F777-4FC7-A2CD-4373A0E7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5334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ADF97-66A5-4D9C-87D0-79763548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今天不核准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21CEE-0B7E-485A-9458-C41CC125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模型部署｜對外自動結案｜完整預算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AE7C1-973F-4E59-A92D-DC1608B5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9340D-66E6-42A1-AE74-9A3E5E48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NT$158–177 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592DC-072D-4197-BC00-5FAC10B7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六個月專案人力估算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50451-569B-4415-B648-3FCF7CD6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CF0D8-20DA-4F36-ACE2-683554D9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NT$16–20 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19AE6-FFC9-4BBE-BFE7-2425C3CF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地端設備量級｜一台起步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0BD03-C02E-4217-893C-2FA52510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8E30E-17B9-4932-A32C-FAF05FCE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NT$50–118 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050B5-C3AF-46CE-AB08-03EA798C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三年可推算 TCO｜影子模式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86FA7-7A3F-4029-97C1-8DBE3075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63215-121F-457D-816C-7DF4D5F3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NT$173–1,219 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2F28B-D59F-4F37-84A2-B58689C9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三年可推算 TCO｜移交後含稽核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FF364-8EE8-48AF-AFEE-114D014B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6762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672BF3-0C4F-496E-B24F-4E9C92E1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擴編反事實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844F8B-D5CE-453D-BBD7-68ECD80C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不做：增聘 12–19 人｜NT$1,248–2,223 萬／年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E61F5-2992-424A-BB57-ABC9086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625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做後：仍須增聘 6–7 人｜可避免 5–13 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9F8C8-1D6B-4D12-8520-8A7D247D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1">
                <a:solidFill>
                  <a:srgbClr val="E67E2E"/>
                </a:solidFill>
                <a:latin typeface="Microsoft JhengHei"/>
                <a:ea typeface="Microsoft JhengHei"/>
                <a:cs typeface="Microsoft JhengHei"/>
              </a:rPr>
              <a:t>可避免增聘：NT$520–1,521 萬／年｜移交後，不是六個月承諾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8E3FC0-52B9-4181-9D72-0EF32BEC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52950"/>
            <a:ext cx="3562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9962D-5484-4DD4-940F-B610D2D7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自動化的代價｜稽核稅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41FD6D-1B05-4149-AA68-CD1F8757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38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0.39–3.14 FTE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699A33-7794-49F4-8658-FF4D98EB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吃掉毛節省的 3%–52%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397392-02E5-4786-AE05-D4D375D0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0547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2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稽核、申訴重判、漂移調查齊備前，不宣稱節省額。</a:t>
            </a:r>
          </a:p>
        </p:txBody>
      </p:sp>
    </p:spTree>
    <p:extLst>
      <p:ext uri="{BB962C8B-B14F-4D97-AF65-F5344CB8AC3E}">
        <p14:creationId xmlns:p14="http://schemas.microsoft.com/office/powerpoint/2010/main" val="102484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62779-A94D-4C42-A817-527D1E17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參考文獻｜References（1 / 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EDA3E-54D3-42C2-91F4-7AACB7A2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95B8E-B898-4D68-9B48-AC9555FF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APA 7｜公開文獻支撐敘事；內部數字另標假設與推算方式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BAA13-9D47-41A2-8F12-5ED4FED3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Department of Industry, Science and Resources. (2019). Australia’s AI ethics principles. Australian Government. https://www.industry.gov.au/publications/australias-ai-ethics-principles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80BF9-FD72-4EAC-ADFC-7D154922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5613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IBM. (2020). AI maturity framework for enterprise applications [White paper]. IBM Corporation. https://www.ibm.com/downloads/cas/OB8M18WR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C7955-A7D0-4325-99E3-5526684C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IBM. (n.d.). University Hospitals Coventry and Warwickshire (UHCW) NHS Trust: Patient-centered care from AI-centered efficiencies [Case study]. https://www.ibm.com/case-studies/uhcw-nhs-trust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1B4F1-BE9F-42E8-9477-7E9E28BE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2088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Sambasivan, N., Kapania, S., Highfill, H., Akrong, D., Paritosh, P., &amp; Aroyo, L. M. (2021). “Everyone wants to do the model work, not the data work”: Data cascades in high-stakes AI. CHI ’21. https://doi.org/10.1145/3411764.3445518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2EFF5-B56D-49F3-8D7E-C9EEC20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Parasuraman, R., &amp; Manzey, D. H. (2010). Complacency and bias in human use of automation. Human Factors, 52(3), 381–410. https://doi.org/10.1177/0018720810376055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5386D-8E5F-4D58-8284-F2078B0E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5613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Goddard, K., Roudsari, A., &amp; Wyatt, J. C. (2012). Automation bias: A systematic review. JAMIA, 19(1), 121–127. https://doi.org/10.1136/amiajnl-2011-000089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7BD48-07A4-455B-A9A3-BDD1DEDE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Rudin, C. (2019). Stop explaining black box machine learning models for high stakes decisions and use interpretable models instead. Nature Machine Intelligence, 1(5), 206–215. https://doi.org/10.1038/s42256-019-0048-x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80428-C730-4C7C-90A3-A1C420FA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72088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Sculley, D., Holt, G., Golovin, D., et al. (2015). Hidden technical debt in machine learning systems. NeurIPS 28, 2503–2511. https://proceedings.neurips.cc/paper/2015/hash/86df7dcfd896fcaf2674f757a2463eba-Abstract.html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D07FB-09FB-4330-A025-7C782F3E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D4032-5FC7-40AB-8DE4-17DE93C0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The company name has been changed for commercial in confidence reasons.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04C43-49C1-4FEF-8D0A-870F6314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6734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713FD-82AD-4CA2-B7DA-001FEB1C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E4F78"/>
                </a:solidFill>
                <a:latin typeface="Microsoft JhengHei"/>
                <a:ea typeface="Microsoft JhengHei"/>
                <a:cs typeface="Microsoft JhengHei"/>
              </a:rPr>
              <a:t>參考文獻｜References（2 / 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D6A96-45C5-42EE-9279-A4E2A39B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88743-44FB-4782-BD0E-2FB543F8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APA 7｜公開文獻支撐敘事；內部數字另標假設與推算方式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E5A78-1714-4215-92F3-587E217C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Ensign, D., Friedler, S. A., Neville, S., Scheidegger, C., &amp; Venkatasubramanian, S. (2018). Runaway feedback loops in predictive policing. PMLR, 81, 160–171. https://proceedings.mlr.press/v81/ensign18a.html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85CD4-28A8-4ED5-886F-16E0294F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5613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Guo, C., Pleiss, G., Sun, Y., &amp; Weinberger, K. Q. (2017). On calibration of modern neural networks. PMLR, 70, 1321–1330. https://proceedings.mlr.press/v70/guo17a.html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E9F66-C3E7-4746-B1D0-A38F8493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Northcutt, C. G., Athalye, A., &amp; Mueller, J. (2021). Pervasive label errors in test sets destabilize machine learning benchmarks. NeurIPS Datasets and Benchmarks. https://arxiv.org/abs/2103.14749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58D6F-B491-4B7B-8B99-62CE7008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2088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National Institute of Standards and Technology. (2023). Artificial intelligence risk management framework (AI RMF 1.0) (NIST AI 100-1). https://doi.org/10.6028/NIST.AI.100-1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52309-DD4A-4290-911F-E823FB0F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191125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Australian Human Rights Commission. (2020). Using artificial intelligence to make decisions: Addressing the problem of algorithmic bias [Technical paper]. https://humanrights.gov.au/sites/default/files/document/publication/ahrc_technical_paper_algorithmic_bias_2020.pdf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19999-DAD0-41F2-B171-3CA87E10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5025"/>
            <a:ext cx="5191125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Press, G. (2016, March 23). Cleaning big data: Most time-consuming, least enjoyable data science task, survey says. Forbes. https://www.forbes.com/sites/gilpress/2016/03/23/data-preparation-most-time-consuming-least-enjoyable-data-science-task-survey-says/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1A5A4-7B9D-4825-B665-F093D9B7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92675"/>
            <a:ext cx="5191125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Hopp, W. J., &amp; Spearman, M. L. (2011). Factory physics (3rd ed., chaps. 7–9). Waveland Press.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9A3F6-9647-42C7-8386-C4B11A70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1BF15-2418-4A3A-B1B1-33FF0645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The company name has been changed for commercial in confidence reasons.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060C4-726E-4A4D-BC2F-D9D4D872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9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967347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TS Editable">
      <a:maj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ＭＳ Ｐゴシック"/>
        <a:font script="Hang" typeface="맑은 고딕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2026-08-13T14:25:39.7940000Z</dcterms:created>
  <dcterms:modified xsi:type="dcterms:W3CDTF">2026-08-13T14:25:39.7940000Z</dcterms:modified>
</coreProperties>
</file>