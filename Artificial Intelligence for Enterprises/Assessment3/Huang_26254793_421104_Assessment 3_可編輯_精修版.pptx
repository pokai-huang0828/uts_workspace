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a881036ea4b05" /><Relationship Type="http://schemas.openxmlformats.org/officeDocument/2006/relationships/extended-properties" Target="/docProps/app.xml" Id="R26e00b3d72dd4391" /><Relationship Type="http://schemas.openxmlformats.org/officeDocument/2006/relationships/officeDocument" Target="/ppt/presentation.xml" Id="R10d4090d2e35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e23a0a8564541"/>
  </p:sldMasterIdLst>
  <p:notesMasterIdLst>
    <p:notesMasterId xmlns:r="http://schemas.openxmlformats.org/officeDocument/2006/relationships" r:id="R8ad8b6a82a20429c"/>
  </p:notesMasterIdLst>
  <p:sldIdLst>
    <p:sldId xmlns:r="http://schemas.openxmlformats.org/officeDocument/2006/relationships" id="256" r:id="Rce5e61493b454382"/>
    <p:sldId xmlns:r="http://schemas.openxmlformats.org/officeDocument/2006/relationships" id="257" r:id="Rfd285a52e0084ec3"/>
    <p:sldId xmlns:r="http://schemas.openxmlformats.org/officeDocument/2006/relationships" id="258" r:id="R9789b9b45a5e4740"/>
    <p:sldId xmlns:r="http://schemas.openxmlformats.org/officeDocument/2006/relationships" id="259" r:id="R76670a60218f4604"/>
    <p:sldId xmlns:r="http://schemas.openxmlformats.org/officeDocument/2006/relationships" id="260" r:id="Rb6c6695ec6074d60"/>
    <p:sldId xmlns:r="http://schemas.openxmlformats.org/officeDocument/2006/relationships" id="261" r:id="Rc9087a4818284aa4"/>
    <p:sldId xmlns:r="http://schemas.openxmlformats.org/officeDocument/2006/relationships" id="262" r:id="R7e97714a9f7e4647"/>
    <p:sldId xmlns:r="http://schemas.openxmlformats.org/officeDocument/2006/relationships" id="263" r:id="R774843ebb21143d6"/>
    <p:sldId xmlns:r="http://schemas.openxmlformats.org/officeDocument/2006/relationships" id="264" r:id="R1f00a2076a7f4b94"/>
    <p:sldId xmlns:r="http://schemas.openxmlformats.org/officeDocument/2006/relationships" id="265" r:id="R47bf97b41db240db"/>
    <p:sldId xmlns:r="http://schemas.openxmlformats.org/officeDocument/2006/relationships" id="266" r:id="R73bc6c1827c64e20"/>
    <p:sldId xmlns:r="http://schemas.openxmlformats.org/officeDocument/2006/relationships" id="267" r:id="R80d97e3ec35e40a1"/>
    <p:sldId xmlns:r="http://schemas.openxmlformats.org/officeDocument/2006/relationships" id="268" r:id="R6cba572d272d4dc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85aa32e2e4ca4" /><Relationship Type="http://schemas.openxmlformats.org/officeDocument/2006/relationships/slideMaster" Target="/ppt/slideMasters/slideMaster1.xml" Id="R85be23a0a8564541" /><Relationship Type="http://schemas.openxmlformats.org/officeDocument/2006/relationships/notesMaster" Target="/ppt/notesMasters/notesMaster1.xml" Id="R8ad8b6a82a20429c" /><Relationship Type="http://schemas.openxmlformats.org/officeDocument/2006/relationships/presProps" Target="/ppt/presProps.xml" Id="R21ef3d53ba1d4a89" /><Relationship Type="http://schemas.openxmlformats.org/officeDocument/2006/relationships/viewProps" Target="/ppt/viewProps.xml" Id="R08f7c7a7051e49be" /><Relationship Type="http://schemas.openxmlformats.org/officeDocument/2006/relationships/tableStyles" Target="/ppt/tableStyles.xml" Id="R9d9810b4d29c487c" /><Relationship Type="http://schemas.openxmlformats.org/officeDocument/2006/relationships/slide" Target="/ppt/slides/slide1.xml" Id="Rce5e61493b454382" /><Relationship Type="http://schemas.openxmlformats.org/officeDocument/2006/relationships/slide" Target="/ppt/slides/slide2.xml" Id="Rfd285a52e0084ec3" /><Relationship Type="http://schemas.openxmlformats.org/officeDocument/2006/relationships/slide" Target="/ppt/slides/slide3.xml" Id="R9789b9b45a5e4740" /><Relationship Type="http://schemas.openxmlformats.org/officeDocument/2006/relationships/slide" Target="/ppt/slides/slide4.xml" Id="R76670a60218f4604" /><Relationship Type="http://schemas.openxmlformats.org/officeDocument/2006/relationships/slide" Target="/ppt/slides/slide5.xml" Id="Rb6c6695ec6074d60" /><Relationship Type="http://schemas.openxmlformats.org/officeDocument/2006/relationships/slide" Target="/ppt/slides/slide6.xml" Id="Rc9087a4818284aa4" /><Relationship Type="http://schemas.openxmlformats.org/officeDocument/2006/relationships/slide" Target="/ppt/slides/slide7.xml" Id="R7e97714a9f7e4647" /><Relationship Type="http://schemas.openxmlformats.org/officeDocument/2006/relationships/slide" Target="/ppt/slides/slide8.xml" Id="R774843ebb21143d6" /><Relationship Type="http://schemas.openxmlformats.org/officeDocument/2006/relationships/slide" Target="/ppt/slides/slide9.xml" Id="R1f00a2076a7f4b94" /><Relationship Type="http://schemas.openxmlformats.org/officeDocument/2006/relationships/slide" Target="/ppt/slides/slide10.xml" Id="R47bf97b41db240db" /><Relationship Type="http://schemas.openxmlformats.org/officeDocument/2006/relationships/slide" Target="/ppt/slides/slide11.xml" Id="R73bc6c1827c64e20" /><Relationship Type="http://schemas.openxmlformats.org/officeDocument/2006/relationships/slide" Target="/ppt/slides/slide12.xml" Id="R80d97e3ec35e40a1" /><Relationship Type="http://schemas.openxmlformats.org/officeDocument/2006/relationships/slide" Target="/ppt/slides/slide13.xml" Id="R6cba572d272d4d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00b48f7db6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af1ecd07f4d02" /><Relationship Type="http://schemas.openxmlformats.org/officeDocument/2006/relationships/notesMaster" Target="/ppt/notesMasters/notesMaster1.xml" Id="R4c9481dd4a4644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e0a92fa2cf4001" /><Relationship Type="http://schemas.openxmlformats.org/officeDocument/2006/relationships/notesMaster" Target="/ppt/notesMasters/notesMaster1.xml" Id="R9207a038b05b4d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b0aa357db4dd4" /><Relationship Type="http://schemas.openxmlformats.org/officeDocument/2006/relationships/notesMaster" Target="/ppt/notesMasters/notesMaster1.xml" Id="Rf3758370581b44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1530b684c646cf" /><Relationship Type="http://schemas.openxmlformats.org/officeDocument/2006/relationships/notesMaster" Target="/ppt/notesMasters/notesMaster1.xml" Id="Ra8b3b7978175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7e6b311874cb7" /><Relationship Type="http://schemas.openxmlformats.org/officeDocument/2006/relationships/notesMaster" Target="/ppt/notesMasters/notesMaster1.xml" Id="R0cf41cbe7469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fcb0537f44555" /><Relationship Type="http://schemas.openxmlformats.org/officeDocument/2006/relationships/notesMaster" Target="/ppt/notesMasters/notesMaster1.xml" Id="R91b291ab030349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6388396cd48c3" /><Relationship Type="http://schemas.openxmlformats.org/officeDocument/2006/relationships/notesMaster" Target="/ppt/notesMasters/notesMaster1.xml" Id="R523a017e0b3f47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f96ac4d5bb47d5" /><Relationship Type="http://schemas.openxmlformats.org/officeDocument/2006/relationships/notesMaster" Target="/ppt/notesMasters/notesMaster1.xml" Id="R6b8075fab75d49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41bcdf7784ee2" /><Relationship Type="http://schemas.openxmlformats.org/officeDocument/2006/relationships/notesMaster" Target="/ppt/notesMasters/notesMaster1.xml" Id="Ref15a7aac11e45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feecf7c6d44b56" /><Relationship Type="http://schemas.openxmlformats.org/officeDocument/2006/relationships/notesMaster" Target="/ppt/notesMasters/notesMaster1.xml" Id="R4eea2777f07040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a2dca686a74ba7" /><Relationship Type="http://schemas.openxmlformats.org/officeDocument/2006/relationships/notesMaster" Target="/ppt/notesMasters/notesMaster1.xml" Id="Rf1584ef56b9b4f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5ccb97023a49e1" /><Relationship Type="http://schemas.openxmlformats.org/officeDocument/2006/relationships/notesMaster" Target="/ppt/notesMasters/notesMaster1.xml" Id="Re2f8b2712e9647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19e6e1e294445c" /><Relationship Type="http://schemas.openxmlformats.org/officeDocument/2006/relationships/notesMaster" Target="/ppt/notesMasters/notesMaster1.xml" Id="R6705790641d046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開場先交代問題、建議、六個月價值、風險界線與本次請求。不要把本案說成部署核准；今天只請求六週量測與贊助人。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用三段流程讓非技術評分者先看懂現況。人工段有兩條工作流：全量批次約 20 秒一筆；客戶爭議深挖約 5.25 分鐘一筆。每日合計 29.8–42.9 人時，對上 40 人時產能，峰值超載。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不要說『量不是瓶頸』。正確說法是：43%–78% 落在 AI 可介入段；每日批次吞吐暫非瓶頸，爭議深挖吞吐仍需 W1–6 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Hopp, W. J., &amp; Spearman, M. L. (2011). Factory physics (3rd ed., chaps. 7–9). Waveland Press.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這是最可信的投報靶心：樣本、工時、母體與根因都明確。強調 104 是 ADAS 側，124 是整批全部誤報，避免母體混淆。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左右兩側不要做精準度比較，因為母體不同。主張只是：誤報證據較厚，漏放證據薄；因此先買量測。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把五條路縮成四個真正可比較的策略；公司既有雲端判讀是前置依賴，不是競爭選項。『有把握』必須由凍結評估集上的校準式門檻定義，G1 預註冊、G2 四臂驗證，不採模型自然語言自信宣稱。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不要念出未經 Kenny 確認的具體安全類別。統一說『G1 由業務與法務核定的安全紅線類別』。R8 誠實承認現在沒有可執行緩解；R9、R10 是方案自己新增的風險。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先說清楚標題中的 850 筆是『移交後、且通過 G4 後』，不是六個月內。本案期內人仍逐筆判。2019 八原則只作公開可查的對照框架；2025 已有後續採用指引。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85% 不是承諾，也不是 VLM 自述信心；由凍結評估集上的校準式選擇門檻定義，G1 預註冊、G2 四臂驗證。漏濾率是自動結案能否對外生效的否決點。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主片維持概念層次：一套地端視覺語言模型，同一設備分時處理篩檢與深挖；選型與量化規格由 G1 依 W1–6 量測定案。G4 是移交後獨立門。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兩組看似衝突的數字其實是不同語義：NT$1,248–2,223 萬是『不做本案的全部增聘暴露』；NT$520–1,521 萬是『做本案後可避免的增聘』。兩者都只屬移交後反事實，不得與設備價相減成 ROI。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2e7edb4eb4d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a40b8eac640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21390d27c45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62fa8b5284b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59cac3e684c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30158840c4a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9897c491346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cf5438ff24f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4d6d3e74d4f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a731d2fc84bd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e573cc69c46d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403D5B-AB3E-4A3D-98C3-903041AD69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C4379C-6A51-4ECF-A6AD-1FCE2C795D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8324E5-1B63-4AB7-9A41-C96E42498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FFF74D-AE12-44F5-B1B9-88F2E58A85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867FA9-37E9-49A6-B100-012063D59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600B09-E029-4A71-AABE-6840B388C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C05652-E2D9-409B-8EE2-A70E2F6772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9CC60C-0540-43E3-A4DE-3E6F1131DC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1FD455-95E4-4D3F-91FA-9B278E8CF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3EC8C2-CE2B-4FEE-B013-D046A136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BE820-8D7D-4A94-AD4A-D696C4997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BE3AF-DB7A-4894-8E79-BAC869180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B9B68F-DA4A-4AAB-8754-34CAC533C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45A6E3-3155-4ED4-83DA-91FD36BA4F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D7E9F6-BFAE-4556-8F5B-81D3E1AB3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18B627-2588-4BF8-996C-FFE657C75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0AC009-0CB7-48C6-B239-D90A0CE61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584C60-A704-4D70-AEBE-2019974207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022B65-BA0D-4153-9A8F-DDF1EB356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2D148A-CB5E-40FB-A9CE-162C64454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27B39A-A020-43FC-9978-D059D6EF14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31F86-0954-4F11-8796-A51A05695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BE72B3-607F-4BF2-A301-0AAF63ED8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DF8336-2B8E-441D-96EF-D0F2C9C268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6B6E442-A969-4ABD-B9EA-605FAE3D35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91EBAB-64EF-4A75-81D4-02B74ABE88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B5A5EE-1280-4491-8540-F33D929FA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E1ACF89-35B8-45C3-B270-A4A1A57B0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635E996-D3E4-4A17-B395-12C1CCEC2C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F0BD4C-63ED-424B-BAEF-F668DADD6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7B66014-9B41-4CD4-865A-06791D096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EAF53B-382E-4D58-A398-174AA4088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AC3980-1B2D-4B86-A41C-064EE206A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E2B268-930D-4EC6-A624-8EF08BAAA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CA4175-1497-4DEB-BE17-4125EE57BF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486FD7-C43E-4587-A944-FD47871FF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5340C0-F0C7-4A09-BAAF-9B749DE1A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447E3C-5765-48B5-A604-5BA27C1AFC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DA045A-B9E9-4A4B-84E5-27D4E44C7B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82D5EB-B1A0-4791-AEAE-8F3C6C9C11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943A59-379B-4FCE-B4C5-CF38D20DEE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A042EE-E8AB-4782-8609-4393DC9243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3A2AF6-ED01-4CA3-8A89-82DD1049F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C7F142E-1C33-490B-B57C-42DFE2439A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4D0D5-C01F-4C11-A2E1-360C7BE41F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DE0A6B-3D0A-45E1-8295-1F517CD98D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077A8-CF0F-4DEF-8BD6-B41AC813B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673875-67CA-4D51-83D8-6F75C151ED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B761E2-7916-4B97-80EC-98B377C0F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484784-52EE-4009-ABF6-A766699F0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337B37-7637-4D49-BE63-CA144DB8E1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607ACA-45CF-4961-B611-1A79D04A16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FD01-5637-42BC-93F6-9FC9173FF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1CEB0C-60FB-4D55-B803-A6FB2BF38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225839-A521-45ED-B27F-EDD378340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79FA1F-FDA2-43DE-A67D-2091616ADF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BF7AA1-2730-40BB-9B7D-D7B30DB16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7683DB-555C-4C20-8839-3254D7D4C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db16ab1144deb" /><Relationship Type="http://schemas.openxmlformats.org/officeDocument/2006/relationships/slideLayout" Target="/ppt/slideLayouts/slideLayout1.xml" Id="R225463b5458a4b98" /><Relationship Type="http://schemas.openxmlformats.org/officeDocument/2006/relationships/slideLayout" Target="/ppt/slideLayouts/slideLayout2.xml" Id="Rb53f67e660f04008" /><Relationship Type="http://schemas.openxmlformats.org/officeDocument/2006/relationships/slideLayout" Target="/ppt/slideLayouts/slideLayout3.xml" Id="R6b311cb1c3364801" /><Relationship Type="http://schemas.openxmlformats.org/officeDocument/2006/relationships/slideLayout" Target="/ppt/slideLayouts/slideLayout4.xml" Id="Ra65f2fd10dfb4b36" /><Relationship Type="http://schemas.openxmlformats.org/officeDocument/2006/relationships/slideLayout" Target="/ppt/slideLayouts/slideLayout5.xml" Id="R6c1ab12ea73044f6" /><Relationship Type="http://schemas.openxmlformats.org/officeDocument/2006/relationships/slideLayout" Target="/ppt/slideLayouts/slideLayout6.xml" Id="R23823170c4f34115" /><Relationship Type="http://schemas.openxmlformats.org/officeDocument/2006/relationships/slideLayout" Target="/ppt/slideLayouts/slideLayout7.xml" Id="Rbfc263c80f0d4547" /><Relationship Type="http://schemas.openxmlformats.org/officeDocument/2006/relationships/slideLayout" Target="/ppt/slideLayouts/slideLayout8.xml" Id="R01f251df2fb842d0" /><Relationship Type="http://schemas.openxmlformats.org/officeDocument/2006/relationships/slideLayout" Target="/ppt/slideLayouts/slideLayout9.xml" Id="Ref25e24e0b2f4a93" /><Relationship Type="http://schemas.openxmlformats.org/officeDocument/2006/relationships/slideLayout" Target="/ppt/slideLayouts/slideLayout10.xml" Id="Rc424e13fe3b540b9" /><Relationship Type="http://schemas.openxmlformats.org/officeDocument/2006/relationships/slideLayout" Target="/ppt/slideLayouts/slideLayout11.xml" Id="Rbbc81c4a3b5c47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388974A-4CDD-417E-B252-CFC523CE7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346A7F-8F2E-4524-95F4-EF2678A800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CC763-3637-4BCD-B508-87EBF71C60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AC9E1F-3AE9-4A1F-850E-29923FC922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DF9B0A-33B6-45D3-BF14-4B147B3AF2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463b5458a4b98"/>
    <p:sldLayoutId xmlns:r="http://schemas.openxmlformats.org/officeDocument/2006/relationships" id="2147483650" r:id="Rb53f67e660f04008"/>
    <p:sldLayoutId xmlns:r="http://schemas.openxmlformats.org/officeDocument/2006/relationships" id="2147483651" r:id="R6b311cb1c3364801"/>
    <p:sldLayoutId xmlns:r="http://schemas.openxmlformats.org/officeDocument/2006/relationships" id="2147483652" r:id="Ra65f2fd10dfb4b36"/>
    <p:sldLayoutId xmlns:r="http://schemas.openxmlformats.org/officeDocument/2006/relationships" id="2147483653" r:id="R6c1ab12ea73044f6"/>
    <p:sldLayoutId xmlns:r="http://schemas.openxmlformats.org/officeDocument/2006/relationships" id="2147483654" r:id="R23823170c4f34115"/>
    <p:sldLayoutId xmlns:r="http://schemas.openxmlformats.org/officeDocument/2006/relationships" id="2147483655" r:id="Rbfc263c80f0d4547"/>
    <p:sldLayoutId xmlns:r="http://schemas.openxmlformats.org/officeDocument/2006/relationships" id="2147483656" r:id="R01f251df2fb842d0"/>
    <p:sldLayoutId xmlns:r="http://schemas.openxmlformats.org/officeDocument/2006/relationships" id="2147483657" r:id="Ref25e24e0b2f4a93"/>
    <p:sldLayoutId xmlns:r="http://schemas.openxmlformats.org/officeDocument/2006/relationships" id="2147483658" r:id="Rc424e13fe3b540b9"/>
    <p:sldLayoutId xmlns:r="http://schemas.openxmlformats.org/officeDocument/2006/relationships" id="2147483659" r:id="Rbbc81c4a3b5c476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1a4427ba234182" /><Relationship Type="http://schemas.openxmlformats.org/officeDocument/2006/relationships/notesSlide" Target="/ppt/notesSlides/notesSlide1.xml" Id="Rf6e24c138f9a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93cbe62a204da9" /><Relationship Type="http://schemas.openxmlformats.org/officeDocument/2006/relationships/notesSlide" Target="/ppt/notesSlides/notesSlide2.xml" Id="R69d4d0743543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130117b7f64433" /><Relationship Type="http://schemas.openxmlformats.org/officeDocument/2006/relationships/notesSlide" Target="/ppt/notesSlides/notesSlide3.xml" Id="R3481656f7af1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17a3b46bb3454d" /><Relationship Type="http://schemas.openxmlformats.org/officeDocument/2006/relationships/notesSlide" Target="/ppt/notesSlides/notesSlide4.xml" Id="R6031f65d95d1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f51f6037f14c3d" /><Relationship Type="http://schemas.openxmlformats.org/officeDocument/2006/relationships/notesSlide" Target="/ppt/notesSlides/notesSlide5.xml" Id="R517cc14a5be64c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7dac27590641bd" /><Relationship Type="http://schemas.openxmlformats.org/officeDocument/2006/relationships/notesSlide" Target="/ppt/notesSlides/notesSlide6.xml" Id="Ra21c3b495146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45c7d25f76434d" /><Relationship Type="http://schemas.openxmlformats.org/officeDocument/2006/relationships/notesSlide" Target="/ppt/notesSlides/notesSlide7.xml" Id="R6906d9535f3e40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ccfbd6e4f7431b" /><Relationship Type="http://schemas.openxmlformats.org/officeDocument/2006/relationships/notesSlide" Target="/ppt/notesSlides/notesSlide8.xml" Id="R1b7d0e49f4564d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83f3aba818463c" /><Relationship Type="http://schemas.openxmlformats.org/officeDocument/2006/relationships/notesSlide" Target="/ppt/notesSlides/notesSlide9.xml" Id="R5135808400344c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851161522b44f6" /><Relationship Type="http://schemas.openxmlformats.org/officeDocument/2006/relationships/notesSlide" Target="/ppt/notesSlides/notesSlide10.xml" Id="R635ae4c4011b4e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4724477d214089" /><Relationship Type="http://schemas.openxmlformats.org/officeDocument/2006/relationships/notesSlide" Target="/ppt/notesSlides/notesSlide11.xml" Id="R453472dcfd814f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ee70062bf84f68" /><Relationship Type="http://schemas.openxmlformats.org/officeDocument/2006/relationships/notesSlide" Target="/ppt/notesSlides/notesSlide12.xml" Id="Rcb6ecce39c0a40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f561621c6a4e31" /><Relationship Type="http://schemas.openxmlformats.org/officeDocument/2006/relationships/notesSlide" Target="/ppt/notesSlides/notesSlide13.xml" Id="R2d2de07f1a3b42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8712B-868C-4954-89FB-64F7794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2C976-AE7D-4B88-A501-1AFCD5B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讓機器讀懂一次事件的完整脈絡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A80E-87EE-4A1A-A715-FEC5614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地端 AI 事件判讀｜六個月、四道決策門的立案提案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019D9-B1A2-4974-A778-AA396FA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B512A-3DD6-46E0-8744-04A43B84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8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今天的瓶頸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2BA87-FAD4-4BDD-8FF9-F5059EE4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66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3,000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41ECE-5B8F-44EB-B384-BC8F562C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事件／日，由 5 人逐筆覆核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77FB9-11EE-418C-A2D7-F69F9436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C390D-A5C3-4E97-AD64-9171937B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建議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44382-DDDC-4921-86D3-89206A39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建立一套地端視覺語言模型，先做可稽核評估，再跑影子模式。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C7790-272B-4B04-A1F5-1FE302A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六個月價值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173C8-1AD4-481A-BFB0-D0E0A9D1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24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把爭議回覆壓到 2 天內；人仍逐筆判定。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6095F-CF88-427A-863A-973188F8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風險界線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1BB5F-A90C-4F83-A29A-1B6205B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AI 結案判定對外生效 = 0%。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ABDCD-4D17-49CE-B37B-64008074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1430">
            <a:solidFill>
              <a:srgbClr val="E67E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464AE-10D3-4E05-9A43-37C42EFF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本次請求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47A59-1A68-4D53-9040-E649D0C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只核准 W1–6 的量測底座，並指定一位專案贊助人。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F25CC-8BB4-4259-A527-2760B543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Po-Kai Huang｜26254793｜421104 Artificial Intelligence for Enterprises｜Assessment 3｜2026.08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A240A-ECDB-4AB3-B196-6E0CB25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8B9A8-0A89-47C6-9D75-EE8FE708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1FF26-A0CA-433A-9D9B-C1048039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6188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6ACA2E-5ABA-42E4-924E-F61EE157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介紹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F886803-37D6-41E9-8C4B-2275B240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自動化停在第二關，瓶頸集中在最後的人工作業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8CE7C-9693-4DBD-9D55-DE95C1C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兩段自動判讀之後，5 位分析人員仍須逐筆重看影片、補脈絡、寫回覆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6CEB8-E592-486A-B570-1A64E48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59B16-F3FE-4339-A6B5-4727ACE5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A5126-AB10-4C3A-82E0-FAFCC52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88E8A-B9B8-4DA4-B697-B0D7A3C6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FE48B-9D1F-451F-B0C8-6142E8D9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53CB2-D9C9-4876-9453-258F2B9A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474D9-ED75-41DB-9784-AB7FD311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472C1-D4EA-4B18-8A4F-67D0109C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① 車上即時初判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ABF23-FA59-4DC1-8690-B1A6429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產生事件影片與分類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F58C7-6091-4825-9E32-369CC910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56DD0-4BC6-4612-98BF-D8BCABED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② 雲端複判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FEF87-925B-41D4-9F0C-92774333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判定真假並回傳警示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29D99-20C3-4B1F-A30F-B5839749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3714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67E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8EAB4-EC0A-43CE-8F08-F51CC2AD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907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③ 人工防線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92EFE-D836-4C52-BB13-7C5F7001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5 人逐筆看完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重看影片 → 補畫外脈絡 → 回覆客戶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202EB-73A7-47F6-BEBF-5B18162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每天需要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F59EF-D809-4B5B-9A23-14B4F1BA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29.8–42.9 人時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7A1F2-E599-4A70-B3E7-CEFF3D14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可用產能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B7735-E87F-4899-8B95-8B4E493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40 人時／日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02227-0BD0-484A-9A3C-0EA4065F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62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峰值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88D26-A7DA-4840-9074-50C91B21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38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107%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91167-7FDA-492D-933A-4D72F99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000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EBCCC-6EC0-4797-9285-E104C7A9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879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7B3FCA-2E0B-4865-B973-A8A49B9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29175"/>
            <a:ext cx="1209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EB36F-9196-4457-B837-1BD3A90A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777D5-6EB0-424D-93C1-5D3D722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40 h 產能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47659-25B8-443D-A01A-CBE70B96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19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42.9 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4C6034-FA9C-4947-9E8A-8189FE89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瓶頸不是影片數量，而是畫面外的脈絡與一致判準。</a:t>
            </a:r>
          </a:p>
        </p:txBody>
      </p:sp>
    </p:spTree>
    <p:extLst>
      <p:ext uri="{BB962C8B-B14F-4D97-AF65-F5344CB8AC3E}">
        <p14:creationId xmlns:p14="http://schemas.microsoft.com/office/powerpoint/2010/main" val="616663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2FE893-25CD-476A-9E59-74CCFA8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AI 機會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BF60523-B1B6-477B-B53E-129EF9B3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AI 可介入 43%–78% 的流程；但深挖吞吐量必須先量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42F01-6F33-4E17-A3D8-0CDB8175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2–5 天的回覆時間裡，撈數據與判讀是同一個可工程化缺口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DA685-001A-4039-B529-00D85802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16CA7-B055-46DE-B102-4EB7C8CD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E89D0-30E4-4BE7-9819-F1D96937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CB9C2-F420-4F30-A9E2-FC125AE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8E78A-DDCA-4700-967E-6D623FF4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現況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511C9-3FAA-43AC-9DD2-9AA22EFB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A02F1-B9B2-4827-B890-46303DEC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B420B-DEEF-47CD-8BF0-B65B18A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≤ 2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EA027-AD9D-4520-8875-132BE714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C8D3D-E3B5-4124-84E9-A27957E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等待／排隊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AAE10-8950-48F8-B463-AB52E9CA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0–1 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252EA-7A39-453F-9C64-E0370E5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6F256-D3DD-42E3-BCE3-F6B5F715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撈數據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33373-19CA-4877-90B7-579F0C8B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EC655-DCA0-4BC5-B131-823CE4E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051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F6E10-3485-41B5-AFDA-750F8A6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575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判讀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4B4CB-3667-490B-B124-1FB61A0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71850"/>
            <a:ext cx="441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1–3 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45F26-57C7-43D7-8436-744DAE6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0512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9AC31-2617-4676-94F4-FD706F7E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575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內部覆核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6658A-9711-42A1-AD92-BAA75D9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71850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F4C34-3993-465D-B862-93778674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41F4D-78F7-485A-B882-0AA9A7A5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57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寫報回信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10175-2895-4156-A341-9E88BD9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83A86-AD74-4D0B-AFE2-31A11A3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57625"/>
            <a:ext cx="704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FF23E7-84E0-4C02-8105-8015D1B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719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AI 可介入段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FD38C-D78B-4568-9827-C98F9B0E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43%–78%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DE7C2-153A-4053-9710-A9600013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911D72-DDED-4E55-B032-61FBDD0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今日利用率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139BA-7075-4B0E-895D-4FB7C1B4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74%–107%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6D776-2DE2-4EC1-95F2-08FB4B21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84E327-CC30-42E2-8BF2-BF338945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尖峰徵調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ABD6F-DB2C-4249-A5BE-51FFE0A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81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 位研發工程師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023E2A-0C31-497A-A9A3-9DC8BB7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81575"/>
            <a:ext cx="3829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85BCAA-DC8B-4210-A2D3-1EF4D30A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339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7791F"/>
                </a:solidFill>
                <a:latin typeface="Microsoft JhengHei"/>
                <a:ea typeface="Microsoft JhengHei"/>
                <a:cs typeface="Microsoft JhengHei"/>
              </a:rPr>
              <a:t>證據界線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1AA6B5-917E-4D59-8D8C-AEB92588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816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批次暫非瓶頸；深挖吞吐 W1–6 驗證</a:t>
            </a:r>
          </a:p>
        </p:txBody>
      </p:sp>
    </p:spTree>
    <p:extLst>
      <p:ext uri="{BB962C8B-B14F-4D97-AF65-F5344CB8AC3E}">
        <p14:creationId xmlns:p14="http://schemas.microsoft.com/office/powerpoint/2010/main" val="81234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729E2-5DC1-4EBA-97D8-6B8DE10C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發現過程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CE9B795-D1D0-4703-90F8-AB3ED15A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一件真實批次顯示：八成三的誤報集中在同一根因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75AC2-69F6-4B7B-BCB7-25F7FE3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1,647 筆樣本｜5 人 × 3.6 個工作日｜同一判準下拆出可工程化靶心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C7835-3CAA-483C-8E6F-D1282C33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4D32F-4538-4D41-9C8D-74A80B0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A40E-861B-45E4-93C6-DC4969DB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E1912-E88D-4915-8933-B9AAC330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B0FFE-CDB8-4D19-8AB5-7DECD09B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4A717-1C93-494D-9DCA-237BABD3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1,647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89DFF-76B4-4D03-9DF3-CD38C4D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事件樣本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A1E05-1A0C-4A22-A7B9-2AD0E35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49534-AC8E-4300-9BC4-F2BCB432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144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D259A-7187-4BF7-9020-70DEE9B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人工判讀時間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76015-30D1-4683-B3B4-7E9C7FE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B00C9-9A13-4189-8F79-6321FFE0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AF6FE-A6B0-4411-9411-E0F4E22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全部誤報｜ADAS 104 + DMS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D463B-A110-4EE5-B39B-CC4266B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62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E26A6-241C-4170-82A9-7C0E3B0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288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83%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37071-C773-4B1D-8D71-112AE295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103 / 124 為交通標誌根因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0A178-2896-41DA-9A59-0BBF1CFA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誤報根因集中度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B5729-09FB-446B-A50F-584D7AC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3CA8F-9F41-47A0-9DE4-22F9DFF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7725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9AE7E-478C-48F1-AEA7-C281D5DE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交通標誌辨識 103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4238E-7C6D-44AF-812A-D069E299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243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其他 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F4D77-E343-4FDE-988C-7497EEC7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057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E4F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7AF74-58C7-4075-B367-3A82EDDB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決策含義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DBEDE-311D-463A-9B62-095627F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先做可逐條檢查的規則式脈絡基線，再證明 VLM 帶來的增量。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37BCF-DA28-43FB-BF48-55E096A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速限資料已存在；不必先買模型，也不必先承諾部署。</a:t>
            </a:r>
          </a:p>
        </p:txBody>
      </p:sp>
    </p:spTree>
    <p:extLst>
      <p:ext uri="{BB962C8B-B14F-4D97-AF65-F5344CB8AC3E}">
        <p14:creationId xmlns:p14="http://schemas.microsoft.com/office/powerpoint/2010/main" val="1079874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1C1E8-9661-461D-88B1-DA79187C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發現過程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8E74450-BD97-4718-85FB-7A4E5586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看得見的誤報有證據；看不見的漏放只有一份薄樣本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AC0DA-6881-44D4-99FC-5D3089D6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兩側證據強度的落差，正是第一筆錢應該買量測的理由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3924-ECF9-4635-93CC-7F8B488B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4BEDE-84C3-4634-821C-61A1976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6D4F9-E1EA-4E6C-8F87-4B85CFA5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3FA5B-E3A0-4087-8E5F-BAE6598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9DDFE-1654-4069-902F-9E0122A8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8577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B6F9A-DEA9-4618-B170-A815C83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看得見｜誤報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250EC-6B98-4363-8E36-42931026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1,647 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80D5E-0276-4A8C-AFD5-703CF3BE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獨立批次母體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9BEBC-0269-4B5E-B038-F5AD13F6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124 筆誤報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D0E78-6312-4337-9BAA-5E10933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103 / 124 同一根因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496B1-C11F-4B3A-82BF-931D25D9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證據可直接連到規則基線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AD9CB-41C5-41A5-B3EC-6BD29B1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57375"/>
            <a:ext cx="54673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B00D8-91C2-498B-9719-609B550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看不見｜漏放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5A273-8F21-4F95-8083-A020B773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39 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ED487-B424-415F-A69C-EFE080F8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一次性人工觸發測試｜自註為下限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A89E2-66E6-43B2-8A66-C1FC3782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12 / 39 漏偵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D77C7-E2C8-4A50-BA60-C7B0F6BD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其中 6 / 12 為低光或雨天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5A8D1-62E7-43AB-8628-D182A3AA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71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 / 39 尚無法歸類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77611-C00A-4B63-99F1-BCDCF142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572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24BD0-4AAD-4DCD-9287-6FF8B107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78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W1–6 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F5262-DFCB-4CB6-9919-33980253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911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凍結評估集｜帶 95% 信賴區間的漏放率｜複核者一致性基準</a:t>
            </a:r>
          </a:p>
        </p:txBody>
      </p:sp>
    </p:spTree>
    <p:extLst>
      <p:ext uri="{BB962C8B-B14F-4D97-AF65-F5344CB8AC3E}">
        <p14:creationId xmlns:p14="http://schemas.microsoft.com/office/powerpoint/2010/main" val="1733362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E7F62D-FE39-4824-9702-C4E68E14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策略選擇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67F7DAB-0DE9-46BE-BF4E-1D7CF0CE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先做規則，再用第 6 週證據決定是否投 VLM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866EF-08D0-4789-AF5B-52443CD4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四條路用同一把尺比較：量化效果、成本形狀、反悔成本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56228-3771-45A4-89F7-F753B04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B5B68-C639-4871-9396-25B9A876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69927-B516-4E3E-8E29-310D9AF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4780A-E5F9-47DE-9973-C8D1068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9548E-3CE8-4F23-BABC-A61A11D9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D5A3F-0B51-48A8-816B-BCF20F1E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C4E1E-621B-421F-8787-08D178BD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加人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3B067-4FE9-44DB-A2DF-1E90DA25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F7F90-3183-4423-AF9A-10DC6BDE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51433-24F4-45E4-B4D8-F880AEC0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覆蓋全客戶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需 17–24 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F2B97-78B5-499D-8831-828F596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F8363-68A3-44A1-A878-0F2C96EA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16A93-258C-49EF-884A-2960B0A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線性常態支出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49279-8C47-4D44-9174-DD6A873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49ADA-8710-4A17-AE86-A28103E8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低｜編制留下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C2079-4F7B-4C68-9623-21D5A1D3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ADE98-9704-40E7-8758-3EF489FC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21590-A810-4A17-83CB-D6A250A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rPr>
              <a:t>調班＋尖峰池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258CC-7593-4FB6-8626-26967F55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53695-C900-4B5F-90A8-1A90E5D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D2952-5B04-47CD-AAE1-30A72A5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只動等待／排隊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0–1 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ED0B6-B1D6-4372-8266-B60C926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0FE89-CA58-4B4C-8FDE-3CFF3EEE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4A269-67A5-405E-AF9F-9CC25F8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線性｜削峰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207CF-BB21-49C5-B693-25F2794B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E1B54-1520-458E-A98D-CEEF841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D6A96"/>
                </a:solidFill>
                <a:latin typeface="Microsoft JhengHei"/>
                <a:ea typeface="Microsoft JhengHei"/>
                <a:cs typeface="Microsoft JhengHei"/>
              </a:rPr>
              <a:t>高｜G1 可轉向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52BBC-70AE-467C-B4D0-4C17B64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A68C1-56E7-4121-B3B3-38805E3B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C5D6CF-324E-41BD-8999-13BAA5C3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規則式脈絡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45484-B382-405E-9890-D8CA6B90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447A2-8A8F-44D1-9E5B-D728FF76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30F60-58A0-443C-BD4B-A4AA0E9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103 / 124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同一可解根因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B5E061-E67D-47D2-B3A8-3C59FBB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14D9D6-1BDE-4460-A7CA-0A62A90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90D15B-6F03-4124-B81C-77E41061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一次性下移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3C259F-3578-434E-A080-0F13B1EC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7C8874-6E53-4319-88E9-62270C7F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高｜逐條回退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F0559F-5FF2-4A15-B4AA-6DFD347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2419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9842F0-EE93-49C2-A63B-9BF79F3D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265358-CA96-4889-AFAC-6FB6841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地端 VLM 影子試驗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6484C-B701-4029-8F65-66107B6F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419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BE076A-B3DB-4DCE-9370-01ACC454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56D5E5-99B7-46BF-9019-08C39E6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W1–6 定門檻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期內對外 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8340AB-F6A8-4EDD-8B60-1536DE0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3250C9-6628-49CC-8C70-9D9179F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3A054C-E737-4426-8090-D7FFDE47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次線性潛力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34935A-01B9-42E7-8F44-FF1E96B9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05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出口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E42F8E-9F7C-4976-BCD9-7A543A6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中高｜G1/G2/G3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FCC584-42E3-4CAD-A203-C4ED62D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8EEF71-1A07-4A13-B178-ED2376C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現在不選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DFC1DF-A345-4D4C-AB42-A199962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推薦組合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5F14DA-A482-495B-809F-82FB8DE1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506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C1D11D-1071-49F8-9BFD-37A530E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加人只作反事實；調班保留為 G1 出口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925A35-F661-42D9-997F-E8CEFB7B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53025"/>
            <a:ext cx="506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DA6756-AE7F-4862-B67B-CADA3DE1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規則基線現在做｜VLM 只核准影子試驗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EBD8F2-C780-43C4-A139-F5E76E54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沿用既有兩階段推論與自有脈絡資料</a:t>
            </a:r>
          </a:p>
        </p:txBody>
      </p:sp>
    </p:spTree>
    <p:extLst>
      <p:ext uri="{BB962C8B-B14F-4D97-AF65-F5344CB8AC3E}">
        <p14:creationId xmlns:p14="http://schemas.microsoft.com/office/powerpoint/2010/main" val="1150606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258002-11D4-41A7-8E0C-6831D706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業務影響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FF6E6CD-D4F2-453E-89FE-A0915B7D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真正的說服力，是把方案自己新增的風險也算進去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7AB60-2A02-4160-886B-F6F4500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完整風險登錄 10 項；主片只留 6 項最會改變放行決策的風險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85667-0D38-4058-927E-D27E62D7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0832E-EEFC-4307-AEA3-3922450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57233-E0F9-42EC-A965-31E5F36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46964-5E7D-4E2D-9989-91075B68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2A5B8-7082-4C56-A777-E5CA8A5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92B12-0093-490B-803E-EEF3AF7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26733-F079-475C-8188-61851081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可管理風險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2FA70-37AD-4855-8D2D-6AB5990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建立基準、責任與監控後，可在專案期內處理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A3D2B-9A34-4924-BFB2-EE140237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DFD6E-7FCC-4130-BD04-C31E932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緩解與當責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05D4F-5CFC-462F-881B-0F2B7835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失效／停止訊號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73199-E172-44A2-9FDD-58F7EFB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R2 判準不一致／資料級聯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60908-8F85-4221-A46A-D9205E2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33650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黃金題＋抽樣雙人複核｜數據負責人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DF769-1239-4203-BB01-5366650B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336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根因占比偏離基準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13AA5-E1AC-4EC3-BDB9-228D79E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B39F5-7E90-42E2-9BE0-7E73CD6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R3 自動化偏差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1BD25-1D63-4EC7-9FD2-62EFCD5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14650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不顯示模型信心＋盲測｜業務負責人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FF49A-9734-4634-B89F-17E73FA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146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盲測組與對照組差異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FA16C-D388-4F22-9CF1-F1A1EF04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AFD8E-9B1F-4F86-8DF3-CD702E4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R7 缺管理層支持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37E3F-6FC9-4ABF-AAC5-2AC71492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贊助人指派＋門會出席｜專案贊助人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6254E-2B80-4C35-B7B2-4CC00C0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956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連續兩次無高階出席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E3761-AE8B-4B5A-84AD-275D0DE9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85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BA93A-854F-4E6D-8950-6D6FF4E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857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35855-D5A7-433E-B9C6-0DCB26B1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需閘門阻擋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76B1F-73FC-4774-9214-1EA0375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6240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R8 尚無可執行緩解；R9 / R10 是本方案新增的外部性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CB8FB-3411-491B-9DF1-DAA24A09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0886C4-019A-4F65-8B2A-F3060691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95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緩解與當責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F446A-8F29-4667-BD65-BAAC2D26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9577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失效／停止訊號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1540-D127-4D92-B7DA-9ACA43D4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R8 既有誤報的法律地位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B7ED55-480E-49CB-85C1-0ADACED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G1 前取得法務書面意見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26A9B1-4EB7-4478-B2BF-E8A89B5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434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目前尚無可執行緩解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9CAD4-CC9D-404F-B6D5-659CA130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C38F67-71EF-4DAF-9424-800B48CB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R9 自動結案造成漏放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9C0911-469C-4FD4-8C21-F017BD15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24425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六個月影子模式＋G1 核定安全紅線類別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F1024-615A-4812-9998-F13C3C8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244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漏濾率差值 95% CI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D8C4A6-525A-41D5-9A52-22A746F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E92E3F-F9F6-4EB5-A962-F365C236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R10 自動結案造成冤枉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08D2FB-09C8-4D0B-9BED-DD05451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05425"/>
            <a:ext cx="3695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申訴強制轉人工，且不用同一模型複判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E896DE-4433-499D-9578-739FDF2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054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申訴率與翻案率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701455-72D9-478B-864F-8FC3B711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放行責任在移交後的獨立 G4；不在本次六週核准範圍。</a:t>
            </a:r>
          </a:p>
        </p:txBody>
      </p:sp>
    </p:spTree>
    <p:extLst>
      <p:ext uri="{BB962C8B-B14F-4D97-AF65-F5344CB8AC3E}">
        <p14:creationId xmlns:p14="http://schemas.microsoft.com/office/powerpoint/2010/main" val="136233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5A3DB0-6B51-4514-B387-2AAD016B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業務影響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68B02C5-EDBF-4B31-9137-43A33A70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六個月只核准影子模式；移交後仍有 7 項未達標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0247E-B546-4174-9702-7D8F1B42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移交後若通過獨立放行門，每 1,000 筆爭議最多約 850 筆不再人工覆核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10D74-E867-4F07-BC17-B4E20A7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9A601-9C96-453C-B9D2-AAC810D2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C2027-CED1-409B-9D88-D3CDEBCD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C2B7D-E237-4374-801B-A549B4E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4B62B-1C04-4F30-AA4B-DA0C658D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澳洲 AI 倫理八原則（2019）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FF73D-93D3-4582-8A3D-45F7E2FE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295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E4F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BB88-6D48-4F54-9086-0741586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專案期｜影子模式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11107-E7CC-4285-BF19-4D4CB79C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100% 人工驗證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1E1CD-85AC-4A66-8B04-6F855FD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3486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1BA34-661B-47B0-A24C-E42ECC6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移交後｜若通過 G4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09877-D884-4857-ABD1-2EE3C0BB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907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最多 850 / 1,000 無人看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76EC5-FB4D-41E7-BB8F-BED2E466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AE453-425A-4C90-ADF9-06D7BC5F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87645-B1E9-42DD-91D7-3AE54D1F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55172-7BB5-4A94-8751-74FCF6E4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人類、社會與環境福祉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46693-434A-4934-B55D-D293C2F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5193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C9BAE-4568-46D0-99F2-7AED220E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同人力承接更高量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AF5B0-389A-427B-8230-C25F8DB7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5193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89DFB-5506-4E94-B9B2-FD8876F5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約 850 / 1,000 無人看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1122D-92A4-47BA-BC99-3E68E138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14400-FF47-4727-ACCB-AD2F36B0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FCAAE-6E97-44AE-A463-DC5ECD34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DEB49-3FE2-41DA-8F00-3BC091CB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以人為本的價值觀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10321-2BB2-4D9C-BDED-0FF79DE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957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80AEF-2DD5-4B81-A270-4729FA0C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人仍逐筆判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F632B-3F4C-45E9-858C-2D6F9C4B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957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5248D-4E6C-4549-8D47-0F191C07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機器做終局判定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F2972-128D-4095-99BC-9F85BD85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A9C3FF-905D-4FB1-969D-9128AB1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5C68CA-CADA-4710-89E2-99398E2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54C3D-786A-49A9-83E8-83E4730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031E76-5749-48E4-80E1-CBBB70C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公平性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FCEA6-9422-4CA5-AEEA-8D9C28E8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EA5534-EBF3-4083-BAA7-5E444A0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配給制未解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5E7F85-6FFE-40CB-AD18-15FA4F94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304A2F-A41B-4C0E-A010-A6DB793D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改由機器信心配給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3B21D2-0B96-4BFF-B5F0-C16257A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FB5BDB-1EB9-4976-B88E-19209DA9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CDAD41-992E-45FA-B860-CAFFCEE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D91FF1-DF72-49AA-B8F3-8102D71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隱私保護與安全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1E658C-7086-4291-BFA7-C36A4142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3833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F9C0D3-207B-4F1B-AE15-52860A0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擴大影像調閱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7C74FB-A907-4479-A94C-53FA430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3833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605593-E457-41EA-911A-81B28A75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不因自動結案額外惡化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79370E-F7C3-4418-9F5F-841219E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9C10DD-CD25-4692-AB68-C2B785C5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BE5AC0-485B-4C91-9749-E8CA05FD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DED9E2-5523-46AC-9620-FD6976C8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EBCED9-3433-43C0-9CF3-E861B81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可靠性與安全性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D4B2A2-9EAF-4128-A589-16C9E15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42719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DB8344-2265-4953-A1D1-BD1DBE7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9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漏放率基準尚缺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AF13CA-5C1F-4024-B42C-4A5D21EF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42719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E6BBC0-43D5-46B1-9EA5-96BA0A21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尚無部署證據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1D61FE-18A0-4FF5-8BD9-E170CBB2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314604-9E3D-4F57-A0B8-F4990410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6213F0-7556-4D42-BAA8-6DF4082C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5EE8D3-04BA-4CBC-B446-DDEE9D72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透明性與解釋性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3CC097-0183-4517-8259-546B9D0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47101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B431EC-4F63-4E47-AB6C-AAC8F0F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只記錄、只比對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EC93B9-793C-4BB4-B4AF-CE82A9A7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47101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812724-0E15-47F7-851F-E508877D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客戶揭露層級未定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3A1A7D-5E67-4CFD-8F57-E9D5C7F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150739-F37A-4EB5-9E69-29528F5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8CBCB3-7653-4322-8948-58BED16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105F1C-A67F-4B6B-9A0E-EAB0D13C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B7EA28-CC0E-4868-A3E3-D74A40DD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68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可申訴性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2C697F-38B6-4AB8-83C7-B7644205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51482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9C071E-0E2B-4599-A40B-EA949E5B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67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駕駛本人無管道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000E4C-7B90-4228-9DAF-60E63FAC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51482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E75091-1F4E-4E36-9750-7163E7CF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部署否決條件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7302F6-81D9-40C2-A7EF-89F417C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553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8946826-F08B-418E-B438-2EEC622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2CF5AD-6B07-4DDC-B9EB-CEED9E31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0AEAB3-BB83-4962-B75B-97B86051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問責性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E9BEF9-CE95-44AC-BD75-DF3F714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5586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265EB8-E641-4C2B-9B5B-B5684F0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RACI 與三道專案門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3C454B-F3A4-4E95-B779-EB306B71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5586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B74D09-4415-4CF7-98CA-12F4F4B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054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單案無人簽名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3D5418-4130-40C5-8487-B4A5C3E9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57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DCE7CB-3418-44A8-B281-09462928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38850"/>
            <a:ext cx="1032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G4 是移交後的獨立部署門｜未通過前，任何 AI 結案判定都不得對外生效</a:t>
            </a:r>
          </a:p>
        </p:txBody>
      </p:sp>
    </p:spTree>
    <p:extLst>
      <p:ext uri="{BB962C8B-B14F-4D97-AF65-F5344CB8AC3E}">
        <p14:creationId xmlns:p14="http://schemas.microsoft.com/office/powerpoint/2010/main" val="687335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AC6259-6156-4D90-93C8-94B9DBA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效益與衡量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4C169D3B-2D40-44AC-8FC6-6D4ED0B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成功不是『模型更準』；而是 2 天內回覆，並保留一票否決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74D29-5EBE-4393-92E3-BDED6079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業務成果 → 營運驅動 → 否決型護欄，目標與責任落在不同決策門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8694A-76FC-4363-8FB7-A72938E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D4298-1565-436B-8E1A-3EA29CD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19D16-6BE4-4733-8F34-5B467C3C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E554C-AF88-45BE-993E-752B998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6D256-E8D2-4A6B-BED8-6612E4F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AC552-7FC4-4669-A123-97B59146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B932E-BB29-4362-9610-733D762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 2 天內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7646A-881A-468D-B4FB-91546C70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336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A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DCEAF4"/>
                </a:solidFill>
                <a:latin typeface="Microsoft JhengHei"/>
                <a:ea typeface="Microsoft JhengHei"/>
                <a:cs typeface="Microsoft JhengHei"/>
              </a:rPr>
              <a:t>主要業務價值指標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A03D9-6A50-4ACF-957D-BB29526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E9C5F-576E-4996-B622-2BABEC8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DC284-46CD-4B63-9AF6-E77D8608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期內人工驗證涵蓋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F8FFD-0583-4D8C-AED8-509B9252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9B3FC-C87E-4D6E-A4FA-627CAAF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13,000+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8D2F9-7AA2-46BA-9E3A-24E3D072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事件／日目標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52494-E565-4F68-8BED-E6C770DE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46725-7648-4099-8BDD-858222B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NT$520–1,521萬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128BA-C8FE-4412-8E0C-99F456A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可避免增聘／年｜移交後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EF8E6-EB69-4A98-8D32-2484013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營運驅動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D8D1A-83CF-4EDC-9A11-804A176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A4EFA-81F1-4153-870E-F31F8C6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單位人工工時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CBC1D-BF52-4A29-805B-6F753675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兩條工作流 W6 正式量測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4D44A-53CF-484E-BFDD-6FED2149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EE0E5-9E65-43EA-8915-2C60072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ADAS 誤報率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BB574-CF86-4298-9F2A-49FDFCD2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10.1% 基準 → G1 重訂 &lt;7% 目標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B056B-F551-487D-9802-9D868AE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EA6BD-962F-4443-B896-6DB59E1C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尖峰研發人時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4B038-E33E-4895-9FF3-181B3ECC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期內先建基準；移交後歸零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E1692-54DF-485A-8B13-13D1078A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F1EDE-0091-40DA-AA3B-2BB25A10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護欄層｜否決型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5CA71B-3BF4-4BD2-96A8-7AF9B091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漏放率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CA45C9-D75A-42D1-9BB1-DE9A065A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W6 交 95% CI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D2996A-6B4C-41E7-80C8-17F6FE74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複核者一致性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450688-4116-448F-A219-9A3B361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否決 G2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867CA5-FE57-4D28-BE3B-5BA090D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資料可追溯率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C3BFB-2403-4471-AA74-A57D6243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100%｜無中間值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38BE45-9B7B-4E42-95AB-C3C83F37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漏濾率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6D0C3-64FA-4EB6-B85C-B8FEA90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差值 95% CI ≤ G1 預註冊 δ</a:t>
            </a:r>
          </a:p>
        </p:txBody>
      </p:sp>
    </p:spTree>
    <p:extLst>
      <p:ext uri="{BB962C8B-B14F-4D97-AF65-F5344CB8AC3E}">
        <p14:creationId xmlns:p14="http://schemas.microsoft.com/office/powerpoint/2010/main" val="682673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6DB2F2-5FD9-4BC0-AB7F-0F0EEC0C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項目計畫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7A30C34-6C6F-4322-AD69-1BEA7C1E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前三包不是繞路：沒有量測，就沒有資格部署模型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2F2D-3F40-43CD-A3FE-877E8F77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四階段、四臂比較、四道門；只有 WP-E 是 AI 主體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C8F42-2D06-4B24-9055-01D278EE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AAAA4-F3B7-4197-9636-0CFDC78D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9CC17-9BDD-44F7-A1C9-FB56695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7080B-9823-4B22-B649-CFEA1303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FBCA8-2E72-4D4D-AA34-8AAAC9D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W1–6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EE0B-190B-4F9B-9406-081856C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W7–12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234FA-3138-4B34-8278-C154BB7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W13–24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D06ED-F022-4A07-8854-690BCC9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240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移交後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8E047-3DDC-499C-8C75-C148C088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10B34-84FA-4F68-8660-4D0AEB26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3EEB5-D9C7-4167-836E-D89CA13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4E92E-DAC0-4DFE-827F-9BDD6DBD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評估底座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F2569-2EFD-41D4-8CE3-EB5E8651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E2EE8-E1CA-4C0F-9E84-28D9ECF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WP-A｜凍結集・錯誤率・工時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67E2F-9EA7-4B74-BB80-EDC920E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判準品質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13A64-770E-4127-9091-17DBE051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4F3B6-9141-4AEF-BEC9-CCFC5BB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WP-B｜黃金題・一致性・判準手冊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81CE7-3708-4BF5-BDFF-AEA7699C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規則基線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A99FC-C881-42F0-B59D-62C72C69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48025"/>
            <a:ext cx="3143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4B946-E3FC-434D-B7BC-81528A0A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WP-C｜脈絡規則與可解釋對照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844F5-D26D-4B9A-B1DD-585CFF64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營運自動化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18D82-0671-46C5-AC8F-56E301E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81425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111D4-42B2-4809-9026-F6C6FCB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WP-D｜證據包・2 天內回覆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EBB98-0732-4D96-8F3B-AEE30304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地端 VLM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B421D-B70B-4640-A875-2109B6B4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524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20347-4889-4AAE-B474-D7AFF81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WP-E｜離線試驗 → 影子模式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DE29D0-A11F-4C1D-BD2D-CAB693D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治理移交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F24AA7-6181-407B-A1F8-DCA5B11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48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445AE-BE3F-4C84-A4C8-DE27E663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WP-F｜儀表板・文件・移交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D140A-ECF6-490D-9EE2-1CFC3A4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C52952-B712-4FDE-AC28-4479F67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G1｜W6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94BAF5-A884-4609-8AB9-9C8E9E2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門檻預註冊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可轉回調班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CE3AB-F572-4E2F-A8B1-C85F09D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681B44-A536-4150-AECB-316BEFF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G2｜W12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9DF05E-6434-4C18-B671-EC07B70E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四臂比較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工具＋人機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387647-FF87-423E-BC44-9A541F36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6DB94A-36BB-462C-986B-956DE0E4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G3｜W24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DBE0C2-D066-4932-A99E-C56DE84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部署決定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可不部署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B18FDA-ED5B-4FF7-B475-150AE0C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381625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6ADCB8-64CB-41AF-8ACA-D9A97921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67350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G4｜移交後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BE7756-5CC4-4499-AFA2-859464C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95950"/>
            <a:ext cx="111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獨立放行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不在本案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4EA2AD-B531-496B-9065-FDF6DBE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G2 四臂：現行模型｜規則式脈絡｜人機協作｜影子模式（唯一能量到無人結案風險）</a:t>
            </a:r>
          </a:p>
        </p:txBody>
      </p:sp>
    </p:spTree>
    <p:extLst>
      <p:ext uri="{BB962C8B-B14F-4D97-AF65-F5344CB8AC3E}">
        <p14:creationId xmlns:p14="http://schemas.microsoft.com/office/powerpoint/2010/main" val="1879805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E93AA9-9DC8-401F-A5C9-C0B479C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決策請求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F6E588A-A39A-483F-802B-AE327AA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請先核准 6 週量測；不要先核准部署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1F445-E4EA-4452-88BD-D158316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成本主體是人，治理成本也由人構成；所有金額皆為量級、非報價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02F6F-A1ED-44F0-A025-A6727F9A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577FE-3265-4AC3-95B5-FE1413B4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CBB1A-1BC1-4116-9AA7-AA973C39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4B1BE-C3A7-46F4-81E3-2769C43B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CD4D4-E50D-4CAA-91D2-E4958D9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006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8CDCB-E7B0-48F3-8257-C73D14A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今天核准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90DD8-D64E-4490-9DD7-D975CE7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W1–6｜4.85 人月＋指定贊助人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3F3EB-EA8D-452D-A3CF-6A356DE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5334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EE751-C372-40A2-8BE1-879B6358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今天不核准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8063B-9F16-4EBE-A077-661482B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模型部署｜對外自動結案｜完整預算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2BB16-DBE7-4596-8D93-E9FECD0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32795-A612-4C19-9D76-C6ECC489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NT$158–177 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4E98C-2D36-4506-9773-DDB457CB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六個月專案人力估算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E776F-07A6-4EC0-9EAE-0C1B2C71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7E4D2-B7F1-4351-936A-31E1C2B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NT$16–20 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8E403-2CFC-4F06-BEFF-DA1667A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地端設備量級｜一台起步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F1E13-6F07-453F-9C40-A256E750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12C8E-AEE0-45F3-B38D-463D6AA2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NT$50–118 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38FE2-0CE9-40E3-9E29-60186A05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三年可推算 TCO｜影子模式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E4100-DC17-45BF-ACF8-FAF12C18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F8393-26FB-42DD-96B0-5C6AD0B1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NT$173–1,219 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1DEEF-F61E-4560-ADCA-AB8C2370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三年可推算 TCO｜移交後含稽核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228E7-BB6F-4098-85A0-40FDD5A4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6762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CAA96-3EE9-401C-9F89-8B7EEC54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擴編反事實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1E3AA-D2AC-4923-8A28-85562CF8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不做：增聘 12–19 人｜NT$1,248–2,223 萬／年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43624-F3CD-4F1A-A464-DFA1D98B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做後：仍須增聘 6–7 人｜可避免 5–13 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9EA11F-B32B-45AF-89FF-6EA6E1B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可避免增聘：NT$520–1,521 萬／年｜移交後，不是六個月承諾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6A0B8-51AD-4FDC-8A5E-A683E5E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3562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A7BE66-638F-4AA3-97A1-E44D9D1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自動化的代價｜稽核稅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1AF215-2485-46DC-976F-4E93F4B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0.39–3.14 FTE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85D57-298B-41E5-847F-6846B783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吃掉毛節省的 3%–52%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0526F-F56C-4C3E-91F9-6DCCA94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0547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稽核、申訴重判、漂移調查齊備前，不宣稱節省額。</a:t>
            </a:r>
          </a:p>
        </p:txBody>
      </p:sp>
    </p:spTree>
    <p:extLst>
      <p:ext uri="{BB962C8B-B14F-4D97-AF65-F5344CB8AC3E}">
        <p14:creationId xmlns:p14="http://schemas.microsoft.com/office/powerpoint/2010/main" val="102484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FD875-5B14-4E1B-98BA-9C89B90E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參考文獻｜References（1 / 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6C00B-6E00-47A5-8DC9-5C35D36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EA52A-60DD-4250-99FF-8C48183B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APA 7｜完整 DOI / URL｜依引用順序編號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D54F8-B319-49C8-9359-CF0ABAF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38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01–08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36236-392A-4D4F-885F-DBB0E593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5CACB-02D3-40AC-B8C7-7F7366C3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E5D04-CA24-460B-B913-F173754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56147-EEAF-4E83-8DFF-745947E8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66900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Department of Industry, Science and Resources. (2019). Australia’s AI ethics principles. Australian Government. https://www.industry.gov.au/publications/australias-ai-ethics-principles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9C3E9-B4B4-4D27-BAF8-9D1D845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24150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A0164-2100-4D9E-B1A8-F74B546D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3E5D7-0A54-4C9A-BCE8-3E4807A5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162B9-6494-404D-AAD1-85E78F6D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47975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IBM. (2020). AI maturity framework for enterprise applications [White paper]. IBM Corporation. https://www.ibm.com/downloads/cas/OB8M18WR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4E186-1CFF-4F2C-A180-20EA9181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0522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E4294-BCA2-498E-845B-A64D7F2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0D00D-C752-4EE1-83E4-669A6152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F94C6-89FA-4B77-A9B3-C3F3348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29050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IBM. (n.d.). University Hospitals Coventry and Warwickshire (UHCW) NHS Trust: Patient-centered care from AI-centered efficiencies [Case study]. https://www.ibm.com/case-studies/uhcw-nhs-trust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FE21A-5C11-4C63-B18C-DA312ED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86300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46B4C-5B3C-40D1-8447-848537B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C8B39-FFFC-40E6-AF39-09738295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D0F61-A15B-4773-85D9-1A2B6EC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10125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Sambasivan, N., Kapania, S., Highfill, H., Akrong, D., Paritosh, P., &amp; Aroyo, L. M. (2021). “Everyone wants to do the model work, not the data work”: Data cascades in high-stakes AI. CHI ’21. https://doi.org/10.1145/3411764.3445518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B72B7-B9A0-4AF7-86B3-873A5715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673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E02B8-FE0B-4A15-A514-B3E0B226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764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16B07-09E2-40AE-B29F-7DCCB9A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240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6359A-6971-4A57-8533-7672CBD7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Parasuraman, R., &amp; Manzey, D. H. (2010). Complacency and bias in human use of automation. Human Factors, 52(3), 381–410. https://doi.org/10.1177/0018720810376055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537B1-7AA1-4682-9070-6A5C213F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B144D-9A80-42E0-AA19-A0F48BB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9243D-D206-4854-8FE3-E89A1A0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652F9-EB8A-44F2-8677-BD13365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47975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Goddard, K., Roudsari, A., &amp; Wyatt, J. C. (2012). Automation bias: A systematic review. JAMIA, 19(1), 121–127. https://doi.org/10.1136/amiajnl-2011-000089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641AF-5CC2-41CC-B904-5B7EB63F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0522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DE067-17CD-4009-A2F0-7D062856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3E1D5-9444-4456-92CC-C25C9C0D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7554D-E962-4E27-8B24-0A08D52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Rudin, C. (2019). Stop explaining black box machine learning models for high stakes decisions and use interpretable models instead. Nature Machine Intelligence, 1(5), 206–215. https://doi.org/10.1038/s42256-019-0048-x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02DC9-9A25-4919-AA2B-3D864D6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E90604-5074-4C0D-9289-3A09738B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8E89EC-0A5F-4991-B3F0-459C4A91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AEB5DF-FEBB-40D7-8B59-B399996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0125"/>
            <a:ext cx="4781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Sculley, D., Holt, G., Golovin, D., et al. (2015). Hidden technical debt in machine learning systems. NeurIPS 28, 2503–2511. https://proceedings.neurips.cc/paper/2015/hash/86df7dcfd896fcaf2674f757a2463eba-Abstract.html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2786E7-16EB-4730-BA63-859B2C3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673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A05D62-15E1-4F39-AD90-C3ECB6B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39000D-00D3-44BE-BC4A-D7FFDD0C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E8DD89-1755-4319-A335-4C8850F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BC4B82-A9D5-456E-82B8-FD1A8CD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參考文獻｜References（2 / 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34B34-775E-41D9-A454-FA734F7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DA3AA-9175-4C8C-ADBA-609C91D5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APA 7｜完整 DOI / URL｜依引用順序編號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A4999-EFA7-40E6-8A29-0DB3DD62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38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09–15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C25D-E5DA-432A-8A1D-8FE679E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FD4A8-51C1-474C-91BB-E2B354E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9544-C1FA-461F-85DA-9242CE1E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BCD07-F0E1-4EFB-8F13-858FEF58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669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Ensign, D., Friedler, S. A., Neville, S., Scheidegger, C., &amp; Venkatasubramanian, S. (2018). Runaway feedback loops in predictive policing. PMLR, 81, 160–171. https://proceedings.mlr.press/v81/ensign18a.html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47516-934E-4D3D-9721-142CF294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193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9A841-4D8C-405C-9BDC-349E6867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56F30-8304-4F4C-A27F-58548383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10F5F-691A-46F9-9CE4-3AF61CF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432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Guo, C., Pleiss, G., Sun, Y., &amp; Weinberger, K. Q. (2017). On calibration of modern neural networks. PMLR, 70, 1321–1330. https://proceedings.mlr.press/v70/guo17a.html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E5C34-134B-4F04-B902-995BF7F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0BA55-26DF-49BD-9926-7C4C5FC5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EA1B1-E518-477C-A558-F495E65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66557-488B-4127-9B3C-4D9FB281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195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Northcutt, C. G., Athalye, A., &amp; Mueller, J. (2021). Pervasive label errors in test sets destabilize machine learning benchmarks. NeurIPS Datasets and Benchmarks. https://arxiv.org/abs/2103.14749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C3924-E628-4664-87C1-0569C6E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719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134AC-C67A-4BF3-8089-7A22A934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C79BE-47D1-4C6B-B29F-F9B9B1E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0589C-DD29-4A9F-B615-C7DEE62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958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National Institute of Standards and Technology. (2023). Artificial intelligence risk management framework (AI RMF 1.0) (NIST AI 100-1). https://doi.org/10.6028/NIST.AI.100-1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5A5F7-3E38-49DC-B7A9-91EC4E70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2482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19B0B-67D4-43A3-9127-8454129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764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17CEA-C2E7-4445-B7ED-AF8BD27E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240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A5084-0552-4DFB-8396-5CA9A19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Australian Human Rights Commission. (2020). Using artificial intelligence to make decisions: Addressing the problem of algorithmic bias [Technical paper]. https://humanrights.gov.au/sites/default/files/document/publication/ahrc_technical_paper_algorithmic_bias_2020.pdf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06C58-F4B4-404C-83AB-1C52E79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193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5E396B-F1BE-422F-8437-08D0ACB1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91AB3-2A05-4F10-8579-F6EF594D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03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E0651-ED3F-4D20-8874-7858A74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Press, G. (2016, March 23). Cleaning big data: Most time-consuming, least enjoyable data science task, survey says. Forbes. https://www.forbes.com/sites/gilpress/2016/03/23/data-preparation-most-time-consuming-least-enjoyable-data-science-task-survey-says/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B431F-EFCA-4241-A20E-E1402EF1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956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836112-A044-4CC4-961F-EBAE300E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290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C4CDE-136B-43E9-A25D-C927A382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650702-5462-4DCF-93CA-97BCA663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78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Hopp, W. J., &amp; Spearman, M. L. (2011). Factory physics (3rd ed., chaps. 7–9). Waveland Press.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A05BD8-06E9-4ABC-8434-D87D81AC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4781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445220-5633-47AF-976B-D5AF2987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191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EA3426-14BF-486A-AA6A-8825BCAF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819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文獻索引｜主題分布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B3A8E1-353D-4324-BB5E-509565D5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43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治理與企業導入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43736E-03B3-45E1-A7AD-CE06D15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01–04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36A042-DBE4-4708-94C9-E1282DAD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72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人因、自動化與解釋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DD9A45-1F1D-4DA5-8070-1F90750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05–07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2EA9C7-54D9-4632-8F27-3A78D174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00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ML 風險、權利與營運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7F51F-D183-4225-84B7-384737E5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0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08–15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C5661E-0580-4842-A0D9-B211F28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70378F-1794-4F03-BCAB-3ECE200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CAC039-F261-4290-A1F9-CF1285A5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2026-08-13T15:38:52.8790000Z</dcterms:created>
  <dcterms:modified xsi:type="dcterms:W3CDTF">2026-08-13T15:38:52.8790000Z</dcterms:modified>
</coreProperties>
</file>