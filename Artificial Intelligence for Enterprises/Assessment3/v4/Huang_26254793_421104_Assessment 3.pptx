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今天,五個人要看完三千支影片;而客戶要的答案,兩天內。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地端 AI 的技術可行性,公司內部評估過,我是其中一員。今天我不是提一個新點子,是把它從技術研討,變成一個有業務數字、有驗證機制、有停止條件的正式立案。要建的能力:讓機器讀懂一次事件的完整脈絡——影片、客戶問題、規則——產出可交付的證據與描述。兩階段架構各位熟悉,自動化到第二階段就停了:剩下每一筆,都要由人看過。這道防線有兩種單價。看畫面就能判的,一筆二十秒。要離開畫面去找證據的——那面牌是什麼、速限多少——一筆五分多鐘。差約十六倍,差別不在人,在證據在不在畫面裡。我請委員會核准一個六個月、三道決策門的專案:在客戶要的兩天內交出分析,第一次量得到自己漏掉什麼。要建它,得先有凍結的評估集、一致的標註、餵進模型的脈絡,那是前三個工作包。本案不重新開啟架構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率七成四到一百零七:平均還好,尖峰這五個人已經不夠——折算三點七到五點四人,我們只有五個。一件爭議目前要兩到五天,現況約一半超過兩天;客戶要兩天、單純案件當天,那是客戶期望,不是簽了的服務水準。這兩到五天花在哪裡,我拆開了:排隊零到一天、撈數據半天、判讀一到三天、內部覆核半天、回信半天。撈數據加判讀,就是模型幫得上的那兩段,佔六成到六成四。這兩段之所以慢,是同一個原因——模型看不到畫面外的東西。這是營運端估計,不是量測;前六週交出正式拆解,不成立就轉排班。二十秒是營運上的估計,還沒有正式量過——第六週交出正式基準,G1 驗收。上線約五萬台,售出更多;落差就是排不了程的工作量,開通權在客戶手上。我不預測撞牆的時點;第六週對齊三個分母,成長不納入回報估算。成長是階梯:一個大型車隊上線,事件量一次跳兩成三,手上正在談一個。</a:t>
            </a:r>
          </a:p>
          <a:p/>
          <a:p>
            <a:r>
              <a:t>補充說明(講述時帶到,正面沒有印):</a:t>
            </a:r>
          </a:p>
          <a:p>
            <a:r>
              <a:t>· 下緣 74% 仍低於產能 —— 本頁主張的是尖峰做不到,不是天天做不完。</a:t>
            </a:r>
          </a:p>
          <a:p>
            <a:r>
              <a:t>· 當責:複核營運主管 · 期限:第 6 週交出正式逾時率 · 會改變的決策:G1 是否續行後段。</a:t>
            </a:r>
          </a:p>
          <a:p>
            <a:r>
              <a:t>· 約半數超過兩天為營運端估計;正式逾時率與時間拆解同批,W1-6 交出。</a:t>
            </a:r>
          </a:p>
          <a:p>
            <a:r>
              <a:t>· 當責:複核營運主管 · 期限:第 6 週 · 會改變的決策:G1 是否續行後段。</a:t>
            </a:r>
          </a:p>
          <a:p>
            <a:r>
              <a:t>· 本帶與圖上帶 1 是兩個母體:帶 1 是一件 1,647 筆的批次判讀,本帶與圖上帶 2 才是單件客戶爭議。兩者不得互相換算。</a:t>
            </a:r>
          </a:p>
          <a:p>
            <a:r>
              <a:t>· 壓力測試:完美平行化下的理論下限(非人力需求實證)</a:t>
            </a:r>
          </a:p>
          <a:p>
            <a:r>
              <a:t>· 同一份 144 人時的分析,若能完美平行化:現況 4.1 個工作日 -&gt; 4.4 人;壓進 2 個工作日 -&gt; 9.0 人;壓進 1 個工作日 -&gt; 18.0 人。算式:144 人時 ÷(工作日數 × 8 小時)</a:t>
            </a:r>
          </a:p>
          <a:p>
            <a:r>
              <a:t>· 而實際投入是 5 人 —— 這條公式低估約 12%,這是它的自我校準點。</a:t>
            </a:r>
          </a:p>
          <a:p>
            <a:r>
              <a:t>· 批次複核每天必須做完,無壓縮空間;可被時效壓縮的是爭議判讀那一條。</a:t>
            </a:r>
          </a:p>
          <a:p>
            <a:r>
              <a:t>· 四項未驗證假設:工作已全部到齊 · 任務可任意切分 · 無協調與 QA 成本 · 加人仍線性加速。因此這是下限,不是人力需求;實際節奏見圖上帶 1。(Hopp &amp; Spearman, 2011, chaps. 7-9)</a:t>
            </a:r>
          </a:p>
          <a:p>
            <a:r>
              <a:t>· 若這兩段交給地端設備跑:全客戶 13,000 筆/天,約 2.2-3.5 小時跑完。設備佔用率約 9%-14% —— 量不是瓶頸,瓶頸是判準與驗證。</a:t>
            </a:r>
          </a:p>
          <a:p>
            <a:r>
              <a:t>· ⚠️ 估算,非實測(依公開模型的抽幀吞吐推估;來源表格自標「估算」)。當責:提案人 · 期限:第 6 週隨評估底座一併實測 · 會改變的決策:設備台數與 G1 續行。</a:t>
            </a:r>
          </a:p>
          <a:p>
            <a:r>
              <a:t>· 目前全球上線約 5 萬台;13,000 ÷ 50,000 ≈ 0.26 筆/台/天。售出台數是上限,上線台數是已實現的量。</a:t>
            </a:r>
          </a:p>
          <a:p>
            <a:r>
              <a:t>· 兩者的落差,就是我們接下來要承接、但排不了程的工作量;開通的時點由客戶決定。</a:t>
            </a:r>
          </a:p>
          <a:p>
            <a:r>
              <a:t>· 第 6 週對齊售出、開通與在線三個分母;成長不納入目前的回報估算。當責:複核營運主管(交付物列入評估底座那一包)· 期限:第 6 週 · 會改變的決策:分母對齊之後才決定成長要不要進入任何回報估算。</a:t>
            </a:r>
          </a:p>
          <a:p>
            <a:r>
              <a:t>· 目前正在洽談中的案子裡,就有一個同級規模的車隊。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我們的時間到底花在哪裡?我把最近一份判讀拆開來看。四台車、二十三天、一千六百四十七筆,一個小型車隊一個月,比例僅在此樣本內成立。行車輔助錯的是模型,駕駛監控錯的是人。一邊缺脈絡,判定依據不在畫面裡;一邊缺判準,同一段影片兩人不同答案。這兩個比例共用同一把尺,而那把尺的一致性我們從來沒量過——標註品質那一包第十週建立基線,G2 訂目標值。這個樣本一百二十四筆誤報,一百零三筆同一個根因:交通標誌辨識,八成三。漏放那一側只有一份很薄的樣本,下一頁講。修好它,誤報跟漏放一起改善——而誤報,就是我們今天在人工端花掉的時間。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看得見的一半。看不見的那一半更麻煩。被判否決的那一流,沒有人回看。我們有資料,沒有習慣。唯一的漏放量測,是一份三十九筆的人工觸發測試,獨立樣本:漏偵十二筆,另外十筆無法歸類,約四分之一;報告上我們自己註明,十二是下限。這是我目前手上最強的線索,不是結論;前六週由評估底座那一包做成帶信賴區間的估計,不成立就換靶心,G1 判。這兩種錯的代價不對稱:誤報只花我們的人時,漏放是駕駛沒收到那次警示。所以漏放這一側就算樣本再薄,也要先把它量出來。這批資料難在三件事:收得不完整、標註本身就會錯、內部對同一個標籤還沒有一致的理解。文獻上講的「沒有真實資料就只能靠代理指標」,就是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批次　　13,000 x 20 秒 = 72.2 人時</a:t>
            </a:r>
          </a:p>
          <a:p>
            <a:r>
              <a:t>爭議　　13,000 x 5-10% x 5.25 分 = 56.8-113.7 人時</a:t>
            </a:r>
          </a:p>
          <a:p>
            <a:r>
              <a:t>合計　　129.1-185.9 人時 / 8 小時 = 16-23 人(現有 5 人)</a:t>
            </a:r>
          </a:p>
          <a:p>
            <a:r>
              <a:t>工作量比　　129.1 / 29.8 = 4.33 倍,這就是「四倍以上」的算術依據</a:t>
            </a:r>
          </a:p>
          <a:p/>
          <a:p>
            <a:r>
              <a:t>全客戶每日平均總事件量 13,000+ 筆為雲端伺服器實測統計;人力數為提案推算,非核定編制。</a:t>
            </a:r>
          </a:p>
          <a:p>
            <a:r>
              <a:t>每筆爭議 5.25 分來自那份 1,647 筆判讀的實際節奏(5 人 x 3.6 個分析日 x 8 小時 = 144 人時),是回推值,不是計時量測值。</a:t>
            </a:r>
          </a:p>
          <a:p>
            <a:r>
              <a:t>本推算沿用兩個尚未驗證的假設:(1) 約 20 秒/筆為營運端的實務估計,尚未以計時量測驗證;(2) 所有客戶有相同的案件組合與 5-10% 的爭議比例。兩項都由 W1-6 檢驗,結果在 G1 上桌;若任一項被推翻,16-23 人這個數字要重算。</a:t>
            </a:r>
          </a:p>
          <a:p/>
          <a:p>
            <a:r>
              <a:t>做什麼:增聘複核人力,以現行做法覆蓋全部既有客戶。</a:t>
            </a:r>
          </a:p>
          <a:p>
            <a:r>
              <a:t>成本形狀:線性上升,事件量成長多少,人力就成長多少。</a:t>
            </a:r>
          </a:p>
          <a:p>
            <a:r>
              <a:t>為什麼:加人會讓迴路轉得更久,不會讓它停:裝機量成長 → 複核量成長 → 人力吃緊 → 標註品質不穩 → 回流訓練資料不穩 → 誤報降不下來 → 複核量繼續成長。</a:t>
            </a:r>
          </a:p>
          <a:p>
            <a:r>
              <a:t>(Sambasivan et al., 2021)</a:t>
            </a:r>
          </a:p>
          <a:p/>
          <a:p>
            <a:r>
              <a:t>做什麼:重排班表把人力挪到尖峰時段 + 建一個可調用的尖峰人力池(含目前尖峰徵調的 7 位研發工程師,使其從臨時徵調變成有編組、有訓練的正式安排)</a:t>
            </a:r>
          </a:p>
          <a:p>
            <a:r>
              <a:t>成本形狀:線性,但斜率低於選項 0;可削掉尖峰,削不掉每日底量。〔注意〕斜率與削峰幅度目前沒有量測。</a:t>
            </a:r>
          </a:p>
          <a:p>
            <a:r>
              <a:t>為什麼不夠(三個實務理由,均為營運端自陳,尚未量化):(1) 新進複核人員約需三個月才判得準,尖峰人力池無法臨時擴張,調得到人不等於調得到判準;(2) 行車影像有隱私限制,判讀工作不能外包給外部人力,人力池只能在內部湊;(3) 過去試過臨時增援,判準反而更不一致,等於把選項 1 / 2 要解的標註品質問題放大。</a:t>
            </a:r>
          </a:p>
          <a:p>
            <a:r>
              <a:t>另有一條時間上的理由:一件爭議的初步時間拆解顯示,AI 可處理的兩段(找證據 0.5 天 + 判讀 1-3 天)佔全程 2.5-5.5 天的六成上下,而排隊本身只有 0-1 天。排班動得到的是排隊那一段,動不到那六成。〔注意〕這份拆解是回憶式估計,不是計時量測;確認它正是 G1 要做的事,所以本案仍把 0b 列為正式選項,不預先否決。</a:t>
            </a:r>
          </a:p>
          <a:p/>
          <a:p>
            <a:r>
              <a:t>做什麼:定位 + 地圖速限硬規則比對,不用機器學習。</a:t>
            </a:r>
          </a:p>
          <a:p>
            <a:r>
              <a:t>成本形狀:整段向下平移一階後仍線性;基準線一次降下來。</a:t>
            </a:r>
          </a:p>
          <a:p>
            <a:r>
              <a:t>為什麼:某小型車隊單月樣本的誤報 103 / 124 = 83% 同一根因,而速限資料自有。</a:t>
            </a:r>
          </a:p>
          <a:p>
            <a:r>
              <a:t>它同時是選項 2 的對照基線:要證明地端模型有增量,得先有一個不用它的基準。所以選項 1 與選項 2 是先後關係,不是二選一。</a:t>
            </a:r>
          </a:p>
          <a:p/>
          <a:p>
            <a:r>
              <a:t>做什麼:地端視覺語言模型(VLM)事件判讀:讓機器讀懂一次事件的完整脈絡(影片 + 客戶問題 + 規則),產出可交付的描述與證據包。</a:t>
            </a:r>
          </a:p>
          <a:p>
            <a:r>
              <a:t>成本形狀:前段一塊前期專案投入,之後轉為次線性平緩。</a:t>
            </a:r>
          </a:p>
          <a:p>
            <a:r>
              <a:t>前置關係:量測底座 = 評估基準,沒有它不知道模型判得對不對;判準統一 = 驗證資料,判準不一致的標註餵給模型就是垃圾進垃圾出;規則式脈絡層 = 對照基線,要證明模型有增量得先有一個不用它的基準。所以前六週不是流程改善,是評估地端 AI 的必要前置。</a:t>
            </a:r>
          </a:p>
          <a:p>
            <a:r>
              <a:t>價值傳導鏈:誤報下降 → 每日批次複核量下降 → 單筆判讀變快 → 交付時效縮短。</a:t>
            </a:r>
          </a:p>
          <a:p>
            <a:r>
              <a:t>技術選型寫成分工(公開可得的技術選型,非公司資訊):Qwen3.5 122B-A10B(4-bit)→ 每日全量初篩;1,000 支 15 秒 720P 約 10-16 分〔估算,非實測;同一批影片人以 1.0 倍速看完約 250 分〕。Qwen2.5-VL 72B(8-bit)→ 客戶爭議的深入判讀;較準,抓得到畫面裡的小字。兩者正好對應現有兩條工作流(20 秒批次 / 5.25 分深挖);地端 128G 設備,一台起步。</a:t>
            </a:r>
          </a:p>
          <a:p>
            <a:r>
              <a:t>離線模型試驗(WP-E)提前到 W8-12;G2(第 12 週)以同一份凍結評估集同時比三組:(1) 現行影像模型 (2) 規則式脈絡基線 (3) 地端 VLM。通過條件:誤報改善達預先註冊的門檻,且漏放率的信賴區間不惡化。G2 只能調整模型假設與規模,不能取消這個實驗;要不要部署由 G3 決定。</a:t>
            </a:r>
          </a:p>
          <a:p/>
          <a:p>
            <a:r>
              <a:t>① 以現行小模型的表現外推,預期描述準確率約 85%〔提案推估,非實測〕。</a:t>
            </a:r>
          </a:p>
          <a:p>
            <a:r>
              <a:t>② 這個數字要不要成立,由第十二週用同一份凍結測試集驗。</a:t>
            </a:r>
          </a:p>
          <a:p>
            <a:r>
              <a:t>③ 而人現在判得多準,我們沒有量過;所以我也不知道 85% 是進步還是退步,那正是第一個工作包要建的東西。</a:t>
            </a:r>
          </a:p>
          <a:p>
            <a:r>
              <a:t>④ 這 85% 判的是「影片內容的描述正不正確」,不是「判這筆是不是誤報」。AI 不做判定,AI 做的是把證據整理好;判定還是人做的,只是他不用再花半天去把證據找出來。15% 會描述錯,所以設計上人仍須覆核:五位分析人員不是被裁掉,是從逐筆看片變成處理難題與治理(這一條在倫理頁是同一句話)。</a:t>
            </a:r>
          </a:p>
          <a:p>
            <a:r>
              <a:t>85% 是描述準確率,現有 10.1% 是偵測誤報率,兩者量的不是同一件事,不可比、不可並排、不可相減。</a:t>
            </a:r>
          </a:p>
          <a:p/>
          <a:p>
            <a:r>
              <a:t>這一軌買的不是那二十筆誤報。它買兩件事:第一,判準不一致會直接變成訓練標籤,污染的是整個模型;第二,這一類判定會進到駕駛考核,判錯的成本落在人身上,不落在報表上。</a:t>
            </a:r>
          </a:p>
          <a:p/>
          <a:p>
            <a:r>
              <a:t>做什麼:公司既有的雲端判讀規劃,目前仍在研擬。</a:t>
            </a:r>
          </a:p>
          <a:p>
            <a:r>
              <a:t>成本形狀:前段完全空白,中後段才以灰虛線起步。</a:t>
            </a:r>
          </a:p>
          <a:p>
            <a:r>
              <a:t>為什麼:雲端判定真假,誰判定雲端?本案是它的前置條件,不是競爭關係。</a:t>
            </a:r>
          </a:p>
          <a:p/>
          <a:p>
            <a:r>
              <a:t>三條策略,各自的量化落點</a:t>
            </a:r>
          </a:p>
          <a:p/>
          <a:p>
            <a:r>
              <a:t>靶心是某小型車隊單月樣本中 103 / 124 = 83% 的同一根因;對應以現行做法覆蓋全部既有客戶時,每年可避免的增聘成本 NT$1,144-2,106 萬〔提案推算〕。此為不做本案時的年度增聘成本暴露,非本案承諾的節省額。</a:t>
            </a:r>
          </a:p>
          <a:p>
            <a:r>
              <a:t>算式:增聘 11-18 人 x 年薪量級 x 間接費率。以公開薪資量級推算,非核定預算。</a:t>
            </a:r>
          </a:p>
          <a:p>
            <a:r>
              <a:t>職類已確認:要增聘的複核人員本身就是初階工程師,薪資水準與所採用的公開量級相當,原先「職類可能有落差」的保留可以撤銷。但這仍是公開薪資量級、不是核定編制與預算,只能當量級看;實際薪資結構由業務負責人於 G1 前確認。確認結果會改變這一格的數字,不改變選項的排序。</a:t>
            </a:r>
          </a:p>
          <a:p>
            <a:r>
              <a:t>〔提案推算〕</a:t>
            </a:r>
          </a:p>
          <a:p/>
          <a:p>
            <a:r>
              <a:t>現況複核者一致性未量測,本案從零建立;量化目標為一致性達到設定門檻。</a:t>
            </a:r>
          </a:p>
          <a:p>
            <a:r>
              <a:t>它同時是地端 VLM 的驗證資料:判準不一致的標註拿去驗模型,量出來的準確率本身就不可信。</a:t>
            </a:r>
          </a:p>
          <a:p>
            <a:r>
              <a:t>這是 VLM 判讀結果能不能進入部署的前提,不是能不能做這個實驗的前提:實驗自 W8 起跑,G2 只調整假設與規模、不得取消,G3 才決定是否部署(G3 放行條件)。</a:t>
            </a:r>
          </a:p>
          <a:p>
            <a:r>
              <a:t>〔提案目標〕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被產能擋住的不是簽約,是我們能對多少客戶維持同一個品質水準。</a:t>
            </a:r>
          </a:p>
          <a:p/>
          <a:p>
            <a:r>
              <a:t>當責 · 時點 · 會改變哪個決策:複核營運主管於 W6 交出「這道防線目前覆蓋了誰」的第一份紀錄;新的風險排序規則於 G1 提交委員會;委員會核定與否,決定這一條在移交時是紅燈還是琥珀。</a:t>
            </a:r>
          </a:p>
          <a:p/>
          <a:p>
            <a:r>
              <a:t>我決定的:回抽採最小必要抽樣,以事件片段入庫而非整日影片,樣本用畢即銷毀;資料授權範圍的確認列為 G1 前置事項</a:t>
            </a:r>
          </a:p>
          <a:p/>
          <a:p>
            <a:r>
              <a:t>當責 · 時點 · 會改變哪個決策:提案人於 G1 把揭露層級的選項與各自後果整理成一頁提交;委員會在 G1 選一個層級,這個選擇決定 WP-F 移交文件裡對外報表的欄位。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⑤ 每筆批次複核的人工工時:複核營運主管 · W6 交出計時量測 · 它決定全客戶人力推算要不要在 G2 整組重算。</a:t>
            </a:r>
          </a:p>
          <a:p/>
          <a:p>
            <a:r>
              <a:t>⑪ 複核者一致性:複核營運主管 · W10 交出基線 · 它決定 G2 准不准開放對照重訓｜錯誤攔截比例(期內不可得):需漏放率先建立才算得出來,期內不可得。當責:技術負責人;待漏放率基線建立後進入移交後的常態儀表板。</a:t>
            </a:r>
          </a:p>
          <a:p/>
          <a:p>
            <a:r>
              <a:t>限定語｜① 時效改善的一半來自證據包自動化,另一半來自誤報量下降(脈絡特徵 → 對照重訓);「2 天內;單純案件當天回覆」是客戶期望,非已簽訂之服務水準協議｜② 現況為配給制,依購買量與問題嚴重性排序｜③ 支撐全客戶 13,000+ 筆/天〔所需人力由 G2 後依實測單位工時重估〕;此項的驅動因子不在我方控制內 —— 由客戶的開通時點決定。</a:t>
            </a:r>
          </a:p>
          <a:p/>
          <a:p>
            <a:r>
              <a:t>④ 每年約 NT$1,144-2,106 萬:以初階工程師的公開薪資量級推算,非核定預算,非本案承諾的節省額｜⑤ 約 20 秒/筆 = 例行批次複核 · 全量;營運端的實務估計,尚未以計時量測驗證｜⑥ 約 5.25 分鐘/筆:由一次實際判讀反推(5 人 × 3.6 個分析日),不含報告與回信｜⑦ 降至 7% 以下:以該樣本為基準,G1 後依重新校準的量測重訂。</a:t>
            </a:r>
          </a:p>
          <a:p/>
          <a:p>
            <a:r>
              <a:t>⑧ 客戶回頭標記率同時是「駕駛端無效警示率」的可觀測代理｜⑨ 尖峰徵調 7 位研發工程師:離開本職、非常態編制、非專職;欄 2 全文為「期內建立峰值徵調人時的量測基準,目標值於 G2 訂定;歸零列為移交後目標」,量測相依:脈絡特徵那一包 W5-12｜底部閉環同時回答:省下的人去哪了 / 訓練資料哪裡來。移交後的成熟度階段語彙參照 (IBM, 2020)。</a:t>
            </a:r>
          </a:p>
          <a:p/>
          <a:p>
            <a:r>
              <a:t>凡今天訂不出目標值的,一律寫明它由哪一道門、在第幾週被訂出來,並標明是誰負責交、它會改變哪一個決策。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【三道決策門】</a:t>
            </a:r>
          </a:p>
          <a:p/>
          <a:p>
            <a:r>
              <a:t>G1 · W6 因果判定門:交出爭議處理的時間拆解(等待 / 找證據 / 判讀 / 內部覆核 / 回信)、兩天逾時率與尖峰到件分布。只有當「證據搜尋、誤報量與證據包製作」佔主要延遲,才續行後段;否則本案轉為排班與尖峰人力池方案。評估底座未產出,剩餘工作全數不續行。初步拆解顯示 AI 可處理段(找證據 + 判讀)佔全程約六成;該拆解為營運端的初步估計,W1-6 要交的是可稽核的版本。</a:t>
            </a:r>
          </a:p>
          <a:p/>
          <a:p>
            <a:r>
              <a:t>G2 · W12 三方比較門:在同一凍結評估集上同時比三組:①現行影像模型 ②規則式脈絡基線 ③地端 VLM 事件判讀。成功條件:誤報改善達預註冊門檻,且漏放率信賴區間不惡化。本門只能調整模型的假設與規模,不能取消實驗。三方結構、凍結評估集、預註冊門檻與不可取消實驗四項一字不動;規則式脈絡基線是地端 VLM 的對照基線。規則式若已解掉大部分誤報,靶心改為殘餘(情境模糊與判準爭議);若無效,先查脈絡資料本身的品質,再決定模型端的規模。</a:t>
            </a:r>
          </a:p>
          <a:p/>
          <a:p>
            <a:r>
              <a:t>G3 · W24 部署決定門:對照重訓證不出增量,模型端不部署,只留前四包的成果。</a:t>
            </a:r>
          </a:p>
          <a:p/>
          <a:p/>
          <a:p/>
          <a:p>
            <a:r>
              <a:t>【六個工作包 · 副標與交付】</a:t>
            </a:r>
          </a:p>
          <a:p/>
          <a:p>
            <a:r>
              <a:t>WP-A 評估底座:分層抽樣 + 冷凍 hold-out + 首份含漏放的錯誤率 (Press, 2016)｜交付:可稽核的錯誤率(含信賴區間)+ 冷凍評估集 + 兩條工作流的單位工時正式基準 + 時間拆解(等待 / 找證據 / 判讀 / 內部覆核 / 回信)+ 兩天逾時率 + 尖峰到件分布</a:t>
            </a:r>
          </a:p>
          <a:p/>
          <a:p>
            <a:r>
              <a:t>WP-B 標註品質:誤報的操作型定義 + 判準明文化 + 黃金題 + 複核者一致性係數 (Press, 2016)｜交付:判準手冊 + 一致性儀表板 (Northcutt et al., 2021)</a:t>
            </a:r>
          </a:p>
          <a:p/>
          <a:p>
            <a:r>
              <a:t>WP-C 脈絡特徵工程:定位與地圖速限特徵化,規則式為基線｜交付:規則式脈絡層 + 誤報下降量測 (Rudin, 2019)</a:t>
            </a:r>
          </a:p>
          <a:p/>
          <a:p>
            <a:r>
              <a:t>WP-D 爭議回覆自動化｜交付:自動證據包 + 回覆時效改善</a:t>
            </a:r>
          </a:p>
          <a:p/>
          <a:p>
            <a:r>
              <a:t>WP-E 地端 VLM 事件判讀(對照重訓)—— 本案的 AI 主體:讓機器讀懂一次事件的完整脈絡(影片 + 客戶問題 + 規則),產出可交付的證據與描述;W8-12 最小離線試驗 -&gt; W12-24 2x2(有無脈絡特徵 x 乾淨/現況標註),同一冷凍 hold-out｜交付:三方對照結果(現行影像模型 / 規則式脈絡基線 / 地端 VLM 事件判讀)+ 有脈絡 vs 無脈絡的對照結果</a:t>
            </a:r>
          </a:p>
          <a:p/>
          <a:p>
            <a:r>
              <a:t>總投入 4.50 人月不變,係 WP-E 內部人力前移,不增加總人月</a:t>
            </a:r>
          </a:p>
          <a:p/>
          <a:p>
            <a:r>
              <a:t>WP-F 治理與移交｜交付:移交文件 + 常態儀表板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算式框二 · 人力成本估算:18.2 人月 × 月薪 NT$6.7-7.5 萬(年薪 80-90 萬 / 12)× 間接費率 1.3 = 約 NT$158-177 萬 = 約 1.4-1.7 個 loaded FTE-year。這個金額全片唯一叫法是「人力成本估算」。</a:t>
            </a:r>
          </a:p>
          <a:p/>
          <a:p>
            <a:r>
              <a:t>框一與框二不得相減、不得畫成同一條式子:框二是本案要花的錢;框一是不做本案、維持現行做法的年度增聘成本暴露。反事實成本暴露 → 只有被實測證明可避免的那一部分才算數。</a:t>
            </a:r>
          </a:p>
          <a:p/>
          <a:p>
            <a:r>
              <a:t>放行條件框的當責:業務負責人提出容量轉換的確認 · 時點 G2(W12)· 它決定第二段預算放不放行。G1 決定的是是否續行剩餘工作,不是是否開始。</a:t>
            </a:r>
          </a:p>
          <a:p/>
          <a:p>
            <a:r>
              <a:t>金額為推算量級,非核定預算;薪資、間接費率、匯率三項均為提案人設定的假設值。本估算涵蓋人力與地端設備,不涵蓋下列五項非人力成本(已辨識、尚未估價):① 影片儲存 ② 雲端運算 ③ 圖資更新 ④ 測試環境建置 ⑤ 訓練資料蒐集;量級由技術負責人與數據負責人於 G1 前補齊,它決定第二段額度要不要上修。因這五項仍未估價,人力與設備相加後仍不得稱為「總成本」,只能稱「已估成本」。</a:t>
            </a:r>
          </a:p>
          <a:p/>
          <a:p>
            <a:r>
              <a:t>薪資尺說明:NT$80-90 萬為初階工程師的公開薪資量級;要增聘的複核分析人員與專案內五種角色同屬工程職、共用同一把尺,故此尺可用;但它仍是公開量級,非公司內部薪資資料。</a:t>
            </a:r>
          </a:p>
          <a:p/>
          <a:p>
            <a:r>
              <a:t>地端設備:128G 設備 NT$16-20 萬 / 台(一次性),先寫一台起步。採購時點在 G1 之後、W8 之前,不在第一段 W1-6 的額度內。設備等於一個人年成本的 14%-19%;硬體只佔本專案已估成本的 8%-12%—— 這個專案的成本主體是人,不是設備。每日批次的設備佔用率僅 9%-14%(估算,非實測),餘裕充足;要不要再加一台由 W1-6 的量測結果評估,列為 G1 的加購判準。同一套基礎設施的第二個應用,是把內部規格文件做成客戶技術問答的線上回覆—— 不在本次請求範圍內,但它讓這筆硬體投資的攤提對象不只一個。</a:t>
            </a:r>
          </a:p>
          <a:p/>
          <a:p>
            <a:r>
              <a:t>WP-E:W8-12 最小離線模型試驗 + W12-24 對照重訓;總投入 4.50 人月不變,係內部人力前移;逐格 FTE 由技術負責人於 G1 前重排,待確認。</a:t>
            </a:r>
          </a:p>
          <a:p/>
          <a:p>
            <a:r>
              <a:t>第一段(W1-6)= 評估底座 2.08 + 標註品質前 4 週 1.39 + 脈絡特徵前 2 週 0.69 + 專案負責人 0.69 = 約 4.85 人月。W1-6 的範圍是 WP-A 全部 + WP-B / WP-C 的限額探索,不是只做 WP-A。</a:t>
            </a:r>
          </a:p>
          <a:p/>
          <a:p>
            <a:r>
              <a:t>六方當責:項目贊助人 / 業務負責人(流程與 KPI)/ 數據負責人(品質與權限)/ 技術負責人(模型 · 系統 · 安全)/ 複核營運主管 / 專案負責人(提案人,PM)。複核營運主管是評估底座那一包的當責人,因為那件事發生在他的團隊裡(標註品質那一包該列給 C)。每個工作包只有一個 A;三道決策門的 A 一律落在項目贊助人。</a:t>
            </a:r>
          </a:p>
          <a:p/>
          <a:p>
            <a:r>
              <a:t>受影響但不在核准鏈上的利害關係人:① 5 位專職分析人員 —— 工作從逐筆看片變成處理難題與治理;轉任與再訓練規劃列為移交前置條件,由複核營運主管代表。② 車隊客戶的安全主管 —— 判定結果的實際使用者,卻不在核准鏈上;由業務負責人代表。③ 駕駛 —— 被判定的對象,目前無申訴管道;在申訴機制到位前,本案產出的判準與一致性量測不對外供個人考核使用。</a:t>
            </a:r>
          </a:p>
          <a:p/>
          <a:p>
            <a:r>
              <a:t>相依關係(待共同確認):本案 W1-26(評估底座 · 標註品質 · 脈絡特徵 · 爭議回覆自動化 · 對照重訓 · 治理移交)→ 公司既有的雲端判讀規劃。請求委員會指派一次共同評估,列為 G1 前置事項;若評估結果是兩案應合併或改序,我接受。</a:t>
            </a:r>
          </a:p>
          <a:p/>
          <a:p>
            <a:r>
              <a:t>組織障礙:政策可改 · 優先序照購買量 · 尖峰徵調研發,所以我要的不只是預算,是一個贊助人跟三道門。</a:t>
            </a:r>
          </a:p>
          <a:p/>
          <a:p>
            <a:r>
              <a:t>六個月之後,委員會手上會多三樣東西:① 一份可稽核的錯誤率 ② 一層把畫面外脈絡帶進事件的判斷層 ③ 一份證明或推翻「脈絡到底有沒有用」的對照實驗結果。就算第二十四週證不出增量,本案仍留下公司第一套可重複的模型評估與標註品質流程,那個東西不隨第三道門撤掉。</a:t>
            </a:r>
          </a:p>
          <a:p/>
          <a:p>
            <a:r>
              <a:t>不做這件事的代價不是多花錢,是三件事同時發生:客戶繼續等兩到五天、小客戶繼續拿到沒有人看過的判定,而我們的研發工程師在尖峰時繼續被拉去看影片。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這些是本提案引用的公開文獻,完整清單在這一頁。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9372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讓機器讀懂一次事件的完整脈絡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9372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08080"/>
                </a:solidFill>
                <a:latin typeface="Microsoft JhengHei"/>
              </a:rPr>
              <a:t>地端 AI 事件判讀 —— 六個月、三道決策門的立案提案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833A"/>
                </a:solidFill>
                <a:latin typeface="Microsoft JhengHei"/>
              </a:rPr>
              <a:t>今天,五個人要看完三千支影片;而客戶要的答案,兩天內。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33087"/>
            <a:ext cx="9372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單一大型車隊 · 約 3,000 筆/天 · 5 位專職分析人員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9372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333333"/>
                </a:solidFill>
                <a:latin typeface="Microsoft JhengHei"/>
              </a:rPr>
              <a:t>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介紹 · 用例:兩階段推論,與它下游那道人工防線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42"/>
            <a:ext cx="9784080" cy="53365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提請核准:一個六個月、三道決策門的專案。架構邊界:本案不重新開啟架構選擇。</a:t>
            </a:r>
          </a:p>
          <a:p>
            <a:pPr algn="l">
              <a:lnSpc>
                <a:spcPct val="100870"/>
              </a:lnSpc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前置是三件事:一組凍結的評估集、一份一致的標註、一層餵得進模型的脈絡 —— 那就是前三個工作包。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為什麼是現在:工作量沒變多,客戶要的時效變了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72" y="2596895"/>
            <a:ext cx="10930149" cy="2569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877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平均編制口徑:每日工作量 ÷ 每日產能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2926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例行批次複核 · 全量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3,000 筆 × 20 秒 ÷ 3,600 = 16.7 人時/天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2926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證據等級:營運端的實務估計,尚未以計時量測驗證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152144"/>
            <a:ext cx="38404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客戶爭議深入判讀 · 客戶回頭標記的 5-10%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3,000 筆 × 5-10% × 5.25 分 ÷ 60 = 13.1-26.2 人時/天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609344"/>
            <a:ext cx="38404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證據等級:由一次實際判讀反推(5 人 × 3.6 天 × 8 小時 ÷ 1,647 筆)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1152144"/>
            <a:ext cx="3977639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合計 29.8-42.9 人時/天 ÷ 40 人時/天</a:t>
            </a:r>
          </a:p>
          <a:p>
            <a:pPr algn="l">
              <a:lnSpc>
                <a:spcPct val="83478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= 利用率 74%-107%,折算 3.7-5.4 人　上緣已破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1609344"/>
            <a:ext cx="3977639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本格為提案人依現有單價所做的推算;此處的『折算人數』是平均編制,不是任何一天的同時在線人力。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66543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平均看起來還好,尖峰時這五個人已經不夠。　→ 這就是尖峰要徵調 7 位研發工程師的原因 —— 不是管理失當,是算術的必然。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40863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以下換一個口徑:不是每天要幾個人,是那一件的時間怎麼被用掉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84653"/>
            <a:ext cx="9784080" cy="60350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帶 1 的天數是這一件批次判讀(4.1 天)、帶 2 的天數是單件客戶爭議(2.5-5.5 天),兩者不是同一個母體;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單件爭議的時效基準與量測落在下方業務基準帶與「效益與衡量」那一頁。　基準:現況單件爭議 2-5 天(從分析到回信的完整鏈路)</a:t>
            </a:r>
          </a:p>
          <a:p>
            <a:pPr algn="l">
              <a:lnSpc>
                <a:spcPct val="83478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客戶期望:2 天內;單純案件當天(客戶期望,非已簽訂之服務水準協議)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24733"/>
            <a:ext cx="97840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1">
                <a:solidFill>
                  <a:srgbClr val="E8833A"/>
                </a:solidFill>
                <a:latin typeface="Microsoft JhengHei"/>
              </a:rPr>
              <a:t>現況約半數爭議超過兩天。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99053"/>
            <a:ext cx="978408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83478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營運端的估計值(「大概一半」),尚未以工單時戳量測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73373"/>
            <a:ext cx="9784080" cy="42062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階梯不是斜坡:一個大型車隊 ≈ 全客戶每日事件量的 23.1%(3,000 ÷ 13,000 筆/天)。</a:t>
            </a:r>
          </a:p>
          <a:p>
            <a:pPr algn="ctr">
              <a:lnSpc>
                <a:spcPct val="83478"/>
              </a:lnSpc>
            </a:pPr>
            <a:r>
              <a:rPr sz="1200" b="1">
                <a:solidFill>
                  <a:srgbClr val="333333"/>
                </a:solidFill>
                <a:latin typeface="Microsoft JhengHei"/>
              </a:rPr>
              <a:t>若涵蓋全部既有客戶,複核量將達現況四倍以上。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發現過程:兩種病,兩個缺口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94" y="960120"/>
            <a:ext cx="8857505" cy="4504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666241"/>
            <a:ext cx="9784080" cy="349503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600" b="1">
                <a:solidFill>
                  <a:srgbClr val="1F4E79"/>
                </a:solidFill>
                <a:latin typeface="Microsoft JhengHei"/>
              </a:rPr>
              <a:t>這兩個比例共用同一把尺,而那把尺的一致性我們從來沒量過 —— 不比誰準,只指出錯的性質不同。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我們看不見的那一半:有資料,沒有習慣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10" y="960120"/>
            <a:ext cx="9211074" cy="5138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0498"/>
            <a:ext cx="9784080" cy="33108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lnSpc>
                <a:spcPct val="10087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成本不對稱:誤報只花人時;漏放是駕駛沒收到那次警示 → 漏放列為否決型護欄。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AI 機會 · 五條路,含三條不用 AI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080760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單件客戶爭議回覆時效基準 2-5 天 → 目標 2 天內、單純案件當天。　〔提案目標〕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72784"/>
            <a:ext cx="9811511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6272784"/>
            <a:ext cx="9665207" cy="365760"/>
          </a:xfrm>
          <a:prstGeom prst="rect">
            <a:avLst/>
          </a:prstGeom>
          <a:noFill/>
        </p:spPr>
        <p:txBody>
          <a:bodyPr wrap="square" anchor="ctr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競爭者用更貴的車上算力換更準的初判。他們買得到算力,買不到我們每天上萬筆已經被人判過的判定回饋,那是我們這個架構的副產品。本案要做的,是把這批回饋從一次性專案變成常設、可稽核的量測資產。硬體買得到,這個買不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65976"/>
            <a:ext cx="789127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設計指引:利害關係人需要完全透明時,規則式可能更優 · 不要為了可以用 AI 而用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6665976"/>
            <a:ext cx="1920240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r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(Rudin, 2019)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業務影響 · 風險:七類八條,緩解位移與殘餘風險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822960"/>
            <a:ext cx="9784080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技術局限 · 數據(2 條)· 倫理 · 社會性 · 經濟 · 組織與管理 · 政治法律政策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9811511" cy="64922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緩解自身的風險(九條):R1 技術局限:規則層擋不住的情境仍回到黑箱 · R2 數據:雙人複核使複核成本近倍增,需以抽樣比例控制 · R2 附 數據:地圖速限資料本身有誤時整批傳遞,且比模型錯更難察覺 · R3 數據:不顯示信心使複核變慢,與時效缺口相衝 · R4 倫理:限制用途會降低客戶端採用意願 · R5 社會性:參與式做法拉長判準定案時程 · R6 經濟:分段釋出使長週期工作包難以排人 · R7 組織與管理:決策門增加治理負擔與會議成本 · R8 政治法律政策:無:目前沒有可執行的緩解措施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647688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R2 偵測訊號的基準 = 某小型車隊單月樣本的全部誤報中 103 / 124 = 83% 屬交通標誌辨識根因;此為該樣本內的比例,不是全公司數字。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業務影響 · 倫理與可申訴性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92608"/>
            <a:ext cx="5029200" cy="67665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本頁對照的是 2019 年版八原則;主管機關已於 2025 年發布後續的 AI 採用指引,官方頁面現以過去式描述這八條。本案仍以 2019 年八原則作為對照骨架,理由是它逐條可對、可公開查證;移交前由提案人依後續指引重跑一次對照。</a:t>
            </a:r>
          </a:p>
        </p:txBody>
      </p:sp>
      <p:pic>
        <p:nvPicPr>
          <p:cNvPr id="9" name="Picture 8" descr="fig_v4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87552"/>
            <a:ext cx="11155702" cy="52120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2002536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我決定的:錯誤率量測一旦建立,複核優先序改以風險排序而非客戶大小,新的排序規則提交委員會核定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40864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我不能決定的:商業上的客戶分級本身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154680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我決定的:轉任與再訓練規劃列為移交前置條件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37560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我不能決定的:人事承諾本身 —— 需贊助人於 G1(第 6 週)核定;在核定之前,本案不對任何人的職位或編制做出承諾。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315968"/>
            <a:ext cx="4334256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處置:判準手冊明文化 + 抽樣雙人複核 + 判定可回溯</a:t>
            </a:r>
          </a:p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我決定的:申訴機制到位前不供個人考核使用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654296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C00000"/>
                </a:solidFill>
                <a:latin typeface="Microsoft JhengHei"/>
              </a:rPr>
              <a:t>我不能決定的:客戶端的申訴流程本身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68112"/>
            <a:ext cx="4334256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我決定的:內部稽核報表常態化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632704"/>
            <a:ext cx="4334256" cy="164592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B45F1F"/>
                </a:solidFill>
                <a:latin typeface="Microsoft JhengHei"/>
              </a:rPr>
              <a:t>我不能決定的:要不要對客戶揭露、揭露到哪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61888"/>
            <a:ext cx="9811511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9811511" cy="237744"/>
          </a:xfrm>
          <a:prstGeom prst="rect">
            <a:avLst/>
          </a:prstGeom>
          <a:noFill/>
        </p:spPr>
        <p:txBody>
          <a:bodyPr wrap="square" anchor="ctr" tIns="0" bIns="0" lIns="18288" rIns="18288">
            <a:spAutoFit/>
          </a:bodyPr>
          <a:lstStyle/>
          <a:p>
            <a:pPr algn="ctr">
              <a:lnSpc>
                <a:spcPct val="88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表上的狀態不是自我打分,是移交前的待辦清單。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72784"/>
            <a:ext cx="9811511" cy="329184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這不是說法,是設計上的必要 —— 採用案的描述準確率是推估的 85%〔非實測〕,也就是設計上預期約 15% 會描述錯;模型做的是把證據整理好,判定仍由人做,所以人的覆核不是過渡安排,是這個設計本身要求的一環。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38544"/>
            <a:ext cx="9811511" cy="173736"/>
          </a:xfrm>
          <a:prstGeom prst="rect">
            <a:avLst/>
          </a:prstGeom>
          <a:noFill/>
        </p:spPr>
        <p:txBody>
          <a:bodyPr wrap="square" anchor="t" tIns="0" bIns="0" lIns="18288" r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當責:項目贊助人 · 時點:G1 · 會改變哪個決策:核定與否決定移交條件能不能簽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效益與衡量 · 怎麼算成功:三層 KPI,一條回圈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53912"/>
            <a:ext cx="978408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最上層第一個指標,是客戶等多久拿到分析。下面兩層的指標,都是它的支撐。　當責三件套(誰負責 · 什麼時候交 · 它會改變哪一個決策)｜② 獲得人工驗證判定的客戶涵蓋率:業務負責人 · W6 交出基線 · 它決定 G1 要不要把複核優先序從客戶大小改成風險大小｜⑩ 漏放率:技術負責人 · W6 交出點估計與 95% 信賴區間 · 它決定 G1 放不放行後段工作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項目計畫 · 六個月 · 六個工作包 · 三道決策門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910328"/>
            <a:ext cx="2926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4E79"/>
                </a:solidFill>
                <a:latin typeface="Microsoft JhengHei"/>
              </a:rPr>
              <a:t>對照實驗的設計(hold-out 怎麼凍、因子怎麼拆、預註冊門檻訂在哪)由技術負責人在 W8 前提出、G2 核可;判準必須寫在跑實驗之前。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5120640"/>
            <a:ext cx="312724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公開數據:資料工作佔掉分析人員約八成時間;前兩包份量偏重是常態,不是計畫灌水 (Press, 2016)。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53912"/>
            <a:ext cx="978408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G1 決定的是要不要續行剩下的工作,不是要不要開始　今天 -&gt; 第 26 週:① 判讀依據:人去外面找 -&gt; 地端 VLM 先看片、先把證據與描述整理好,事件送到人手上時已附證據｜② 複核判準:口耳相傳 -&gt; 明文手冊 + 一致性儀表板｜③ 漏放:沒有數字 -&gt; 有數字、有信賴區間、每月更新｜④ 交付時效:現況單件爭議 2-5 天 -&gt; 提案目標 2 天內;單純案件當天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項目計畫 · 資源、當責與請求</a:t>
            </a:r>
          </a:p>
        </p:txBody>
      </p:sp>
      <p:sp>
        <p:nvSpPr>
          <p:cNvPr id="3" name="Oval 2"/>
          <p:cNvSpPr/>
          <p:nvPr/>
        </p:nvSpPr>
        <p:spPr>
          <a:xfrm>
            <a:off x="10104120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33304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62488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1672" y="384048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0856" y="384048"/>
            <a:ext cx="155448" cy="1554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v4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6" y="960120"/>
            <a:ext cx="11155702" cy="52120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495604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79008" y="4956048"/>
            <a:ext cx="4507992" cy="129844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6272784"/>
            <a:ext cx="9756648" cy="5852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5001768"/>
            <a:ext cx="499262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5F1F"/>
                </a:solidFill>
                <a:latin typeface="Microsoft JhengHei"/>
              </a:rPr>
              <a:t>算式框一 · 不做本案時的年度增聘成本暴露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5221224"/>
            <a:ext cx="4992624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　　單人年薪 NT$80-90 萬(初階工程師的公開薪資量級,未使用公司內部薪資資料)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×　間接費率 1.3(提案人設定的假設)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=　NT$104-117 萬/人/年 × 需增聘 11-18 人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=　每年約 NT$1,144-2,106 萬,約 A$54-100 萬(1 A$ 約 NT$21,概算)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001768"/>
            <a:ext cx="436168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0000"/>
                </a:solidFill>
                <a:latin typeface="Microsoft JhengHei"/>
              </a:rPr>
              <a:t>放行條件 · 本案的損益兩平門檻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221224"/>
            <a:ext cx="4361688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① 若公司選擇以現行流程覆蓋全客戶,年度擴編暴露約 NT$1,144-2,106 萬;這不是本案承諾節省。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② 完整專案的人力成本約等於 1.4-1.7 個 loaded FTE-year。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③ 只有 G2 實測證明可避免或延後至少此容量,且業務確認會轉成少招人或少徵調研發,才放行後續預算。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300216"/>
            <a:ext cx="97566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請求核准:六個月整體額度輪廓 · 分段釋出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647688"/>
            <a:ext cx="97566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C9A0"/>
                </a:solidFill>
                <a:latin typeface="Microsoft JhengHei"/>
              </a:rPr>
              <a:t>第一段 W1-6(WP-A + WP-B/WP-C 限額探索)約 4.85 人月 / 量級 NT$42-47 萬 · G1 由贊助人決定是否續行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53949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Australian Human Rights Commission. (2020). Using artificial intelligence to make decisions: Addressing the problem of algorithmic bias (Technical paper). https://humanrights.gov.au/sites/default/files/document/publication/ahrc_technical_paper_algorithmic_bias_2020.pdf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73351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Department of Industry, Science and Resources. (2019). Australia's AI ethics principles. Australian Government. https://www.industry.gov.au/publications/australias-ai-ethics-principles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67711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Ensign, D., Friedler, S. A., Neville, S., Scheidegger, C., &amp; Venkatasubramanian, S. (2018). Runaway feedback loops in predictive policing. Proceedings of Machine Learning Research, 81, 160-171. https://proceedings.mlr.press/v81/ensign18a.html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35807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Goddard, K., Roudsari, A., &amp; Wyatt, J. C. (2012). Automation bias: A systematic review of frequency, effect mediators, and mitigators. Journal of the American Medical Informatics Association, 19(1), 121-127. https://doi.org/10.1136/amiajnl-2011-000089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03903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Guo, C., Pleiss, G., Sun, Y., &amp; Weinberger, K. Q. (2017). On calibration of modern neural networks. Proceedings of Machine Learning Research, 70, 1321-1330. https://proceedings.mlr.press/v70/guo17a.html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98263"/>
            <a:ext cx="5394960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Hopp, W. J., &amp; Spearman, M. L. (2011). Factory physics (3rd ed., chaps. 7-9). Waveland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1888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1324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07607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National Institute of Standards and Technology. (2023). Artificial intelligence risk management framework (AI RMF 1.0) (NIST AI 100-1). U.S. Department of Commerce. https://doi.org/10.6028/NIST.AI.100-1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731520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Northcutt, C. G., Athalye, A., &amp; Mueller, J. (2021). Pervasive label errors in test sets destabilize machine learning benchmarks. In Proceedings of the Neural Information Processing Systems Track on Datasets and Benchmarks (Vol. 1). https://arxiv.org/abs/2103.14749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99616"/>
            <a:ext cx="5394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Parasuraman, R., &amp; Manzey, D. H. (2010). Complacency and bias in human use of automation: An attentional integration. Human Factors, 52(3), 381-410. https://doi.org/10.1177/0018720810376055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93976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62072"/>
            <a:ext cx="5394960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Rudin, C. (2019). Stop explaining black box machine learning models for high stakes decisions and use interpretable models instead. Nature Machine Intelligence, 1(5), 206-215. https://doi.org/10.1038/s42256-019-0048-x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30168"/>
            <a:ext cx="53949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Sambasivan, N., Kapania, S., Highfill, H., Akrong, D., Paritosh, P., &amp; Aroyo, L. M. (2021). "Everyone wants to do the model work, not the data work": Data cascades in high-stakes AI. In Proceedings of the 2021 CHI Conference on Human Factors in Computing Systems (Article 39, pp. 1-15). ACM. https://doi.org/10.1145/3411764.3445518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572000"/>
            <a:ext cx="539496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333333"/>
                </a:solidFill>
                <a:latin typeface="Microsoft JhengHei"/>
              </a:rPr>
              <a:t>Sculley, D., Holt, G., Golovin, D., Davydov, E., Phillips, T., Ebner, D., Chaudhary, V., Young, M., Crespo, J.-F., &amp; Dennison, D. (2015). Hidden technical debt in machine learning systems. In Advances in Neural Information Processing Systems 28 (pp. 2503-2511). Curran Associates. https://proceedings.neurips.cc/paper/2015/hash/86df7dcfd896fcaf2674f757a2463eba-Abstract.html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9784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