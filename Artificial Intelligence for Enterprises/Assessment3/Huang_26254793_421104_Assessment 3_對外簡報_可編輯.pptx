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e9d4f51fd4380" /><Relationship Type="http://schemas.openxmlformats.org/officeDocument/2006/relationships/extended-properties" Target="/docProps/app.xml" Id="R2d1de731dffa4fdb" /><Relationship Type="http://schemas.openxmlformats.org/officeDocument/2006/relationships/officeDocument" Target="/ppt/presentation.xml" Id="Rb53566bf8f274f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3eabe1de5424f"/>
  </p:sldMasterIdLst>
  <p:notesMasterIdLst>
    <p:notesMasterId xmlns:r="http://schemas.openxmlformats.org/officeDocument/2006/relationships" r:id="R8108ff5f9ee44c34"/>
  </p:notesMasterIdLst>
  <p:sldIdLst>
    <p:sldId xmlns:r="http://schemas.openxmlformats.org/officeDocument/2006/relationships" id="256" r:id="R967d81a7e24148a5"/>
    <p:sldId xmlns:r="http://schemas.openxmlformats.org/officeDocument/2006/relationships" id="257" r:id="Rc030fe97fc5842ee"/>
    <p:sldId xmlns:r="http://schemas.openxmlformats.org/officeDocument/2006/relationships" id="258" r:id="R856d9ef4754647c4"/>
    <p:sldId xmlns:r="http://schemas.openxmlformats.org/officeDocument/2006/relationships" id="259" r:id="R5c9b93e376334e8a"/>
    <p:sldId xmlns:r="http://schemas.openxmlformats.org/officeDocument/2006/relationships" id="260" r:id="Rcbe2893463664967"/>
    <p:sldId xmlns:r="http://schemas.openxmlformats.org/officeDocument/2006/relationships" id="261" r:id="R80b6a7d4f25a4e21"/>
    <p:sldId xmlns:r="http://schemas.openxmlformats.org/officeDocument/2006/relationships" id="262" r:id="Rb33482d8f0b649c2"/>
    <p:sldId xmlns:r="http://schemas.openxmlformats.org/officeDocument/2006/relationships" id="263" r:id="R4846b81fb2884d77"/>
    <p:sldId xmlns:r="http://schemas.openxmlformats.org/officeDocument/2006/relationships" id="264" r:id="R4c4c2bc0820c442d"/>
    <p:sldId xmlns:r="http://schemas.openxmlformats.org/officeDocument/2006/relationships" id="265" r:id="R3424151ac81b47f6"/>
    <p:sldId xmlns:r="http://schemas.openxmlformats.org/officeDocument/2006/relationships" id="266" r:id="R48654d144d404971"/>
    <p:sldId xmlns:r="http://schemas.openxmlformats.org/officeDocument/2006/relationships" id="267" r:id="R3357735a72974dce"/>
    <p:sldId xmlns:r="http://schemas.openxmlformats.org/officeDocument/2006/relationships" id="268" r:id="Rf0104c3b9354456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e9f558e8d4b02" /><Relationship Type="http://schemas.openxmlformats.org/officeDocument/2006/relationships/slideMaster" Target="/ppt/slideMasters/slideMaster1.xml" Id="R6de3eabe1de5424f" /><Relationship Type="http://schemas.openxmlformats.org/officeDocument/2006/relationships/notesMaster" Target="/ppt/notesMasters/notesMaster1.xml" Id="R8108ff5f9ee44c34" /><Relationship Type="http://schemas.openxmlformats.org/officeDocument/2006/relationships/presProps" Target="/ppt/presProps.xml" Id="R9ab1068c61f841d6" /><Relationship Type="http://schemas.openxmlformats.org/officeDocument/2006/relationships/viewProps" Target="/ppt/viewProps.xml" Id="Rdcf00f8147364910" /><Relationship Type="http://schemas.openxmlformats.org/officeDocument/2006/relationships/tableStyles" Target="/ppt/tableStyles.xml" Id="R325495f6096e4f4a" /><Relationship Type="http://schemas.openxmlformats.org/officeDocument/2006/relationships/slide" Target="/ppt/slides/slide1.xml" Id="R967d81a7e24148a5" /><Relationship Type="http://schemas.openxmlformats.org/officeDocument/2006/relationships/slide" Target="/ppt/slides/slide2.xml" Id="Rc030fe97fc5842ee" /><Relationship Type="http://schemas.openxmlformats.org/officeDocument/2006/relationships/slide" Target="/ppt/slides/slide3.xml" Id="R856d9ef4754647c4" /><Relationship Type="http://schemas.openxmlformats.org/officeDocument/2006/relationships/slide" Target="/ppt/slides/slide4.xml" Id="R5c9b93e376334e8a" /><Relationship Type="http://schemas.openxmlformats.org/officeDocument/2006/relationships/slide" Target="/ppt/slides/slide5.xml" Id="Rcbe2893463664967" /><Relationship Type="http://schemas.openxmlformats.org/officeDocument/2006/relationships/slide" Target="/ppt/slides/slide6.xml" Id="R80b6a7d4f25a4e21" /><Relationship Type="http://schemas.openxmlformats.org/officeDocument/2006/relationships/slide" Target="/ppt/slides/slide7.xml" Id="Rb33482d8f0b649c2" /><Relationship Type="http://schemas.openxmlformats.org/officeDocument/2006/relationships/slide" Target="/ppt/slides/slide8.xml" Id="R4846b81fb2884d77" /><Relationship Type="http://schemas.openxmlformats.org/officeDocument/2006/relationships/slide" Target="/ppt/slides/slide9.xml" Id="R4c4c2bc0820c442d" /><Relationship Type="http://schemas.openxmlformats.org/officeDocument/2006/relationships/slide" Target="/ppt/slides/slide10.xml" Id="R3424151ac81b47f6" /><Relationship Type="http://schemas.openxmlformats.org/officeDocument/2006/relationships/slide" Target="/ppt/slides/slide11.xml" Id="R48654d144d404971" /><Relationship Type="http://schemas.openxmlformats.org/officeDocument/2006/relationships/slide" Target="/ppt/slides/slide12.xml" Id="R3357735a72974dce" /><Relationship Type="http://schemas.openxmlformats.org/officeDocument/2006/relationships/slide" Target="/ppt/slides/slide13.xml" Id="Rf0104c3b935445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e1ecefdae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90f57b0f842cd" /><Relationship Type="http://schemas.openxmlformats.org/officeDocument/2006/relationships/notesMaster" Target="/ppt/notesMasters/notesMaster1.xml" Id="R51768050e0c243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7b58795964a44" /><Relationship Type="http://schemas.openxmlformats.org/officeDocument/2006/relationships/notesMaster" Target="/ppt/notesMasters/notesMaster1.xml" Id="R1a0f2231107848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e7c3d8d3e4625" /><Relationship Type="http://schemas.openxmlformats.org/officeDocument/2006/relationships/notesMaster" Target="/ppt/notesMasters/notesMaster1.xml" Id="R4e4cb72986f745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63fb5fd3c4dce" /><Relationship Type="http://schemas.openxmlformats.org/officeDocument/2006/relationships/notesMaster" Target="/ppt/notesMasters/notesMaster1.xml" Id="R0d023ed392a142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12a10f9c9a4222" /><Relationship Type="http://schemas.openxmlformats.org/officeDocument/2006/relationships/notesMaster" Target="/ppt/notesMasters/notesMaster1.xml" Id="R4f5a31050acc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127489ef48428f" /><Relationship Type="http://schemas.openxmlformats.org/officeDocument/2006/relationships/notesMaster" Target="/ppt/notesMasters/notesMaster1.xml" Id="R315e152a7ab948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503f7889e74eae" /><Relationship Type="http://schemas.openxmlformats.org/officeDocument/2006/relationships/notesMaster" Target="/ppt/notesMasters/notesMaster1.xml" Id="R8db1eb0c378b4f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94e2ec09094ee4" /><Relationship Type="http://schemas.openxmlformats.org/officeDocument/2006/relationships/notesMaster" Target="/ppt/notesMasters/notesMaster1.xml" Id="R8154d02e713c44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970dbadde54e35" /><Relationship Type="http://schemas.openxmlformats.org/officeDocument/2006/relationships/notesMaster" Target="/ppt/notesMasters/notesMaster1.xml" Id="R7ec5e506708c43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203a03f6e4c7b" /><Relationship Type="http://schemas.openxmlformats.org/officeDocument/2006/relationships/notesMaster" Target="/ppt/notesMasters/notesMaster1.xml" Id="Rf81ac6bff95843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4d364efeb34dac" /><Relationship Type="http://schemas.openxmlformats.org/officeDocument/2006/relationships/notesMaster" Target="/ppt/notesMasters/notesMaster1.xml" Id="Rfc89ce47a68d43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7b409629b24bc8" /><Relationship Type="http://schemas.openxmlformats.org/officeDocument/2006/relationships/notesMaster" Target="/ppt/notesMasters/notesMaster1.xml" Id="R8b20705f38b541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4d4f944034475f" /><Relationship Type="http://schemas.openxmlformats.org/officeDocument/2006/relationships/notesMaster" Target="/ppt/notesMasters/notesMaster1.xml" Id="R5d54539839c0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開場先交代商業問題、建議方案、六個月價值與風險界線。此處提出的是六週評估與資源配置，不是部署承諾。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先用三段流程交代營運現況。人工段包含全量批次與客戶爭議深度判讀；每日合計 29.8–42.9 人時，對上 40 人時產能，峰值已超載。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43%–78% 代表可由 AI 支援的流程比例，不等同自動化承諾。每日批次吞吐暫非瓶頸，爭議深度判讀量仍需六週量測。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Hopp, W. J., &amp; Spearman, M. L. (2011). Factory physics (3rd ed., chaps. 7–9). Waveland Press.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這是最具體的改善靶點：樣本、工時、母體與根因都明確。104 是駕駛輔助系統誤報，124 是整批全部誤報，兩者母體不可混用。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左右兩側不要做精準度比較，因為母體不同。主張只是：誤報證據較厚，漏放證據薄；因此先買量測。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四個策略使用相同的量化效果、成本形狀與可停止性比較。影子模式的信心門檻必須在凍結評估集上預先定義，並以四種作業方式比較，不採模型的自然語言自信宣稱。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安全紅線類別必須由業務與法務共同核定，不預設具體事件類型。法律地位目前尚無可執行緩解；漏放與錯誤歸責則是自動結案新增的風險。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850 筆是營運期的上限情境，前提是已通過獨立部署審查；六個月試驗期間仍由人工逐筆判定。2019 八原則作為公開可查的倫理對照框架。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85% 不是承諾，也不是模型自述信心；必須由凍結評估集上的校準門檻定義，並在四種作業方式的比較中驗證。漏濾率是自動結案能否對外生效的否決指標。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技術方案維持概念層次：一套地端視覺語言模型，同一設備分時處理篩檢與深度判讀。具體選型與量化規格依前六週量測決定；營運放行由移交後的獨立審查負責。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兩組成本代表不同情境：NT$1,248–2,223 萬是流程不改善時的總增聘暴露；NT$520–1,521 萬是導入後可能避免的增聘。兩者都屬營運期情境估算，不能直接與設備價格相減成投資報酬。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93b6615af4b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691511db44d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7f64ca20d4a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22c463d584b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ab147d4ed48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cc507d04247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158358bc84a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470a4c22e43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224a51bc745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be56e9d0f47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99d9723f04f4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403D5B-AB3E-4A3D-98C3-903041AD69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C4379C-6A51-4ECF-A6AD-1FCE2C795D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8324E5-1B63-4AB7-9A41-C96E42498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FFF74D-AE12-44F5-B1B9-88F2E58A85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867FA9-37E9-49A6-B100-012063D59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600B09-E029-4A71-AABE-6840B388C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C05652-E2D9-409B-8EE2-A70E2F6772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9CC60C-0540-43E3-A4DE-3E6F1131DC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1FD455-95E4-4D3F-91FA-9B278E8CF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3EC8C2-CE2B-4FEE-B013-D046A136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BE820-8D7D-4A94-AD4A-D696C4997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BE3AF-DB7A-4894-8E79-BAC869180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B9B68F-DA4A-4AAB-8754-34CAC533C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45A6E3-3155-4ED4-83DA-91FD36BA4F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D7E9F6-BFAE-4556-8F5B-81D3E1AB3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18B627-2588-4BF8-996C-FFE657C75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0AC009-0CB7-48C6-B239-D90A0CE61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584C60-A704-4D70-AEBE-2019974207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022B65-BA0D-4153-9A8F-DDF1EB356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2D148A-CB5E-40FB-A9CE-162C64454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27B39A-A020-43FC-9978-D059D6EF14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31F86-0954-4F11-8796-A51A05695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BE72B3-607F-4BF2-A301-0AAF63ED8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DF8336-2B8E-441D-96EF-D0F2C9C268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6B6E442-A969-4ABD-B9EA-605FAE3D35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91EBAB-64EF-4A75-81D4-02B74ABE88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B5A5EE-1280-4491-8540-F33D929FA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E1ACF89-35B8-45C3-B270-A4A1A57B0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635E996-D3E4-4A17-B395-12C1CCEC2C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F0BD4C-63ED-424B-BAEF-F668DADD6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7B66014-9B41-4CD4-865A-06791D096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EAF53B-382E-4D58-A398-174AA4088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AC3980-1B2D-4B86-A41C-064EE206A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E2B268-930D-4EC6-A624-8EF08BAAA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CA4175-1497-4DEB-BE17-4125EE57BF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486FD7-C43E-4587-A944-FD47871FF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5340C0-F0C7-4A09-BAAF-9B749DE1A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447E3C-5765-48B5-A604-5BA27C1AFC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DA045A-B9E9-4A4B-84E5-27D4E44C7B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82D5EB-B1A0-4791-AEAE-8F3C6C9C11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943A59-379B-4FCE-B4C5-CF38D20DEE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A042EE-E8AB-4782-8609-4393DC9243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3A2AF6-ED01-4CA3-8A89-82DD1049F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C7F142E-1C33-490B-B57C-42DFE2439A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4D0D5-C01F-4C11-A2E1-360C7BE41F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DE0A6B-3D0A-45E1-8295-1F517CD98D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077A8-CF0F-4DEF-8BD6-B41AC813B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673875-67CA-4D51-83D8-6F75C151ED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B761E2-7916-4B97-80EC-98B377C0F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484784-52EE-4009-ABF6-A766699F0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337B37-7637-4D49-BE63-CA144DB8E1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607ACA-45CF-4961-B611-1A79D04A16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FD01-5637-42BC-93F6-9FC9173FF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1CEB0C-60FB-4D55-B803-A6FB2BF38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225839-A521-45ED-B27F-EDD378340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79FA1F-FDA2-43DE-A67D-2091616ADF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BF7AA1-2730-40BB-9B7D-D7B30DB16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7683DB-555C-4C20-8839-3254D7D4C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99fb6e9a74f2b" /><Relationship Type="http://schemas.openxmlformats.org/officeDocument/2006/relationships/slideLayout" Target="/ppt/slideLayouts/slideLayout1.xml" Id="Rbd519932efe9463b" /><Relationship Type="http://schemas.openxmlformats.org/officeDocument/2006/relationships/slideLayout" Target="/ppt/slideLayouts/slideLayout2.xml" Id="Rc325089a2146424b" /><Relationship Type="http://schemas.openxmlformats.org/officeDocument/2006/relationships/slideLayout" Target="/ppt/slideLayouts/slideLayout3.xml" Id="Rb70020d2a4ae49a0" /><Relationship Type="http://schemas.openxmlformats.org/officeDocument/2006/relationships/slideLayout" Target="/ppt/slideLayouts/slideLayout4.xml" Id="R71b8c363397c4073" /><Relationship Type="http://schemas.openxmlformats.org/officeDocument/2006/relationships/slideLayout" Target="/ppt/slideLayouts/slideLayout5.xml" Id="R296e4c06941647dc" /><Relationship Type="http://schemas.openxmlformats.org/officeDocument/2006/relationships/slideLayout" Target="/ppt/slideLayouts/slideLayout6.xml" Id="Ra0be3a37cbb84789" /><Relationship Type="http://schemas.openxmlformats.org/officeDocument/2006/relationships/slideLayout" Target="/ppt/slideLayouts/slideLayout7.xml" Id="R3cc499b1a91049a9" /><Relationship Type="http://schemas.openxmlformats.org/officeDocument/2006/relationships/slideLayout" Target="/ppt/slideLayouts/slideLayout8.xml" Id="Rda782e9399404578" /><Relationship Type="http://schemas.openxmlformats.org/officeDocument/2006/relationships/slideLayout" Target="/ppt/slideLayouts/slideLayout9.xml" Id="R4694b3872f3d4f7c" /><Relationship Type="http://schemas.openxmlformats.org/officeDocument/2006/relationships/slideLayout" Target="/ppt/slideLayouts/slideLayout10.xml" Id="R27340b9a2aaf48b1" /><Relationship Type="http://schemas.openxmlformats.org/officeDocument/2006/relationships/slideLayout" Target="/ppt/slideLayouts/slideLayout11.xml" Id="R76673bdc96ff4e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388974A-4CDD-417E-B252-CFC523CE7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346A7F-8F2E-4524-95F4-EF2678A800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CC763-3637-4BCD-B508-87EBF71C60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AC9E1F-3AE9-4A1F-850E-29923FC922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DF9B0A-33B6-45D3-BF14-4B147B3AF2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519932efe9463b"/>
    <p:sldLayoutId xmlns:r="http://schemas.openxmlformats.org/officeDocument/2006/relationships" id="2147483650" r:id="Rc325089a2146424b"/>
    <p:sldLayoutId xmlns:r="http://schemas.openxmlformats.org/officeDocument/2006/relationships" id="2147483651" r:id="Rb70020d2a4ae49a0"/>
    <p:sldLayoutId xmlns:r="http://schemas.openxmlformats.org/officeDocument/2006/relationships" id="2147483652" r:id="R71b8c363397c4073"/>
    <p:sldLayoutId xmlns:r="http://schemas.openxmlformats.org/officeDocument/2006/relationships" id="2147483653" r:id="R296e4c06941647dc"/>
    <p:sldLayoutId xmlns:r="http://schemas.openxmlformats.org/officeDocument/2006/relationships" id="2147483654" r:id="Ra0be3a37cbb84789"/>
    <p:sldLayoutId xmlns:r="http://schemas.openxmlformats.org/officeDocument/2006/relationships" id="2147483655" r:id="R3cc499b1a91049a9"/>
    <p:sldLayoutId xmlns:r="http://schemas.openxmlformats.org/officeDocument/2006/relationships" id="2147483656" r:id="Rda782e9399404578"/>
    <p:sldLayoutId xmlns:r="http://schemas.openxmlformats.org/officeDocument/2006/relationships" id="2147483657" r:id="R4694b3872f3d4f7c"/>
    <p:sldLayoutId xmlns:r="http://schemas.openxmlformats.org/officeDocument/2006/relationships" id="2147483658" r:id="R27340b9a2aaf48b1"/>
    <p:sldLayoutId xmlns:r="http://schemas.openxmlformats.org/officeDocument/2006/relationships" id="2147483659" r:id="R76673bdc96ff4e5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e9fb31261400e" /><Relationship Type="http://schemas.openxmlformats.org/officeDocument/2006/relationships/notesSlide" Target="/ppt/notesSlides/notesSlide1.xml" Id="R7ba9070083cd4f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2197c692624c3c" /><Relationship Type="http://schemas.openxmlformats.org/officeDocument/2006/relationships/notesSlide" Target="/ppt/notesSlides/notesSlide2.xml" Id="Rbb3f9fdeb353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957e446f224ad5" /><Relationship Type="http://schemas.openxmlformats.org/officeDocument/2006/relationships/notesSlide" Target="/ppt/notesSlides/notesSlide3.xml" Id="R3f967cfdfef2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ad246e2cbc48a5" /><Relationship Type="http://schemas.openxmlformats.org/officeDocument/2006/relationships/notesSlide" Target="/ppt/notesSlides/notesSlide4.xml" Id="R466d31ad9e0d40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b96e5cb34e40fa" /><Relationship Type="http://schemas.openxmlformats.org/officeDocument/2006/relationships/notesSlide" Target="/ppt/notesSlides/notesSlide5.xml" Id="Re08b00f9f98d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5abf983ea748be" /><Relationship Type="http://schemas.openxmlformats.org/officeDocument/2006/relationships/notesSlide" Target="/ppt/notesSlides/notesSlide6.xml" Id="R7edb404ee7c243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55b8e6d7934a17" /><Relationship Type="http://schemas.openxmlformats.org/officeDocument/2006/relationships/notesSlide" Target="/ppt/notesSlides/notesSlide7.xml" Id="R7218f68555444f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67832e02274bcd" /><Relationship Type="http://schemas.openxmlformats.org/officeDocument/2006/relationships/notesSlide" Target="/ppt/notesSlides/notesSlide8.xml" Id="R78c62425610046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d85f83b1dc42a4" /><Relationship Type="http://schemas.openxmlformats.org/officeDocument/2006/relationships/notesSlide" Target="/ppt/notesSlides/notesSlide9.xml" Id="R4faf261180d84e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da048980784ab4" /><Relationship Type="http://schemas.openxmlformats.org/officeDocument/2006/relationships/notesSlide" Target="/ppt/notesSlides/notesSlide10.xml" Id="R8552b8f0fbaa4b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5727909641463c" /><Relationship Type="http://schemas.openxmlformats.org/officeDocument/2006/relationships/notesSlide" Target="/ppt/notesSlides/notesSlide11.xml" Id="Radce3310c0e24a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4db432c00d40ee" /><Relationship Type="http://schemas.openxmlformats.org/officeDocument/2006/relationships/notesSlide" Target="/ppt/notesSlides/notesSlide12.xml" Id="R354eda5eb64c45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6730625c254110" /><Relationship Type="http://schemas.openxmlformats.org/officeDocument/2006/relationships/notesSlide" Target="/ppt/notesSlides/notesSlide13.xml" Id="R5358d7e0e0fa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CF03E-DD9D-40C1-A491-171AA54C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F3E81-7142-4D09-A653-BC80E216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以地端視覺 AI 縮短事件判讀時間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73A81-249D-48C0-A42E-32BB5719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企業事件判讀轉型提案｜六個月、證據導向、可逆部署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4B109-C4E5-4B50-AAA5-34CD493E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D8A89-17BC-46E8-ABA9-5AFE1F1B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8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目前營運規模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834C9-F929-4293-A3C2-80FAFC7E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66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3,000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9F0DC-12C9-47D2-BC4D-24B5421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事件／日，由 5 人逐筆覆核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B596-7432-4A83-AD59-7259183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DACC6-89FA-4576-A600-ECF71975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建議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515F0-B71E-4EDE-82E4-EF4286C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建立地端視覺 AI 判讀能力，先完成可稽核評估，再進行不對外生效的同步測試。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035B5-E4DA-4D82-859C-C00E7980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六個月價值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33EB5-652E-4B91-9CAA-743F9E0B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24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把爭議回覆壓到 2 天內；人仍逐筆判定。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4DDB3-C726-42F0-A62D-2D44E5CB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風險界線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A5ED2-E774-4893-812C-566770E9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AI 結案判定對外生效 = 0%。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59E04-AE50-47A7-AF37-559C2C4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1430">
            <a:solidFill>
              <a:srgbClr val="E67E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74D28-B193-4E93-8538-DFF26668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建議下一步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823D1-CA47-407D-A055-F9FB22F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投入六週建立量測基線，並指定一位跨部門專案贊助人。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288F5-1B78-40FE-ADBA-6527103D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Po-Kai Huang｜26254793｜421104 Artificial Intelligence for Enterprises｜Assessment 3｜2026.08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3F8FB-1EBD-45E2-99EA-12AB3BC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0815C-B43E-4853-862B-C2FF722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98C4C-D571-43E1-AE36-C13E9E00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6188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207A3-3C0D-4F8A-B99E-B773DD20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營運現況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7169A3C-9E2E-4DDA-91E9-0149E47B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兩段自動判讀後，最後一哩仍由 5 人逐筆承擔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479EB-DB05-49E7-8601-9CADF2BD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每日需 29.8–42.9 人時，峰值已達可用產能 107%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02ACB-78D0-4842-9A07-1E2BD64D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577D7-0494-435A-90C4-E845C7D5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19D3D-D4BF-4527-8867-ACB3EDBB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B29A8-5035-4075-8FA6-96B3919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C9615-D3AF-4B96-B255-707553B6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1700C-72E8-4FFC-B6E2-DF14F744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9711B-1184-4C20-86A9-BC52B92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89B57-145C-42DB-91EF-FDE18AB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① 車上即時初判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88296-4BF2-4F04-A763-0B604E0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產生事件影片與分類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EE2C3-9F64-4D30-80FD-E73E1EE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6C639-2B49-49A5-BD18-64E7C72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② 雲端複判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452AD-9A6F-4676-B06E-7DD72F5F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判定真假並回傳警示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D772C-1B76-4F66-8AEB-7DF8A14F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3714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67E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4DD1E-9663-466F-8FE8-45C94B4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907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③ 人工防線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1FA58-50DF-4FCC-8087-1C205C50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5 人逐筆看完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重看影片 → 補畫外脈絡 → 回覆客戶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B8905-6BDE-4A46-A6B5-3706909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每天需要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EB46E-9740-43D2-A0B3-73AF4B5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29.8–42.9 人時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A17BC-D6E9-4B48-9385-E541E89B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可用產能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18560-C60D-407D-BDAD-4D039B34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40 人時／日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D31A8-1D9F-4CE6-A4CD-6ED57A50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62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峰值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1B7FE-5A8A-4784-A798-6A9F011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38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107%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030D1-13CA-4417-B6D4-B2C5BC11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000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A27981-92FB-41DD-AC18-44A058A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879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1AF823-92BF-4307-BFBE-FDABF45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29175"/>
            <a:ext cx="1209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E7819-FB0D-4856-B569-A9EDDD5E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F3376-8460-4305-B73C-F2937EB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40 h 產能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EE396-0605-4E4B-928B-4BE985D1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19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42.9 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84652-8763-4CF8-AB1C-A563811E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瓶頸不是影片數量，而是畫面外的脈絡與一致判準。</a:t>
            </a:r>
          </a:p>
        </p:txBody>
      </p:sp>
    </p:spTree>
    <p:extLst>
      <p:ext uri="{BB962C8B-B14F-4D97-AF65-F5344CB8AC3E}">
        <p14:creationId xmlns:p14="http://schemas.microsoft.com/office/powerpoint/2010/main" val="616663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58392F-6957-4049-8E7C-52A19B7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改善機會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E1106AE-0795-4CE5-B0EA-0AA2F41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回覆耗時 2–5 天，其中 43%–78% 可由 AI 介入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4D079-AA1A-4A04-BC47-1E35CF3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資料整備與深度判讀是改善核心；六週實測後再決定投資規模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091BB-52F7-406F-BE95-E71F399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A3D88-D071-4429-86E4-880DEF1E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BD811-D379-4E96-9BFC-E84A532E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596D1-99A2-4CCD-8FF2-1A593A87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D25B0-6931-4699-87E8-5B84D843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現況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6517B-2CDD-4052-8FEE-84A6C69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AAF52-5644-41CE-9C76-B74A259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DE2D8-CF80-4DD5-B8F5-2A5EC9C1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≤ 2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ABA44-E09E-48A4-BA96-094CD68B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D2A1B-CEE4-477D-A4DA-25721F7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等待／排隊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E1167-1F12-4BDB-BF1B-A5E9BB3E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0–1 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7FFDC-6048-4CFF-A0A2-5B583052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26C9B-329B-4E42-8A2B-6DE31E6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撈數據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01A2D-9A5B-4C9D-A497-77086C6B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514E2-4EEB-4A19-9B52-3EEC514C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051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D6D92-CDC4-4805-B39E-2DAF5FB0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575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判讀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B45D8-91F0-40FA-B212-DAABDEDB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71850"/>
            <a:ext cx="441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1–3 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39BA0-34FD-41EB-A562-AF011C18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0512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BA04C-4662-416F-9AAA-26306B7C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575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內部覆核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8FC1A-F062-48D7-9519-91D60274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71850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5B719-48DB-43FB-9371-81D7204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EE200-C130-4AAF-8908-DCF0544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57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寫報回信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D4CEE-DD6C-4C22-ADEE-8B26AA4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80F52-7856-4F7E-B624-2A827B6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57625"/>
            <a:ext cx="704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1475E-BEEF-4426-BFD4-D2EEE6E0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719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AI 可介入段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9C2F8-34A6-4433-9191-07B8E37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43%–78%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0573D-9687-480A-9407-D183CEC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2377C7-1751-4F5E-BC17-23AEC62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今日利用率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0588E-995F-44CE-8F49-C94A9690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74%–107%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4FF5F-E729-4994-ADAF-B5C37301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C14379-10BE-49EA-AA3E-B375D18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尖峰徵調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055FF3-3900-4DF0-911E-77AD54EF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81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 位研發工程師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C64499-D044-45B5-AA70-920DD21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81575"/>
            <a:ext cx="3829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8831D1-C286-4842-83EB-319E891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339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7791F"/>
                </a:solidFill>
                <a:latin typeface="Microsoft JhengHei"/>
                <a:ea typeface="Microsoft JhengHei"/>
                <a:cs typeface="Microsoft JhengHei"/>
              </a:rPr>
              <a:t>證據界線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7D1ACF-2623-4BB6-BA50-23FE648E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816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批次暫非瓶頸；深度判讀量由六週評估驗證</a:t>
            </a:r>
          </a:p>
        </p:txBody>
      </p:sp>
    </p:spTree>
    <p:extLst>
      <p:ext uri="{BB962C8B-B14F-4D97-AF65-F5344CB8AC3E}">
        <p14:creationId xmlns:p14="http://schemas.microsoft.com/office/powerpoint/2010/main" val="81234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2BB31-26DC-449A-AB9B-B8FF64C4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營運證據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5F9551B-C515-44CD-A323-57F0AEDC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83% 誤報集中在交通標誌辨識，規則先行最划算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24EEB-7FEE-4568-A408-7C53419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1,647 筆事件｜144 小時人工判讀｜先驗證規則，再衡量模型增量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348D5-4E95-42F0-8A96-2D1F772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FB3C4-5D9D-42D7-A359-9F662699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89ADE-5DCB-4560-82E9-2F249FB2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ADF68-A4FD-4B64-91C7-553CF201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8BBD2-548A-4F64-9094-2BB5D98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C43E8-17F8-4EC8-9F9A-772BF63A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1,647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814AA-3DC0-442D-ACD6-91E5CFA6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事件樣本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8A05C-0DEA-407D-9215-DACEF2B8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D3E44-0DA8-4E39-A78C-296F534A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144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DD526-D6C2-471A-AD26-E58143F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人工判讀時間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20EAD-9488-4BF7-8D1B-A47FA379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C9146-BFDA-4A29-879B-B857C623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41739-9E8C-4880-AA9E-38D8BE0A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全部誤報｜駕駛輔助 104 + 駕駛監控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C98C4-38E3-4AA2-A00C-D330B24B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62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1347A-7031-4E4E-80F0-F9C742CB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288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83%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5F8A1-2D4C-4EC0-88EC-783C5C4E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103 / 124 為交通標誌根因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CF072-FD6C-4165-9F48-F10FADB3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誤報根因集中度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DE797-C037-45F9-8770-7054889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7205A-51DD-40CD-9E68-B26A5AA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7725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2FEA7-1E3F-4015-B1A9-68F6BBC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交通標誌辨識 103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226EB-C56B-4C7A-AC95-B882832F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243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其他 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3FE28-5ED2-4B94-93BD-5D57258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057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E4F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54DFE-A37B-4FC1-8244-DFB162E8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商業含義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84BEF-2712-4122-B9A7-64C5163E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先做可逐條檢查的規則式脈絡基線，再證明視覺 AI 帶來的增量。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4C59D-754E-42FA-B752-B3383BC0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速限資料已存在；不必先買模型，也不必先承諾部署。</a:t>
            </a:r>
          </a:p>
        </p:txBody>
      </p:sp>
    </p:spTree>
    <p:extLst>
      <p:ext uri="{BB962C8B-B14F-4D97-AF65-F5344CB8AC3E}">
        <p14:creationId xmlns:p14="http://schemas.microsoft.com/office/powerpoint/2010/main" val="1079874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0290E-681F-4E7C-A7B3-1BCD134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證據缺口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BB4C8AA-665D-4F5A-9AFF-A01F8DC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誤報證據充分；漏放風險仍缺可靠基線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91DD6-5290-4E1D-8D11-9FB0AAE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39 筆測試發現 12 筆漏偵；第一階段應建立固定測試資料與可信區間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DBD9C-8EDB-40BA-8982-1FF4FCD8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BD6BE-66EF-4A58-8880-C8FCB6C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89D87-5DBC-4672-BD36-3DA5602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A576E-29D8-4315-AE1D-E230C0CC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90E92-D718-439B-B2FB-2812316C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8577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AF54A-2FC8-4C26-B7D3-88AEB8AD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看得見｜誤報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2FF4F-C81F-4E94-8941-C4352F4F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1,647 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92C99-7302-47AC-AE70-29A07FF4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獨立批次母體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F021-F34B-481E-B172-E99C04C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124 筆誤報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02251-B286-4E2E-A45A-5A15002C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103 / 124 同一根因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3094F-04C0-4E17-9EF0-7C09CB7A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證據可直接連到規則基線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4750-609A-415B-AA40-8DAA95AB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57375"/>
            <a:ext cx="54673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614A3-1C4D-4344-B31C-573B76AA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看不見｜漏放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9A570-6B88-40A5-B223-33965581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39 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98C6E-AA9B-42CF-909E-3837651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一次性人工觸發測試｜自註為下限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7879C-C836-4064-8110-E6660E0E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12 / 39 漏偵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7F14A-835B-47F6-B87B-76EACE4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其中 6 / 12 為低光或雨天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FEF5D-46DC-4EBA-B8D2-7E41273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71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 / 39 尚無法歸類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244ED-5A1F-4F85-9627-EBA8A7A9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572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2343A-2557-48EC-B305-8AA940C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78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六週評估產出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1377E-A57D-4B64-B513-C9F291EC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911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固定測試資料｜帶 95% 信賴區間的漏放率｜複核者一致性基準</a:t>
            </a:r>
          </a:p>
        </p:txBody>
      </p:sp>
    </p:spTree>
    <p:extLst>
      <p:ext uri="{BB962C8B-B14F-4D97-AF65-F5344CB8AC3E}">
        <p14:creationId xmlns:p14="http://schemas.microsoft.com/office/powerpoint/2010/main" val="1733362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D36645-8EAA-467B-8727-0DC0B5A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方案比較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CABD31F-7C7E-4438-85DC-53066E7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規則先行，模型投資以實證決定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742B-397F-49E3-A159-B0DFA53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AI 價值先以影子模式驗證；每一階段都保留停止或轉向的選擇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8C0E-4354-4F96-8196-3D34448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F8CCF-1F37-4D65-AB85-63970816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04455-3C6A-4962-92D8-FBC25D7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9E5D2-D946-4F94-AEC1-0C0495B9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1BE6D-DCDA-474E-8AE0-D149742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71885-6393-4C28-AD60-31EEDAA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A57DF-C4C9-4CBC-A186-E6EF819E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加人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C5326-851F-49FD-9FA4-181312EE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226FE-65B0-4D9A-B202-7B1F4A26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171A7-EBC3-4435-A81C-C855360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覆蓋全客戶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需 17–24 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5F1FC-F918-401F-90E9-15E5877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7031C-0E48-4FB5-BC78-D7610D6B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EEC96-1767-4ADC-B6D2-F3B1E90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線性常態支出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05E35-CA8F-4778-A79A-DBBFAE16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3B935-C3BA-4410-9FF1-7C910207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低｜編制留下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1CF60-0940-4FEC-8236-78EA4F6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2162F-8D67-4E57-A296-01CFD9D1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01B7D-6D42-4BD5-A43F-898A4163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rPr>
              <a:t>調班＋尖峰池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4E28F-25D2-4AFA-9F39-C2203D87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B3C24-A9E2-47C4-B9C1-3E93D801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166E3-76EA-43D7-B77F-9F1AD2D5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只動等待／排隊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0–1 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D8084-AA3A-45F6-80F6-132FC6D3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B7FC75-86DB-4A7D-BAB0-5308A57E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9E64B-7331-40D3-8A61-7FD0E408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線性｜削峰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DA19C-96C0-49D4-94B7-BD9D1F65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9CB44-FCFA-4648-8513-B91217B5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rPr>
              <a:t>高｜首階段可轉向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B6042-FC56-482D-B621-17583056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3B38AE-DE62-4C9A-940A-DCE980D7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FE6B76-2025-44CD-A1BE-5BE33A23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規則式脈絡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944D5-616D-4D13-86CE-0AB3C645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9B81CA-D74E-48A7-B2CA-9B6FBB76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E88113-7686-4523-B0CA-95506A41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103 / 124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同一可解根因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F3439-F072-4670-BD3E-874CAD2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7F0B4A-3D58-4E4A-AEC5-E6DAE22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AFCC5D-0544-4B42-BDE0-3703FDF7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一次性下移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0BDE1F-28EF-4DF3-89E2-5DAE1BB1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BF3D0-E437-4027-B9A0-3A7FD756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高｜逐條回退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66F202-2517-4EB8-BF1B-D921E484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7E0398-5F29-4883-8015-68C42A7A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03BDB3-1BDC-4FFD-B8FD-E756EF93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地端視覺 AI 試驗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AC8741-BEC2-4440-92B7-536BE857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DB6812-99CC-429A-B2AB-640FF103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3CE3B4-C0B5-4BE5-BF62-D564262B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六週定義門檻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試驗期外部影響 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5D18C5-5503-4E14-863C-C4E6423C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A726E8-539C-43BF-A839-9B0DDD99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F8684C-A7A8-43B8-B497-22DBED29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次線性潛力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875841-584A-4B38-ABC2-26D8CD4E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FBB178-1397-4CA9-9287-E4CA1C52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中高｜分階段決策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2FFA02-2647-4615-B6A9-E2293CA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52F9CC-0E5F-473B-A85E-96476755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現在不選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E57FE3-C94C-4B61-87F8-0427DE89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推薦組合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C4B5F2-56DB-45A9-8780-A5AFECE4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506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01AE52-E9BD-4E41-929A-10F6AF6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加人只作成本對照；調班保留為早期替代方案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D1EB4B-EAE9-40CB-9B73-E82C214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53025"/>
            <a:ext cx="506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BFFD70-FAD6-480A-9994-26381F5A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規則基線立即啟動｜視覺 AI 僅進入同步驗證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9C9F3A-C7EA-466B-8F3E-79FCA8E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沿用既有兩階段推論與自有脈絡資料</a:t>
            </a:r>
          </a:p>
        </p:txBody>
      </p:sp>
    </p:spTree>
    <p:extLst>
      <p:ext uri="{BB962C8B-B14F-4D97-AF65-F5344CB8AC3E}">
        <p14:creationId xmlns:p14="http://schemas.microsoft.com/office/powerpoint/2010/main" val="1150606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C94CBE-21FF-4EEE-BF8D-2EDE5D6F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風險治理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B77469D-8AB2-4501-BB3A-F0E530E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六項關鍵風險均有責任人、緩解措施與停止訊號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EE199-1797-4704-B270-F11B405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法律地位仍待確認；漏放與錯誤歸責是自動結案新增的核心風險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6E274-7792-41E9-9E12-8D44AA8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13DB-FAFF-4D7F-B99B-934587E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8C661-DBDD-49A0-9086-B04ACCBD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E84CF-EF20-45A0-8190-E892807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61366-A5DC-4B40-BD0D-602A55B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86519-62D8-4D1B-BB94-534F3E63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79ECA-9F32-4878-B820-AE293F0D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可管理風險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CDF76-FDF9-4207-ABC2-9F676DDA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建立基準、責任與監控後，可在試驗期內處理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C1978-0B91-487A-B2E4-87A23FD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70AB7-5790-43B7-AE09-2C41A04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緩解與當責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C6922-7A3F-4850-B073-D9F0071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失效／停止訊號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4827F-9063-43B8-B42E-FBE3EA59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判準不一致／資料級聯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07EF7-CEE2-4082-838B-67B3CAD2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33650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黃金題＋抽樣雙人複核｜數據負責人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B32D5-67B9-4519-AEFD-EABF056B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336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根因占比偏離基準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724C8-2CBD-4C6B-BD96-9B8D53B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F3C46-88CF-4022-BE7A-733AB729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自動化偏差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D733A-F94F-42B9-B082-AAE01EF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14650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不顯示模型信心＋盲測｜業務負責人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7D11C-A76B-45D5-84F4-CD968F01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146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盲測組與對照組差異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842DE-F394-4B70-AF9C-A16A3936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8E23A-E70D-47F2-A40C-9220A25B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管理層支持不足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BAB8F-B71F-4E8D-843C-02CB144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指定贊助人＋階段審查出席｜專案贊助人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20396-1E22-4E14-A63B-F4D71AD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956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連續兩次無高階出席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40964-8840-4D9D-B491-F50F0ADA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85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3D04B-73DF-4C6A-8CDB-8CFFA7B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857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85FA08-410E-4052-A65B-CE4CE744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需停止或獨立審查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B24ED-F53B-4018-B304-159BAA71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6240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法律地位尚未釐清；自動結案也會新增兩種外部風險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7DE92-A290-4F27-B08F-67B9C76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F54987-8BA8-4965-B9D1-DA26278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95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緩解與當責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267113-63A5-42FC-B0E7-95F4F82F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9577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失效／停止訊號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C397DA-76FB-4BB6-9493-4B5719C8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既有誤報的法律地位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DA4AD-7D2A-4A78-B6E6-521062B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試驗啟動前取得法務書面意見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396DA1-3480-4FED-9C7A-BBAAA11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434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目前尚無可執行緩解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740F30-AE7E-4B52-9393-11324A7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8A658-5DD9-476A-9D54-00CF7361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自動結案造成漏放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80518E-4F04-4866-890C-B00EF74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24425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六個月同步測試＋核定安全紅線類別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22D8AB-E9CC-4CFC-BB79-65CBCD5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244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漏濾率差值 95% 信賴區間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B5575B-E4C2-4BFC-A407-67CFF70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5A7793-B30B-4843-86D0-18B9F663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自動結案造成錯誤歸責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56D16B-AFA5-4C4D-8FE7-061E408B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05425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申訴強制轉人工，且不用同一模型複判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3D6286-4895-49DC-9971-E1BB97F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054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申訴率與翻案率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AC0688-C156-4930-85FB-2DFFC6C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任何自動結案功能都須通過移交後的獨立部署審查。</a:t>
            </a:r>
          </a:p>
        </p:txBody>
      </p:sp>
    </p:spTree>
    <p:extLst>
      <p:ext uri="{BB962C8B-B14F-4D97-AF65-F5344CB8AC3E}">
        <p14:creationId xmlns:p14="http://schemas.microsoft.com/office/powerpoint/2010/main" val="136233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CD088E2-0F1E-46E1-96F6-73E284FB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負責任 AI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6C47EC8-9A9E-4732-8C20-FC764D3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影子期保留 100% 人工覆核；營運期仍有七項倫理缺口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3A849-166B-401D-8A25-50519254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只有通過獨立部署審查，最多約 850 / 1,000 筆爭議才可能不再人工覆核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E4C93-1911-4397-A49D-C7DA2A2B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E3169-F465-445B-ACDB-F9686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D7098-3E51-4677-88FB-22FCAE5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A6EC1-5C0B-407D-A10A-9451A854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8F6E4-349B-4A62-929D-C5C9933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澳洲 AI 倫理八原則（2019）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9E47F-D960-482A-A57A-B28BDCB7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295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E4F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7E4F5-2953-4F88-AA26-B778A09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六個月試驗｜影子模式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93051-331D-4494-A1DC-84EC226F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100% 人工驗證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6598D-2BA0-41B6-AB37-39D7D6BE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3486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4E6A7-ABD9-4B80-ABDF-85DDF70B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營運期｜若通過獨立審查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46586-F814-4AE6-A490-8AC0265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907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最多 850 / 1,000 無人看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30F94-FA78-4BCD-AEC4-D6CA28D1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CA142-4032-48D6-882A-516E553A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61766-806D-44E9-A9FF-0458822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3ED98-DD24-4D6D-90C2-BA0A7D91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人類、社會與環境福祉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F18FA-6875-4040-95C0-9529D30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5193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DEB68-7FB4-4B01-9028-9982435E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同人力承接更高量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261FB-04C7-4D08-8A13-223141D3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5193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03ADB-E7F1-42B3-BD46-F57DBF7F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約 850 / 1,000 無人看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4EE0D-DEF6-4771-B87F-2934E3F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0B456-D426-488F-AA61-CEDC8F63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B99C7-4133-467A-BC36-ADE0F1B7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AF7E1-64D6-451B-BAE2-CCB850C0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以人為本的價值觀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ADE57-E9B0-4B09-82BE-39A8D7B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957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EFFD7-B91C-48F4-9103-E88FF3C2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人仍逐筆判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34E30-FD9A-45DF-801C-4AC5BDDA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957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5CBEF4-257B-41DD-81F8-81052C1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機器做終局判定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99157F-7C7F-4A37-ADEF-5DEF2FC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4D18C-AA0D-4E00-AA96-486B0BEB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76BFB-51D9-4842-90BB-C63615F0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6B6B81-275F-47AE-9DD9-B036C663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FBB8E5-4C2E-41C5-8B3B-FCF797E1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公平性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618BE-6660-4DD8-8ACE-1919293E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A8E997-1F07-41E3-B7C8-EB2B3D8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配給制未解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3ED23E-40B2-45D7-A201-22C2529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C2742E-FC4E-4238-A450-6428F90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改由機器信心配給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AD5A86-E772-492B-9DF4-71E8C3D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C9FD9B-0A95-46A0-942B-FEF0E00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A8361F-5409-429A-88FF-1B72933C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1DA4D8-4C30-422E-A9FC-199B1A4A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隱私保護與安全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DDA2D4-3576-404A-991F-EE97FA00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3833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57DC34-6192-4B37-9581-A3307B14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擴大影像調閱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616737-626B-4200-A318-514A561D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3833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B7DE65-52B1-46DC-81A8-B46B335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不因自動結案額外惡化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5DCC52-572D-4662-AECC-66267CD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05674C-92A4-495B-AD8E-E1E5715E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F25A44-FF3B-461C-983B-B514B3A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B128AA-3F6A-4D4A-B1DD-860D1DEF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53A80B-8C82-4C8D-A439-CF53A320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可靠性與安全性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AFD865-0910-4F8A-8B6D-7DDE66C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42719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555DEB-21E9-4A11-B0BE-4C951DC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9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漏放率基準尚缺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A60789-CD90-4AB7-8787-FFCF3D4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42719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780C75-2BDA-4863-85C6-F5FA5958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尚無部署證據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26ACEE-7CB1-4C56-A2D4-9B700B4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7B2BF0-DDD4-4367-8ADD-D457FCC1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BB073F-78F1-4E11-A742-FB9672F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27DF6B-AEDE-42F4-9B22-ED45647E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透明性與解釋性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40A99C-6667-43E6-9AFD-BEFD0769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47101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43926E-76C4-4E7C-939E-03AD1DF0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只記錄、只比對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E16B3D-8242-45D2-94DC-312A2765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47101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99525E-6E90-4675-AE66-D9A0E902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客戶揭露層級未定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F6642C-D82F-4D46-9DEB-57B12D0E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E9C50B-F4A9-4A50-97F9-CD8A365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75B063-9BE2-4A43-8B4D-8E4719EE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8BC99D-0265-4987-BC82-50C6A7C6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038D45-568F-4EC9-902F-8D843135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68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可申訴性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107AF6-0008-409E-AB61-69B9188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51482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5E7323-6304-4B61-8FFA-017C7408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67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駕駛本人無管道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51CD7F-075C-4773-8A3F-FB51345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51482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99FF3E-6075-4055-A6EF-A8658264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部署否決條件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652236F-EE76-4560-B6D4-C9B3F0FD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7B3059-1CD3-4D15-BE13-2D43EAE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AE1283-47F1-4FB4-9E45-2B6413F0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96A52A-3524-4A7F-9354-0F1400A6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問責性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CA1895-6BCD-4627-B2EE-35EFF6F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5586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0D2BC5-B14D-487E-BEF3-E98DC63C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責任矩陣與三道階段審查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42260F-B1C6-40A2-A51C-E27B4FD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5586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3CE521-1106-43A5-8F40-E52E8BFE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054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單案無人簽名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5CCAB5-A473-4226-B20F-E68A2311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57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ED3191-D1E0-45C1-94AC-0BEE7080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38850"/>
            <a:ext cx="1032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獨立審查未通過前，任何 AI 結案判定都不得影響客戶或駕駛</a:t>
            </a:r>
          </a:p>
        </p:txBody>
      </p:sp>
    </p:spTree>
    <p:extLst>
      <p:ext uri="{BB962C8B-B14F-4D97-AF65-F5344CB8AC3E}">
        <p14:creationId xmlns:p14="http://schemas.microsoft.com/office/powerpoint/2010/main" val="687335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E16F4F-4A30-443E-9600-B9A68BF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成效衡量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2A7B1FB-3C05-4220-B4E5-25DB527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成功是兩天內回覆，同時守住四條不可妥協的護欄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6A07A-9E8C-420C-A01C-6AB2074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任何安全或治理護欄未達標，即停止部署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EB0F9-B83B-4FAA-A1D4-D0C7BFB9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A80EB-D315-4113-A5BF-188D2762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39086-02B2-4ADC-BCBC-FD036C08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BF9A5-F37F-4A28-AD57-67788A57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C8E16-6CF5-4A70-948A-0426D3C5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B917F-ABE4-4524-A35B-CDCAF52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D7B3B-B424-4C94-95F8-1B6FF7F0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 2 天內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4914F-A33B-4CEC-AC88-F747230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336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A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DCEAF4"/>
                </a:solidFill>
                <a:latin typeface="Microsoft JhengHei"/>
                <a:ea typeface="Microsoft JhengHei"/>
                <a:cs typeface="Microsoft JhengHei"/>
              </a:rPr>
              <a:t>主要業務價值指標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8C777-EC9B-4324-B400-48873A2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622D8-A2D5-4616-95AD-A77A484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78A03-91DF-415A-92F4-F47960CA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試驗期人工驗證涵蓋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DB37A-4976-4151-913F-736B80F8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90634-9B4D-4C5A-A53A-837DC36B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13,000+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57799-145A-4CE3-87AE-151612D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事件／日目標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D3302-E86B-4DA3-8CF2-F76F15D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AB3F7-91ED-4C6C-9440-F90967A8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NT$520–1,521萬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FBE59-DC79-4987-93A3-76B268F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可避免增聘／年｜移交後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16040-5F0C-448D-B328-0C3002C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營運驅動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21E0B-D5BB-4481-9A75-9945535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CCF00-6316-4E22-BB20-2818FE9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單位人工工時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846A9-67C4-4E21-A871-3319135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兩條工作流於第六週完成量測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1C760-E428-40BB-BF5B-5E64547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62804-6B6E-434B-896E-2EDB9A8C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駕駛輔助誤報率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795C60-5664-4395-B203-C3AD73A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10.1% 基準 → 評估後校準 &lt;7% 目標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05AB6-7635-4067-AF35-49B2128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C9ED7-3865-44B8-B3CC-A7D466B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尖峰研發人時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00CBC-638C-4AB5-B387-7E98A85C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試驗期建立基準；營運期目標歸零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59F63-ACA3-4143-A7A5-CBBEF5F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51503-13D9-40F8-8CF7-780E4FD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護欄層｜否決型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BA004-0581-413B-A3BB-78240EC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漏放率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2B3509-08B0-42F8-9D7C-317D99A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第六週提交 95% 信賴區間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96CF0-222E-4A90-8E78-64FDCFF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複核者一致性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6E8834-3C58-49F7-9E88-DE4460AA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未達門檻即停止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A7EE50-DC5C-4512-833C-3A3DB18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資料可追溯率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DA8FC-613E-4B5E-BD45-E884FF17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100%｜無中間值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84CD9C-9DDD-4B82-9303-33BF9E82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漏濾率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1FCFD5-69A0-4F71-A2CA-D8C04BA8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95% 信賴區間須低於預先容許差</a:t>
            </a:r>
          </a:p>
        </p:txBody>
      </p:sp>
    </p:spTree>
    <p:extLst>
      <p:ext uri="{BB962C8B-B14F-4D97-AF65-F5344CB8AC3E}">
        <p14:creationId xmlns:p14="http://schemas.microsoft.com/office/powerpoint/2010/main" val="682673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78E627-1D6B-4773-BFCB-57AB9FBD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實施路線圖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7A32B70-9360-41BF-A6A9-8CC8BB04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先量測、再試驗，最後才談部署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2643C-B11E-42A2-927D-9EEBD156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六個月依序建立基線、改善判準、比較四種處理方式；證據不足即可停止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FA8AD-4B93-422D-96A7-5BF14E5B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4CD84-546A-4E37-B178-AAAD15D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16B96-669F-4758-A6ED-97BE15CA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07AB0-4120-4F9D-9075-80304DE8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7E12E-2238-4C12-81CE-BC82CCB6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第 1–6 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8E931-82F9-4D13-9B7E-2BB0D493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第 7–12 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1F8BB-7AFB-47FF-98AF-B74F9458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第 13–24 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6B617-62D3-4B92-8D49-320B6043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240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營運移交後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E6137-790A-45E5-9C99-39BD4FF7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9B3BB-6300-4F3D-86CB-B481C0CC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BD541-AF98-4476-9C81-CE7EC07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CE1A6-1B43-4A4D-801D-7F07A8D8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評估基線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90BEE-F45C-4F25-8085-D404993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DF9B2-AD50-4F5F-AEB0-427961CE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凍結評估集・錯誤率・工時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518ED-1362-426C-BB23-67C4F22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判準品質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1AC1F-821D-4617-A69E-3262AB7B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FAA5D-29DA-4DBA-A1AA-E07CC37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黃金題・一致性・判準手冊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1F883-CD94-434B-9745-49E3D865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規則基線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2EE3B-B915-4DDC-93B0-19BD761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48025"/>
            <a:ext cx="3143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7A0D5-217D-40BB-80C6-96DCF1B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脈絡規則與可解釋對照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CA046-01EC-4D32-B592-99FFE66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營運流程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06C2B-5F55-4A85-AB87-28E0D9B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81425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E97B0-F379-4216-8173-148B8426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證據包・2 天內回覆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BA14B-972D-4609-A2DE-04A769F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地端視覺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353C0-BA1A-4EA3-966D-97F2B624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524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30CD9-EF0C-4B1C-B7D6-44593D1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離線試驗 → 同步測試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502CB-E34E-4C84-9C51-B00FE19C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治理移交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81DDB-3883-4D49-9CFB-F722A13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48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B7626B-0EFE-489B-8ECA-ABE481D8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儀表板・文件・責任移交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B8F323-24AD-4D15-952E-B9CF37B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325C5-B8AF-42FF-BC69-CD999E34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第 6 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2391C4-DAA6-4E26-8D48-88A5964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6959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門檻檢查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D6B38D-C732-4587-A049-CC067DF4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0D397-8C30-47F0-8EB0-ADA05F9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第 12 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E3E54-9FD3-40CC-A389-62F90D8F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6959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四種方案比較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A3C1B4-9FAD-4063-96DC-187E078D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A00D1B-A5B9-41E1-8A0B-7A39E898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第 24 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45440-7473-4C85-A1E5-0C6F5999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959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部署／停止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54554E-3548-42EE-AD87-26F54F38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381625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2D4E21-E954-422E-832E-3AA14184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67350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移交後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760236-CB4D-49C8-A103-AE58AEF6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95950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獨立審查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6A971D-40E2-4681-96E2-B9B6862B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四種方式比較：現行模型｜規則式脈絡｜人機協作｜影子模式</a:t>
            </a:r>
          </a:p>
        </p:txBody>
      </p:sp>
    </p:spTree>
    <p:extLst>
      <p:ext uri="{BB962C8B-B14F-4D97-AF65-F5344CB8AC3E}">
        <p14:creationId xmlns:p14="http://schemas.microsoft.com/office/powerpoint/2010/main" val="1879805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60D73-F6C1-4ACE-B226-AC0E9C2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投資建議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A020C1FD-C4B6-4CE4-B518-963EBF8B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建議先投入六週量測，不預先承諾部署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C7D04-723A-4868-B379-02A8F857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第一步需 4.85 人月；所有金額皆為量級估算，治理成本另行揭露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F9341-D47E-4234-9664-FE904600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F86B2-F594-494D-92BF-A28E949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AA34E-A10F-40E8-BFA2-F66BD4D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除另有註明，金額與容量為提案估算；試驗期內所有 AI 判定均由人工覆核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C6B41-5A69-4AA0-A21F-88A99B3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59169-9660-4B41-BC70-7DE072D5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006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80D36-0C63-40E1-A5F8-AFF1FD69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建議第一步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E1D86-2E92-4CAB-A82C-03118D43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六週評估｜4.85 人月＋跨部門贊助人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59BCB-9DE9-472D-A88B-F02B502B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5334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4E818-6940-4AFA-8426-A6E7D0D2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現階段不承諾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1DA55-2EED-4E9D-9ACC-50E27B28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模型部署｜對外自動結案｜完整預算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1FBB1-0B23-4FF5-A11F-5A342A9C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D253B-2CDD-4BA1-8977-A9B8C317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NT$158–177 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0B8DF-AB0B-4094-B7F4-A1B664A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六個月專案人力估算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07EB0-19FB-4228-8F88-692ADE37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FA981-29AD-4CCF-ACE5-5C30B927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NT$16–20 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20BEC-D813-43CD-8F65-25A6BFD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地端設備量級｜一台起步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E494B-BB0A-49D2-9196-309040B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52EA0-316D-45A4-A2A6-C34879FC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NT$50–118 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5FB7C-AD1B-4A78-93CC-F476E5ED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三年總持有成本｜同步測試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7A0EF-CD8B-4284-9F0D-E2010FD0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AB90C-E0AB-4D6D-A7DA-4E8ADDC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NT$173–1,219 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D569C-1345-453C-9034-3E64F33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三年總持有成本｜營運期含稽核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750FB-A93D-486D-BE4D-C0E9B2C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6762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87519-3BEF-4FDD-A052-0D8BAD15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若不改善流程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DB9CD-01E8-444D-A984-81FF653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估計需增聘 12–19 人｜NT$1,248–2,223 萬／年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DAECF-5574-4BEB-AAEE-A39EDD97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導入後仍須增聘 6–7 人｜可避免 5–13 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665D8-1196-480A-B8F4-6C080D4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可避免增聘：NT$520–1,521 萬／年｜移交後，不是六個月承諾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D499C4-DAB4-4BF4-8BE3-E0F5982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3562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BC7C37-1F61-4170-B30D-6BD85C48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必要治理成本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A19CA3-C89F-4B95-88A9-45732892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0.39–3.14 人力當量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BAE38-C599-4727-845E-90B2A8B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吃掉毛節省的 3%–52%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A4F062-6DFE-4142-94E3-D2986C0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0547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稽核、申訴重判、漂移調查齊備前，不宣稱節省額。</a:t>
            </a:r>
          </a:p>
        </p:txBody>
      </p:sp>
    </p:spTree>
    <p:extLst>
      <p:ext uri="{BB962C8B-B14F-4D97-AF65-F5344CB8AC3E}">
        <p14:creationId xmlns:p14="http://schemas.microsoft.com/office/powerpoint/2010/main" val="102484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4A7BDA-8B5F-407D-B72D-4D716FB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參考文獻｜治理、企業導入與人因風險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E47C1-40CF-41A5-AB3B-319BFF1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671B4-5C60-4E9E-84E7-1DCDC9E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APA 7｜完整 DOI / URL｜依引用順序編號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DFB99-CF96-4209-B1BB-297F6247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38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01–08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780B0-B912-42E3-B93D-0BCC8FF1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257A5-8891-455A-BCCF-1071B15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E7D98-DF7C-47E2-80B3-F4C19CF5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FAC06-C324-4786-B8DF-6198537D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Department of Industry, Science and Resources. (2019). Australia’s AI ethics principles. Australian Government. https://www.industry.gov.au/publications/australias-ai-ethics-principles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A2142-2F10-4BCC-8B0E-67680E06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88A6E-D77C-40FF-9E61-5712D97D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5DFEE-174F-44D3-9228-4BD2280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33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B984B-5382-4AE4-87E3-CA240D20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47975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IBM. (2020). AI maturity framework for enterprise applications [White paper]. IBM Corporation. https://www.ibm.com/downloads/cas/OB8M18WR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4E3B-6770-4804-A6B8-FDD3485A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FB979-E3DA-4891-BE5B-B66BCA94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F7039-8618-487A-9854-B4E3F63A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1477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AD607-A4CC-4E94-BCF9-A61AD6C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IBM. (n.d.). University Hospitals Coventry and Warwickshire (UHCW) NHS Trust: Patient-centered care from AI-centered efficiencies [Case study]. https://www.ibm.com/case-studies/uhcw-nhs-trust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5EA55-CD72-43B7-8218-F783410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42E56-F79B-44C4-9327-250B321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49D09-5CE5-4EC5-B4B9-58BBE896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958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01673-11C6-473E-9633-F4941CF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0125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Sambasivan, N., Kapania, S., Highfill, H., Akrong, D., Paritosh, P., &amp; Aroyo, L. M. (2021). “Everyone wants to do the model work, not the data work”: Data cascades in high-stakes AI. CHI ’21. https://doi.org/10.1145/3411764.3445518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169CD-8772-4F07-9948-2A93889E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673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87BF1-21E5-4A39-A044-AB63A87D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7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90031-6C50-4D09-9DA0-18F6B9A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3CBCC-6ABF-4C48-880C-AB05820F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66900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Parasuraman, R., &amp; Manzey, D. H. (2010). Complacency and bias in human use of automation. Human Factors, 52(3), 381–410. https://doi.org/10.1177/0018720810376055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BD60E-5F2B-4DD2-9E2D-C570356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24150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1A7D3-3F0E-4F4C-BBD1-250718D7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00164-D667-423F-9A1F-8841765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A604A-234C-4A79-AE5A-FDB162C3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47975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Goddard, K., Roudsari, A., &amp; Wyatt, J. C. (2012). Automation bias: A systematic review. JAMIA, 19(1), 121–127. https://doi.org/10.1136/amiajnl-2011-000089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2B650-7974-4A18-808F-6AE4084B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0522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63924-161C-4E8C-AB21-BA4B71B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AB2D6-A480-4AFD-A754-DE573579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1477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A44A2B-6D2C-496C-B9FA-290EF2A9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29050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Rudin, C. (2019). Stop explaining black box machine learning models for high stakes decisions and use interpretable models instead. Nature Machine Intelligence, 1(5), 206–215. https://doi.org/10.1038/s42256-019-0048-x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3A6D53-5CCA-4809-949A-C972E82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686300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36344-6DF0-4916-93D2-7B645689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B19FBF-EF13-4AD2-9B17-A9A7B486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E85F16-EC1B-4920-938F-6E9DE62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10125"/>
            <a:ext cx="4752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Sculley, D., Holt, G., Golovin, D., et al. (2015). Hidden technical debt in machine learning systems. NeurIPS 28, 2503–2511. https://proceedings.neurips.cc/paper/2015/hash/86df7dcfd896fcaf2674f757a2463eba-Abstract.html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05A59-31F5-41BB-881F-7D20C30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6673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62A29-60EB-456C-A301-FCC034C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F7EDF2-FB58-4F43-916F-2BF4266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7B973E-D728-4134-B850-DD38D61F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DCDBBC-6D48-4F84-AE45-A0F3EB5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參考文獻｜模型風險、權利與營運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8281B-6664-4C18-B883-42874024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20A41-BC41-47F9-9730-EF620940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APA 7｜完整 DOI / URL｜依引用順序編號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0D995-63DA-45CE-BDD0-6437CB0A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38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09–15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378E6-DE85-40DC-9598-A9D8D87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650EE-0464-4F70-B454-57342410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2E83F-C010-4C67-BAB9-9FB77BCC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E4C8B-B3A0-4100-99C0-183F4EBB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Ensign, D., Friedler, S. A., Neville, S., Scheidegger, C., &amp; Venkatasubramanian, S. (2018). Runaway feedback loops in predictive policing. PMLR, 81, 160–171. https://proceedings.mlr.press/v81/ensign18a.html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ADD75-5348-4018-8276-2E94793A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4D5B9-13BC-4056-8679-2C2A131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5BD6F-5B59-498A-8B2E-916E2860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EED7A-4D03-45CF-933B-1AF0FB4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Guo, C., Pleiss, G., Sun, Y., &amp; Weinberger, K. Q. (2017). On calibration of modern neural networks. PMLR, 70, 1321–1330. https://proceedings.mlr.press/v70/guo17a.html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590F1-03EC-4608-9898-4B70C82F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DF222-BA4E-470B-8C96-ED56FC61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AA374-B443-4293-82F8-4202CE3F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052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4FBA2-7F37-4F74-9E5C-CDA5BAA4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Northcutt, C. G., Athalye, A., &amp; Mueller, J. (2021). Pervasive label errors in test sets destabilize machine learning benchmarks. NeurIPS Datasets and Benchmarks. https://arxiv.org/abs/2103.14749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05B6F-C999-43B4-A93B-A9AC8B5C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23949-22DD-43A7-95AF-DD9AF5B1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ACB9B-DB92-47AE-B3C6-E12238F2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849A5-FBFB-457F-8EDD-A5E9C798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National Institute of Standards and Technology. (2023). Artificial intelligence risk management framework (AI RMF 1.0) (NIST AI 100-1). https://doi.org/10.6028/NIST.AI.100-1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F8B56-51E3-4B1F-A777-161EEFF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8300E-644B-4933-9714-8F21B42E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7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66A5A-5428-4D61-A9C7-18E4D60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5DC89-7189-4D5D-9786-CB1183F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669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Australian Human Rights Commission. (2020). Using artificial intelligence to make decisions: Addressing the problem of algorithmic bias [Technical paper]. https://humanrights.gov.au/sites/default/files/document/publication/ahrc_technical_paper_algorithmic_bias_2020.pdf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6809B-9C6E-4CD6-8222-F8BD6CFA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193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2278F-4336-4497-9CBA-2EFC2A90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E805D-F227-4667-85A3-D3319DC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28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B442B-EDE7-46BF-B5F0-3519F859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432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Press, G. (2016, March 23). Cleaning big data: Most time-consuming, least enjoyable data science task, survey says. Forbes. https://www.forbes.com/sites/gilpress/2016/03/23/data-preparation-most-time-consuming-least-enjoyable-data-science-task-survey-says/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16FDA-067B-4E58-B13C-D447478D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956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BF53F-D541-47EB-AFC1-D10B9F7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29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08C7B-F88C-4140-B3BA-E84B6CFA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052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93D65-82A8-4E48-AF9D-891EADFE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19500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Hopp, W. J., &amp; Spearman, M. L. (2011). Factory physics (3rd ed., chaps. 7–9). Waveland Press.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D712CF-D6C1-4465-B48B-29BC38D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71975"/>
            <a:ext cx="47529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940DA-3600-4554-B577-EE20469B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191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42F89-C80F-4FE9-8D0A-DDA8F7B4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819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文獻索引｜主題分布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3D6D3C-06E9-498C-9CF9-AD88A116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43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治理與企業導入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1FE200-7516-4E51-B189-60FA0C5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01–04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349288-9C05-4D1A-B809-C19FA113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72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人因、自動化與解釋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2C46F-5CDE-41E0-B7C7-3DE35BF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05–07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0FA85D-31D2-47C2-90BA-04089C2C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00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ML 風險、權利與營運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CDDD2C-41DE-4B2F-9CFB-6B16CD07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0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08–15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43F09D-53D1-4BDE-A9F8-3BCEDFBD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854CC3-1920-45BE-9FAA-3F99BDFB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6CD89E-83FC-4EFE-BFCF-C170D002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2026-08-13T15:48:50.9580000Z</dcterms:created>
  <dcterms:modified xsi:type="dcterms:W3CDTF">2026-08-13T15:48:50.9580000Z</dcterms:modified>
</coreProperties>
</file>