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2491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7750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【第 1 頁 · 開場 · 這個提案在講什麼】　目標 52 秒 · 累計 0:52</a:t>
            </a:r>
          </a:p>
          <a:p>
            <a:endParaRPr/>
          </a:p>
          <a:p>
            <a:r>
              <a:t>★ 光是一個車隊,五個人要看完三千支影片;而客戶要的答案,兩天內。</a:t>
            </a:r>
          </a:p>
          <a:p>
            <a:endParaRPr/>
          </a:p>
          <a:p>
            <a:r>
              <a:t>· 先對老師交代框架,再用一句話切進 pitch:「以下我用向公司技術委員會提案的方式呈現」</a:t>
            </a:r>
          </a:p>
          <a:p>
            <a:r>
              <a:t>· 生意:車機 Edge AI 初判 + Server AI 複判,兩次判定替駕駛守護安全</a:t>
            </a:r>
          </a:p>
          <a:p>
            <a:r>
              <a:t>· 一筆「事件」= 一次危險駕駛(影片 + 時間地點 + 分類);一次「爭議」= 客戶回頭說「這筆 AI 判錯了」,只能由人重看影片才判得出來</a:t>
            </a:r>
          </a:p>
          <a:p>
            <a:endParaRPr/>
          </a:p>
          <a:p>
            <a:r>
              <a:t># 單一大型車隊約 3,000 筆事件/天 · 部門僅 5 位專職分析人員</a:t>
            </a:r>
          </a:p>
          <a:p>
            <a:endParaRPr/>
          </a:p>
          <a:p>
            <a:r>
              <a:t>⚠️ ★ 那句話留到**最後**講 —— 先把『事件』與『爭議』鋪好,後面九頁全建立在這兩個詞上</a:t>
            </a:r>
          </a:p>
          <a:p>
            <a:r>
              <a:t>⚠️ 🚫 切換線之後就不要再對老師說話,全程對委員會講</a:t>
            </a:r>
          </a:p>
          <a:p>
            <a:r>
              <a:t>⚠️ 講完停 1 秒再換頁。這是全片唯一的鉤子,不要急著翻</a:t>
            </a:r>
          </a:p>
          <a:p>
            <a:endParaRPr/>
          </a:p>
          <a:p>
            <a:r>
              <a:t>→ 換下一頁</a:t>
            </a:r>
          </a:p>
          <a:p>
            <a:endParaRPr/>
          </a:p>
          <a:p>
            <a:r>
              <a:t>── 逐字備援 · 230 字(忘詞才看,不是拿來唸的)──</a:t>
            </a:r>
          </a:p>
          <a:p>
            <a:r>
              <a:t>老師好,我是黃柏凱。這次作業我用現職公司的真實案例做提案 —— 以下我用向公司技術委員會提案的方式呈現。我在一家做車隊行車影像 AI 的公司,負責 AI 影像分析事件應用。車隊在車機上用 Edge AI 做第一次判定,再由 Server AI 複判;這兩次判定替駕駛守護安全,也讓車隊管理隨時看得到事件內容。鏡頭偵測到一次危險駕駛,就記一筆「事件」:一段影片、時間地點,還有系統給的分類。客戶收到之後會回頭說「這筆 AI 判錯了」,那叫一次「爭議」——而爭議只能由人重看影片才判得出來。光是一個車隊,五個人要看完三千支影片;而客戶要的答案,兩天內。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【第 2 頁 · 自動化停在第二關 —— 剩下的全由 5 個人逐筆看】　目標 71 秒 · 累計 2:03</a:t>
            </a:r>
          </a:p>
          <a:p>
            <a:endParaRPr/>
          </a:p>
          <a:p>
            <a:r>
              <a:t>★ 一個車隊一天要 29.8 到 42.9 人時,而我們五個人一天只有 40 —— 上緣已經超過了。</a:t>
            </a:r>
          </a:p>
          <a:p>
            <a:endParaRPr/>
          </a:p>
          <a:p>
            <a:r>
              <a:t>· 前端 Edge AI → Server AI 兩段已經自動化,停在第三關</a:t>
            </a:r>
          </a:p>
          <a:p>
            <a:r>
              <a:t>· 第三關全部靠人:打開事件檔 → 看 AI 當時依什麼判 → 回信;分不出「客戶不熟判定規格」還是「畫面造成的真誤報」,就沒辦法回信</a:t>
            </a:r>
          </a:p>
          <a:p>
            <a:r>
              <a:t>· 我要自動化的是**離開畫面找證據**那一段,不是機器替人做決定</a:t>
            </a:r>
          </a:p>
          <a:p>
            <a:endParaRPr/>
          </a:p>
          <a:p>
            <a:r>
              <a:t># 3,000 筆 × 20 秒 = 16.7 人時 · 150–300 筆 × 5.25 分 = 13.1–26.2 人時</a:t>
            </a:r>
          </a:p>
          <a:p>
            <a:r>
              <a:t># 合計 29.8–42.9 人時/天　vs　產能 40 人時/天(5 人 × 8 小時)</a:t>
            </a:r>
          </a:p>
          <a:p>
            <a:endParaRPr/>
          </a:p>
          <a:p>
            <a:r>
              <a:t>⚠️ 20 秒要說「營運端的實務估計,尚未以計時量測驗證」;🚫 不可說「我們沒有量過」</a:t>
            </a:r>
          </a:p>
          <a:p>
            <a:r>
              <a:t>⚠️ 🚫 不可說「減少人力」「縮編」—— 第 11 頁寫的是「不做這件事,用現在的做法覆蓋全客戶要再請 12–19 人」,而「做了能少請幾個」第 16 週才算得出來。這一頁的主張是**同樣人力、更高產出**</a:t>
            </a:r>
          </a:p>
          <a:p>
            <a:r>
              <a:t>⚠️ 🚫 不可把「爭議」講成「誤報」—— 5.25 分算的是爭議(客戶回頭標記的 5–10%)</a:t>
            </a:r>
          </a:p>
          <a:p>
            <a:r>
              <a:t>⚠️ 2:8 一定要接「取整的概估,系統有欄位但沒人匯總過,W6 交正式分佈」</a:t>
            </a:r>
          </a:p>
          <a:p>
            <a:r>
              <a:t>⚠️ 🚫 **不可把 80% 跟第 4 頁的 83% 乘起來** —— 兩個都是估計、來自不同樣本,串起來就是把誤差乘上去。他若自己乘,就說那兩個母體不同</a:t>
            </a:r>
          </a:p>
          <a:p>
            <a:r>
              <a:t>⚠️ 他若追問「有紀錄為什麼不算」:欄位在,只是沒人匯總過 ——那是第一個工作包第一週就做得完的事</a:t>
            </a:r>
          </a:p>
          <a:p>
            <a:endParaRPr/>
          </a:p>
          <a:p>
            <a:r>
              <a:t>→ 換下一頁</a:t>
            </a:r>
          </a:p>
          <a:p>
            <a:endParaRPr/>
          </a:p>
          <a:p>
            <a:r>
              <a:t>── 逐字備援 · 314 字(忘詞才看,不是拿來唸的)──</a:t>
            </a:r>
          </a:p>
          <a:p>
            <a:r>
              <a:t>誠如各位在圖上看到的,前端 Edge AI 跟 Server AI 這兩段已經自動化,停在第三關。客戶回頭說「這筆 AI 判錯了」,那一段全部靠人 ——而它慢的原因不是人不夠快,是證據不在畫面裡。分析人員得打開事件檔,看 AI 當下是依什麼判的,才分得出這是哪一種爭議:是客戶不熟我們的判定規格、其實 AI 判對了;還是畫面造成的真誤報。營運端從處理紀錄看大約二比八,但那是取整的概估,系統有欄位沒人匯總過,第六週交。在打開來看之前,這兩種長得一模一樣。各位看下面這個算式:三千筆全部看過一次,再加上一到三百筆深看第二次 ——加起來二十九點八到四十二點九人時,而我們五個人一天總共四十人時。上緣已經超過了,而這只是一個客戶。所以我提的是一套地端 AI 事件判讀,把畫面外的脈絡讀進來,讓同樣這五個人,在客戶要的兩天內交得出答案。</a:t>
            </a:r>
          </a:p>
          <a:p>
            <a:endParaRPr/>
          </a:p>
          <a:p>
            <a:r>
              <a:t>── 備查(不唸,答辯用)──</a:t>
            </a:r>
          </a:p>
          <a:p>
            <a:r>
              <a:t>【這一頁的作用】委員會裡不是每個人都懂這條產線,聽不懂就不會核准。這頁先用兩張卡把「已自動化 / 沒自動化」切成二元對比,並當場定義什麼是一個事件、什麼是一次爭議、那 5 個人具體在做什麼;再用「合計 29.8–42.9 人時對上產能 40 人時」把痛點釘死在「證據不在畫面裡」—— 那正是本案要建的能力的靶心。成因與解法印在同一頁,委員會才知道我們要買的不是產能,是把畫面外的脈絡讀進來的能力。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【第 3 頁 · 最花時間的兩段佔五成到八成八】　目標 59 秒 · 累計 3:02</a:t>
            </a:r>
          </a:p>
          <a:p>
            <a:endParaRPr/>
          </a:p>
          <a:p>
            <a:r>
              <a:t>★ 人的時間從「找證據」換成「下判斷」—— 而找證據那兩段佔全程五成到八成八。</a:t>
            </a:r>
          </a:p>
          <a:p>
            <a:endParaRPr/>
          </a:p>
          <a:p>
            <a:r>
              <a:t>· 導入什麼:自動證據包 —— 機器讀 影片 + 客戶問題 + 規則,產出可讀描述並標出引用的證據在第幾秒</a:t>
            </a:r>
          </a:p>
          <a:p>
            <a:r>
              <a:t>· 怎麼導入:爭議回覆自動化,第 8–16 週,所有案件都適用;人仍逐筆判,機器不做結案</a:t>
            </a:r>
          </a:p>
          <a:p>
            <a:r>
              <a:t>· 非 AI 段只佔 12.5%–50%;排隊那 0–1 天是排班的事,不在本案範圍</a:t>
            </a:r>
          </a:p>
          <a:p>
            <a:endParaRPr/>
          </a:p>
          <a:p>
            <a:r>
              <a:t># 合計 2.0–5.0 天 · AI 可處理段 1.5–3.5 天 = 50%–87.5%</a:t>
            </a:r>
          </a:p>
          <a:p>
            <a:r>
              <a:t># 爭議回覆 2–5 天 → 目標 2 天內〔提案目標,未簽協議〕W16 後量測</a:t>
            </a:r>
          </a:p>
          <a:p>
            <a:endParaRPr/>
          </a:p>
          <a:p>
            <a:r>
              <a:t>⚠️ ⚠️ 內部覆核與回信各 0.25 天,是比營運端原口述(各 0.5 天)**收緊過**的值;收緊後合計 2.0–5.0 天、頭條 50%–87.5%(用 0.5/0.5 算是 43%–78%)。🚫 不可說「這下跟第 9 頁一致了」—— 第 9 頁那條自己也標著「估計,非量測」,兩者本來就同一個營運來源,**不算互相驗證**;正式量測前六週交</a:t>
            </a:r>
          </a:p>
          <a:p>
            <a:r>
              <a:t>⚠️ 🔑 他若問「87.5% 是不是機器接手判讀」:不是 —— 那是**可被壓縮的時間上限**,機器只壓縮查證據那部分,結論仍一筆一筆由人下;若完全不碰判讀、只算撈數據那 0.5 天,對應區間是 10%–25%</a:t>
            </a:r>
          </a:p>
          <a:p>
            <a:r>
              <a:t>⚠️ 改善**一半**來自證據包自動化、**一半**來自誤報量下降 —— 不可全掛在證據包上</a:t>
            </a:r>
          </a:p>
          <a:p>
            <a:r>
              <a:t>⚠️ 🚫 不可說機器替人判 —— 機器交的是證據包,判的還是人</a:t>
            </a:r>
          </a:p>
          <a:p>
            <a:endParaRPr/>
          </a:p>
          <a:p>
            <a:r>
              <a:t>→ 換下一頁</a:t>
            </a:r>
          </a:p>
          <a:p>
            <a:endParaRPr/>
          </a:p>
          <a:p>
            <a:r>
              <a:t>── 逐字備援 · 261 字(忘詞才看,不是拿來唸的)──</a:t>
            </a:r>
          </a:p>
          <a:p>
            <a:r>
              <a:t>各位看這條時間軸。一件爭議走完兩天到五天,而最花時間的是中間這兩段 —— 撈數據跟判讀,佔全程五成到八成八。慢的原因是同一個:模型看不到畫面外的東西。速限多少、那面牌是什麼,人得自己離開畫面去查。所以我要導入的是爭議回覆自動化,第八到十六週:機器把影片、客戶問題、規則一起讀進來,做完分析給出事實結果,並標出它引用到的證據在第幾秒;人工最後審閱,並給出內部覆核。這對所有案件都成立,不是只做其中一部分。導入之後,爭議回覆從兩到五天縮短到目標兩天內 ——一半來自證據包自動化,一半來自誤報量下降。而真正的差別在最下面那一句:人的時間從「找證據」換成「下判斷」。找證據機器做得比人快,下判斷只有人能做。</a:t>
            </a:r>
          </a:p>
          <a:p>
            <a:endParaRPr/>
          </a:p>
          <a:p>
            <a:r>
              <a:t>── 備查(不唸,答辯用)──</a:t>
            </a:r>
          </a:p>
          <a:p>
            <a:r>
              <a:t>【這一頁的作用】這頁回答委員會最會問的兩題:為什麼是現在、為什麼是 AI 而不是加人。五段天數必須印出來,委員會才親眼看到 50%–87.5% 落在模型碰得到的那兩段;而那條因果句(兩段慢的原因是同一個技術缺陷)把整頁從營運圖表升級成 AI 立案 —— 沒有它,這只證明「有件事很花時間」。同一頁又自己標明證據等級(營運端估計,非量測)並給出反向出口(推翻就轉排班),把核准變成一個低風險決定。而「排隊只有 0–1 天」那一格先把「加人或排班就解得掉」的反問堵掉:真正的延遲落在模型碰得到的那兩段,不在隊列上。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【第 4 頁 · AI 現在判錯的兩個原因】　目標 75 秒 · 累計 4:17</a:t>
            </a:r>
          </a:p>
          <a:p>
            <a:endParaRPr/>
          </a:p>
          <a:p>
            <a:r>
              <a:t>★ 八成三的誤報錯在同一件事:答案不在畫面裡 —— 而那份資料公司手上就有。</a:t>
            </a:r>
          </a:p>
          <a:p>
            <a:endParaRPr/>
          </a:p>
          <a:p>
            <a:r>
              <a:t>· 誤報分兩種:假判錯(客戶不懂判定邏輯,機器其實判對)與真判錯 —— 兩條產品線都有</a:t>
            </a:r>
          </a:p>
          <a:p>
            <a:r>
              <a:t>· 片上數值已從樣本(4 台 · 23 工作天 · 1,647 筆)放大到一個 30 台的小車隊</a:t>
            </a:r>
          </a:p>
          <a:p>
            <a:r>
              <a:t>· 真判錯又分兩類:**畫面外**(速限讀不到 → 地圖資料補得上)與**畫面裡**(陰影光影、物體誤判 → 要更強的視覺模型);DMS 還多一條:判準不一致的標籤餵進去,訓練資料本身就是髒的</a:t>
            </a:r>
          </a:p>
          <a:p>
            <a:endParaRPr/>
          </a:p>
          <a:p>
            <a:r>
              <a:t># ADAS 7,718 筆/月 → 誤報 780(10.1%) · DMS 4,635 筆/月 → 誤報 150(3.2%)</a:t>
            </a:r>
          </a:p>
          <a:p>
            <a:r>
              <a:t># 全部誤報 930 筆/月 · 同根因 772 筆/月 = 83% · 月事件 12,352 筆、每天 537 筆</a:t>
            </a:r>
          </a:p>
          <a:p>
            <a:r>
              <a:t># 放大倍數 7.5(4 台 → 30 台);每台車每工作日 17.9 筆</a:t>
            </a:r>
          </a:p>
          <a:p>
            <a:endParaRPr/>
          </a:p>
          <a:p>
            <a:r>
              <a:t>⚠️ 必講「比例僅在此樣本內成立」—— 這句是這一頁所有數字的合法性來源</a:t>
            </a:r>
          </a:p>
          <a:p>
            <a:r>
              <a:t>⚠️ 放大列一定要接「同比例外推,W1–6 驗」——4 台車的錯誤樣態能不能代表 30 台,正是第六週要量的第一件事</a:t>
            </a:r>
          </a:p>
          <a:p>
            <a:r>
              <a:t>⚠️ 🚫 不可把 83% 跟第 2 頁的 2:8 相乘 —— 不同樣本、都是估計</a:t>
            </a:r>
          </a:p>
          <a:p>
            <a:r>
              <a:t>⚠️ 🔴 漏報(該報沒報)這一列已從片上拿掉(第 8 頁第 5 列已經寫過,片上重複)。他若問「那漏報呢」:發生在 Edge AI 端、**沒有事件紀錄**,只有客戶回報才知道,本案碰不到,要靠前端重訓 —— 這一條第 8 頁第 5 列印著「本案碰不到 → 不變」</a:t>
            </a:r>
          </a:p>
          <a:p>
            <a:r>
              <a:t>⚠️ ⚠️ 這一頁的車隊是 **30 台的小車隊**,跟第 2、5 頁的 3,000 筆/天 大型車隊不是同一個 ——表頭已寫明,講的時候也要說「一個 30 台的小車隊」,不要讓人以為是同一個客戶</a:t>
            </a:r>
          </a:p>
          <a:p>
            <a:endParaRPr/>
          </a:p>
          <a:p>
            <a:r>
              <a:t>→ 換下一頁</a:t>
            </a:r>
          </a:p>
          <a:p>
            <a:endParaRPr/>
          </a:p>
          <a:p>
            <a:r>
              <a:t>── 逐字備援 · 329 字(忘詞才看,不是拿來唸的)──</a:t>
            </a:r>
          </a:p>
          <a:p>
            <a:r>
              <a:t>那機器現在到底判錯在哪裡?這張表把兩條產品線的誤報拆開。先講假判錯:客戶不懂我們的判定邏輯,其實機器判對了 —— 兩邊都有。真判錯才是要修的:行車輔助是速限數值錯判、車前陰影光影、前車物體錯判;駕駛監控是駕駛行為因光線被誤判、還有物件誤判。這些指向不一樣的修法。速限被錯判是**畫面外**的問題 ——那面牌讀不出來,但地圖上有,把它讀進模型就補得上。光影跟物體誤判是**畫面裡**的問題,那要靠更強的視覺模型。駕駛監控還多一件事:判準不一致的標籤直接餵進去,訓練資料本身就是髒的,所以標註品質那一包排在模型前面,不是保守,是必要。合起來一個月九百三十筆誤報,其中七百七十二筆是同一個根因:交通標誌辨識,八成三。也就是說,八成三的誤報錯在同一件事 —— 答案不在畫面裡。那面牌模型讀不到,可是速限資料公司手上就有。這就是下一頁那兩台要做的事:把畫面外的資料讀進來。</a:t>
            </a:r>
          </a:p>
          <a:p>
            <a:endParaRPr/>
          </a:p>
          <a:p>
            <a:r>
              <a:t>── 備查(不唸,答辯用)──</a:t>
            </a:r>
          </a:p>
          <a:p>
            <a:r>
              <a:t>【這一頁的作用】這頁的任務只有一個:量出「畫面外」到底有多大,把第 3 頁的因果句變成一個數字。第 3 頁說慢是因為證據不在畫面裡;這頁把一個真實車隊一個月的誤報拆開,指出八成三錯在同一件事 —— 答案不在畫面裡(那面速限牌模型讀不到,而那份資料公司手上就有);第 5 頁才有資格說要買兩台把畫面外的資料讀進來。三頁是同一條因果鏈。🔴 這頁**不是**在主張重訓偵測模型 —— 那是另一個案子;說成「這就是新 AI 要針對訓練的」會讓整頁跟本案脫鉤(Kenny 2026-08-16 指出)。誤報也先拆成假判錯(客戶不懂判定邏輯、機器其實判對)與真判錯,因為只有後者才是模型要修的,而前者正是證據包要解的。母體與證據等級全部自己標出來:一個 30 台的小車隊、每月 23 個工作天、由 4 台車 1,647 筆同比例放大,而比例能不能代表 30 台第 1–6 週驗。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【第 5 頁 · 選型與部署:兩層模型、兩台設備】　目標 66 秒 · 累計 5:24</a:t>
            </a:r>
          </a:p>
          <a:p>
            <a:endParaRPr/>
          </a:p>
          <a:p>
            <a:r>
              <a:t>★ 兩台設備、兩層模型各自常駐 —— 同一個車隊,人的產能已經滿了,機器各只用掉一到二成。</a:t>
            </a:r>
          </a:p>
          <a:p>
            <a:endParaRPr/>
          </a:p>
          <a:p>
            <a:r>
              <a:t>· ① 篩檢台 Qwen3.5 122B-A10B(4-bit,MoE 活化 10B):不讀小字,只決定要不要深看</a:t>
            </a:r>
          </a:p>
          <a:p>
            <a:r>
              <a:t>· ② 深挖台 Qwen2.5-VL 72B(8-bit):讀交通標誌,只跑爭議那 5–10%</a:t>
            </a:r>
          </a:p>
          <a:p>
            <a:r>
              <a:t>· 為什麼兩台:兩個模型各約 75 GB,一台 128 GB 得輪流載入;兩台各自常駐,不用換載</a:t>
            </a:r>
          </a:p>
          <a:p>
            <a:endParaRPr/>
          </a:p>
          <a:p>
            <a:r>
              <a:t># DGX Spark × 2 · 各 128 GB · 273 GB/s · 合計 A$14,200–17,700</a:t>
            </a:r>
          </a:p>
          <a:p>
            <a:r>
              <a:t># 篩檢 3.4 秒/筆 × 3,000 = 2.8 小時 · 深挖 62 秒/筆 × 150–300 = 2.6–5.1 小時</a:t>
            </a:r>
          </a:p>
          <a:p>
            <a:r>
              <a:t># 一個車隊:篩檢台佔 12%、深挖台佔 11%–21% · 全客戶 13,000 筆:51% 與 46%–93%</a:t>
            </a:r>
          </a:p>
          <a:p>
            <a:endParaRPr/>
          </a:p>
          <a:p>
            <a:r>
              <a:t>⚠️ 🚫 **不可說「8-bit 無損精度」** —— 8-bit 量化是有損的,只是損失小於 4-bit。評分者做 VLM,這句他會當場糾正</a:t>
            </a:r>
          </a:p>
          <a:p>
            <a:r>
              <a:t>⚠️ 所有秒數都要說「推算」—— 這些是我依公開實測頻寬算的,不是我們跑過的</a:t>
            </a:r>
          </a:p>
          <a:p>
            <a:r>
              <a:t>⚠️ 他若問「為什麼是 Qwen 不是別的」:開源、可地端、原生吃影片;而**選型本身也要在第 6 週那個檢查點,依前六週的量測再複核一次**</a:t>
            </a:r>
          </a:p>
          <a:p>
            <a:r>
              <a:t>⚠️ 他若問「4-bit 讀不讀得到小字」:讀不到 —— 所以那是深挖層的工作,篩檢層只做分流</a:t>
            </a:r>
          </a:p>
          <a:p>
            <a:r>
              <a:t>⚠️ 🔑 **設備第 6 週之後才買,不在第一段額度內** —— 今天要批的 A$18,700–20,900 本來就不含設備。台數不是變數:一台裝不下兩個模型,規劃就是兩台;第 6 週要複核的是選型與採購金額</a:t>
            </a:r>
          </a:p>
          <a:p>
            <a:r>
              <a:t>⚠️ 🚫 **不得寫成「用 A$1.4–1.8 萬取代數十萬的增聘」,也不得與設備價相減成 ROI** ——那是全片最堅持避開的話術;兩台仍只佔一個初階工程師年成本的 27%–38%</a:t>
            </a:r>
          </a:p>
          <a:p>
            <a:r>
              <a:t>⚠️ 他若問「為什麼一次買兩台不先買一台」:一台裝不下兩個模型(各約 75 GB),要輪流載入;兩台各自常駐</a:t>
            </a:r>
          </a:p>
          <a:p>
            <a:r>
              <a:t>⚠️ 🔴 **93% 要自己先說破**:全客戶 13,000 筆時深挖台佔用率下緣 46%、上緣 93% ——上緣那是**滿載**,不是成長空間,沒有尖峰餘裕也沒有維護視窗。第三台的觸發條件我寫成「深挖台日均佔用超過 70%」,第 6 週拿到量測後定</a:t>
            </a:r>
          </a:p>
          <a:p>
            <a:r>
              <a:t>⚠️ 🔴 他若問「瓶頸真的是頻寬嗎」:那句對的是**產出文字**那一段;**讀影片那一段吃的是算力**,我那 62 秒沒把它算進去,所以偏樂觀。實機量測第 6 週,而設備採購本來就排在第 6 週之後</a:t>
            </a:r>
          </a:p>
          <a:p>
            <a:r>
              <a:t>⚠️ 🔴 「各佔約 75 GB」只是**權重**,不含推論當下的快取;一段影片抽出來上萬個視覺 token,快取是十幾到數十 GB 的量級,而 128 GB 是 CPU/GPU 共用還要扣作業系統 —— 這也是實機才測得出來的</a:t>
            </a:r>
          </a:p>
          <a:p>
            <a:r>
              <a:t>⚠️ 🔴 他若問「篩檢台挑出來的跟客戶爭議是同一批嗎」:**不是**。爭議是客戶回頭標記才產生的,篩檢台預測不了客戶會標哪一筆;深挖台那 150–300 筆是爭議量(3,000 的 5–10%),不是篩檢台的輸出</a:t>
            </a:r>
          </a:p>
          <a:p>
            <a:r>
              <a:t>⚠️ 🔴 授權要分開講:兩顆條款不一樣,深挖台那顆走**通義千問自己的授權、不是 Apache 2.0**。🚫 不可說「它是開源的」—— 會被當場糾正。拿它的輸出訓練我們自己的模型這點已送法務</a:t>
            </a:r>
          </a:p>
          <a:p>
            <a:r>
              <a:t>⚠️ 🔴 他若問隱私:地端只解決「影像不出公司」,**不解決我在第 8 頁自己標紅的那條** ——內部調閱範圍與保存期限都會變大,而且地端沒有外部稽核。第一段就要交存取紀錄:誰、何時、調了哪一筆、為了哪件爭議,全量留檔可回溯</a:t>
            </a:r>
          </a:p>
          <a:p>
            <a:endParaRPr/>
          </a:p>
          <a:p>
            <a:r>
              <a:t>→ 換下一頁</a:t>
            </a:r>
          </a:p>
          <a:p>
            <a:endParaRPr/>
          </a:p>
          <a:p>
            <a:r>
              <a:t>── 逐字備援 · 292 字(忘詞才看,不是拿來唸的)──</a:t>
            </a:r>
          </a:p>
          <a:p>
            <a:r>
              <a:t>那要用什麼跑?兩個開源的視覺語言模型,都在地端,影像不外傳。第一台跑篩檢:它是 MoE,一百二十二 B 只活化十 B,算得快;它不讀小字,只做一件事 —— 決定這筆要不要深看。第二台跑深挖:讀得到交通標誌上的字,只處理客戶回頭爭議的那百分之五到十。為什麼是兩台不是一台?兩個模型各佔約七十五 G,而一台只有一百二十八 G ——一台就得輪流載入,兩台各自常駐,不用換載。設備是 NVIDIA DGX Spark,兩台合計約一萬四千二到一萬七千七澳幣;它的瓶頸不是算力,是記憶體頻寬,那決定吐字的速度。各位看最下面這一行:同一個車隊、同一天,人要二十九點八到四十二點九人時,而我們的產能只有四十;兩台機器各只用掉一到二成。而且擴到全客戶一萬三千筆,這兩台還撐得住 —— 再上去才需要第三台。</a:t>
            </a:r>
          </a:p>
          <a:p>
            <a:endParaRPr/>
          </a:p>
          <a:p>
            <a:r>
              <a:t>── 備查(不唸,答辯用)──</a:t>
            </a:r>
          </a:p>
          <a:p>
            <a:r>
              <a:t>【這一頁的作用】委員會看到「地端 AI」第一個問題是「跑不跑得動、要買什麼」。這頁把選型收斂成三個可查的事實:記憶體裝不裝得下(兩個模型各約 75 GB vs 一台 128 GB)、瓶頸在哪(273 GB/s 記憶體頻寬,不是算力)、佔用率多少(一個車隊各只用掉一到二成)。所有秒數都自標「推算」、選型本身也押在第 6 週依量測複核 —— 這頁要建立的是「我知道我在買什麼,也知道我還沒量過什麼」,而不是一份效能承諾。🔴 全客戶那格上緣 93% 是滿載,不是成長空間,答辯時要自己先說破。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【第 6 頁 · 三條路,同一個目標:5 天壓到 2 天】　目標 90 秒 · 累計 6:53</a:t>
            </a:r>
          </a:p>
          <a:p>
            <a:endParaRPr/>
          </a:p>
          <a:p>
            <a:r>
              <a:t>★ 調班只壓得到排隊那 0–1 天,而慢的五到八成八在撈數據跟判讀 —— 那一段只有 AI 壓得到。</a:t>
            </a:r>
          </a:p>
          <a:p>
            <a:endParaRPr/>
          </a:p>
          <a:p>
            <a:r>
              <a:t>· 三條路同一個目標:爭議回覆 5 天壓到 2 天</a:t>
            </a:r>
          </a:p>
          <a:p>
            <a:r>
              <a:t>· 加人:全段都快一點,但量幾倍人就幾倍(17–24 人),而且編制停不下來</a:t>
            </a:r>
          </a:p>
          <a:p>
            <a:r>
              <a:t>· 調班:只壓得到排隊那 0–1 天,而且是從研發挖人 —— 其他研發進度會往後推</a:t>
            </a:r>
          </a:p>
          <a:p>
            <a:r>
              <a:t>· 地端 AI:壓的是撈數據 + 判讀那 50–87.5%,前期投入一次,三個檢查點都能停</a:t>
            </a:r>
          </a:p>
          <a:p>
            <a:endParaRPr/>
          </a:p>
          <a:p>
            <a:r>
              <a:t># 一筆爭議 5.25 分鐘 · 全客戶一天 13,000 筆 = 129.1–185.9 人時 ÷ 8 小時 = 17–24 人</a:t>
            </a:r>
          </a:p>
          <a:p>
            <a:r>
              <a:t># 🔴 現有 5 人一天只有 40 人時 —— 一天進來的量要 3–5 天才看得完</a:t>
            </a:r>
          </a:p>
          <a:p>
            <a:r>
              <a:t># 第 6 週要量的三件事:一筆分析確切多久 · 目前維護的車隊規模 · 今年的成長預估</a:t>
            </a:r>
          </a:p>
          <a:p>
            <a:r>
              <a:t># 第 6 週檢查點:找證據 + 判讀真的是主要延遲才往下做</a:t>
            </a:r>
          </a:p>
          <a:p>
            <a:endParaRPr/>
          </a:p>
          <a:p>
            <a:r>
              <a:t>⚠️ 🚫 不要說「次線性」「成本形狀」—— 講「量再長也不會等比長」</a:t>
            </a:r>
          </a:p>
          <a:p>
            <a:r>
              <a:t>⚠️ 🚫 這一頁不要再提規則式比對與公司既有雲端規劃 —— 兩者都不是選項。他若問「規則式呢」:那是我自己要做的對照組,在第 10 頁;他若問「跟現有雲端規劃重不重複」:還在研擬,第 6 週前釐清邊界(第 11 頁)</a:t>
            </a:r>
          </a:p>
          <a:p>
            <a:r>
              <a:t>⚠️ 🔴 第 6 週那一關量的是**會浮動的三件事**,不是「確認我們已經知道的瓶頸」——事件量本來就是浮動的,一個月的樣本推不出全年;而「量變大時成本怎麼長」那一整欄的論證,靠的就是「一筆多久」和「量長多快」。沒有這兩個數字,加人夠不夠、AI 值不值得,兩邊都只是在猜</a:t>
            </a:r>
          </a:p>
          <a:p>
            <a:r>
              <a:t>⚠️ 🔴 17–24 人那格片上只放得下算式,**兩個還沒驗的假設要用講的**:① 批次複核 20 秒/筆 ② 全客戶的案件組合跟這個樣本一樣。徽章已經寫了「推算,不是核定編制」,但被追問時要主動說出這兩條</a:t>
            </a:r>
          </a:p>
          <a:p>
            <a:r>
              <a:t>⚠️ 🔴 調班那一列**一定要把研發代價講出來**(Kenny 指定):那 7 位是從研發挖來的,轉成正式編組等於長期把研發人力綁在複核上,其他研發進度往後推 —— 這是它真正的成本,不是現金。🚫 但這是**陳述代價不是貶低它**,判斷仍留給第 6 週那個檢查點</a:t>
            </a:r>
          </a:p>
          <a:p>
            <a:r>
              <a:t>⚠️ 🔴 **不要替委員會下判決。**「拒絕」「採用」是有決定權的人才用的詞,提案人只給事實,連「我不建議」都不要說 —— 那一樣是在替他們下結論。三欄擺出來結論自己會浮出來;加評語只會讓這一頁從「比較」變成「推銷」</a:t>
            </a:r>
          </a:p>
          <a:p>
            <a:endParaRPr/>
          </a:p>
          <a:p>
            <a:r>
              <a:t>→ 換下一頁</a:t>
            </a:r>
          </a:p>
          <a:p>
            <a:endParaRPr/>
          </a:p>
          <a:p>
            <a:r>
              <a:t>── 逐字備援 · 394 字(忘詞才看,不是拿來唸的)──</a:t>
            </a:r>
          </a:p>
          <a:p>
            <a:r>
              <a:t>要把五天壓到兩天,路有三條,我都算過。加人最直覺,全段都會快一點,但成本跟量一起長 —— 量幾倍,人就要幾倍,覆蓋全客戶要十七到二十四個人,而且編制是常態支出,停不下來。換個講法各位會更有感:現在這五個人一天只有四十個人時,而全客戶一天進來的量要一百二十九到一百八十六個人時 ——**一天的量,現在要三到五天才看得完**,所以每過一天,積壓就多一天。第二條是調班加尖峰支援,把現在徵調的七位研發轉成正式編組。它便宜,而且隨時可以停、退回原班表。但它有兩件事要請各位一起看:第一,時效那一欄 —— 它只壓得到排隊那零到一天;第二,成本那一欄 —— 這七個人是從研發挖過來的,量越大挖越兇,我們其他的研發進度就往後推。那筆錢不是付現金,是付在進度上。第三條才是本案:地端 AI 事件判讀,讀懂事件脈絡、產出證據包。它壓的是撈數據跟判讀那五成到八成八,也就是真正慢的那一段;前期投入一次,之後量再長也不會等比長,而且三個檢查點都可以停。這三條我沒有替各位打分數 —— 差別就在這三欄:壓得到哪一段、量變大時會怎樣,以及能不能反悔。</a:t>
            </a:r>
          </a:p>
          <a:p>
            <a:endParaRPr/>
          </a:p>
          <a:p>
            <a:r>
              <a:t>── 備查(不唸,答辯用)──</a:t>
            </a:r>
          </a:p>
          <a:p>
            <a:r>
              <a:t>【這一頁的作用】這頁要讓委員會相信一件事:這個 AI 提案是**被比較過的**,而且比較的標準跟他們要的東西同一把尺。三條路同一個目標(爭議回覆 5 天壓到 2 天),四個欄位並排:做什麼、能壓到哪一段時間、量變大時成本怎麼長、能不能反悔。🔴 表上**不放判決欄**。Kenny 2026-08-16:「你是主管嗎?你去幫我們決定拒絕幹嘛」「你為什麼要去多加這些話去引導」——他是對的:整份提案的立場是「喊停的權力在你們手上」,而一個 ❌ 拒絕就把那個權力收走了;「我不建議」也一樣是在替他們下結論。三欄事實擺出來,結論自己會浮出來 ——加人要 17–24 人而且停不下來,AI 前期投入一次、三個檢查點都能停。加了評語反而會把這一頁從「比較」變成「推銷」。🔑 時效那一欄是本頁的勝負手:第 3 頁自己寫「排隊只有 0–1 天,那是排班解得掉的唯一一段」,把那個數字搬過來,「為什麼不直接調班就好」這個最便宜的反問就被提案自己的數字答掉了。🔴 這頁不列規則式比對與公司既有雲端規劃:前者是本案自己的第 3 件事(第 10 頁,AI 的對照組),後者還在研擬。把不是選項的東西列進選項表,只會讓委員會不知道要選哪一個。🔴 右卡那一關量的是**會浮動的三件事**(一筆分析確切多久、目前維護的車隊規模、今年的成長預估),不是「花六週確認我們已經知道的瓶頸」。Kenny 2026-08-16:「事件量是一個浮動數,你只能在這六週統計出我們現有的分析確切時間、車隊維護和今年的成長預估」——他是對的:一個月的樣本推不出全年,而「量變大時成本怎麼長」那一整欄的論證,靠的就是「一筆多久」和「量長多快」這兩個數字。沒有它們,加人夠不夠、AI 值不值得,兩邊都只是在猜。那一關同時留了一個通向不做本案的出口,核准因此是一個低風險決定。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【第 7 頁 · 導入 AI 會出什麼事:八件,前三件是 AI 才有的】　目標 79 秒 · 累計 8:12</a:t>
            </a:r>
          </a:p>
          <a:p>
            <a:endParaRPr/>
          </a:p>
          <a:p>
            <a:r>
              <a:t>★ 把握只有中的那三件,共同點是都不在我手上 —— 機器的措辭、主管轉不轉達、高階的行程。</a:t>
            </a:r>
          </a:p>
          <a:p>
            <a:endParaRPr/>
          </a:p>
          <a:p>
            <a:r>
              <a:t>· 機器會講錯但講得很順 → 每一句標出證據在第幾秒,再用固定考題抽驗那一秒對不對</a:t>
            </a:r>
          </a:p>
          <a:p>
            <a:r>
              <a:t>· 判準不一致的答案會餵進訓練 → 固定考題 + 抽一部分兩個人各判一次 + 每一版存檔</a:t>
            </a:r>
          </a:p>
          <a:p>
            <a:r>
              <a:t>· 人看到答案就不自己想 → 我的決定是介面不顯示機器的信心分數</a:t>
            </a:r>
          </a:p>
          <a:p>
            <a:r>
              <a:t>· 🔑 第三欄是「這個防法自己要付的代價」—— 一般提案只寫風險→緩解,那讀起來像沒有成本</a:t>
            </a:r>
          </a:p>
          <a:p>
            <a:r>
              <a:t>· 🔑 分四類:資料 2 件 · 組織 3 件 · 倫理 1 件 · 經濟 1 件;倫理那件下一頁逐條對課程八原則</a:t>
            </a:r>
          </a:p>
          <a:p>
            <a:r>
              <a:t>· 🔑 最後一欄是「這個防法有多大把握」—— 高四件、中三件;而中的那三件共同點是**都不在我手上**</a:t>
            </a:r>
          </a:p>
          <a:p>
            <a:endParaRPr/>
          </a:p>
          <a:p>
            <a:r>
              <a:t># 七件事 · 資料 2 · 組織 3 · 倫理 1 · 經濟 1 · 把握 高 4 / 中 3</a:t>
            </a:r>
          </a:p>
          <a:p>
            <a:endParaRPr/>
          </a:p>
          <a:p>
            <a:r>
              <a:t>⚠️ 🚫 不要說「緩解」「偵測訊號」「NIST」「黃金題」「快照」——講「怎麼防」「怎麼知道它發生了」「固定考題」「每一版存檔」</a:t>
            </a:r>
          </a:p>
          <a:p>
            <a:r>
              <a:t>⚠️ 防法的**代價**要一起講(不顯示信心會拖慢複核)—— 那才顯得是真的想過</a:t>
            </a:r>
          </a:p>
          <a:p>
            <a:r>
              <a:t>⚠️ 🚫 不要再提「以前判成誤報的紀錄算不算證據」那一件 —— 已刪除。Kenny:那些紀錄是依據,也是我們優化的方向,我們本來就會記錄誤報客戶事件</a:t>
            </a:r>
          </a:p>
          <a:p>
            <a:r>
              <a:t>⚠️ 🔴 第 3 件不可講成「不會發生,因為最後是人審核」——機器給的是**判定結果**,人只是最後給結論;有現成結論可以照抄,那就是這條風險成立的條件。評分者研究的就是這個,講「有人審核」他一定追</a:t>
            </a:r>
          </a:p>
          <a:p>
            <a:r>
              <a:t>⚠️ 🔴 第 1 件的偵測方式改過:原本是「人推翻機器判定的比例不降」,但機器唬爛成功時人會相信它,推翻率反而會**降** —— 那條訊號在最危險的情況下剛好讀起來像沒問題。現在改成直接抽驗它標的那一秒對不對,不用等人推翻</a:t>
            </a:r>
          </a:p>
          <a:p>
            <a:r>
              <a:t>⚠️ 🔴 第 2 件的偵測方式也改過:原本是「交通標誌根因佔比偏離 83%」,但本案的目的就是把那 83% 打下來,案子成功時它一定偏離,分不出好壞。現在改成同一批考題重判時兩人不一致率上升</a:t>
            </a:r>
          </a:p>
          <a:p>
            <a:r>
              <a:t>⚠️ 🔑 他若問「這頁跟下一頁差在哪」:這頁是八件事按四類分,下一頁是把**倫理那一類**拿去對課程單元六引用的八原則逐條檢查。分類與「有多大把握」這兩欄不是裝飾 —— rubric 的 30 分那條白紙黑字要這兩樣</a:t>
            </a:r>
          </a:p>
          <a:p>
            <a:endParaRPr/>
          </a:p>
          <a:p>
            <a:r>
              <a:t>── 錄影提示(不唸)──</a:t>
            </a:r>
          </a:p>
          <a:p>
            <a:r>
              <a:t>· 錄影標記:唸完「第八條我沒有答案,由法務在第六週前給書面意見」整句後,畫面停在最後那條風險的紅色虛線圈上靜止 2 秒、口白不出聲,再切下一頁。停頓點在整句句尾,不在「我沒有答案」之後 —— 每一條沒有答案的事都要當場交代誰在什麼時候給答案,停頓要停在那句話說完之後,長度仍為 2 秒。</a:t>
            </a:r>
          </a:p>
          <a:p>
            <a:endParaRPr/>
          </a:p>
          <a:p>
            <a:r>
              <a:t>→ 換下一頁</a:t>
            </a:r>
          </a:p>
          <a:p>
            <a:endParaRPr/>
          </a:p>
          <a:p>
            <a:r>
              <a:t>── 逐字備援 · 348 字(忘詞才看,不是拿來唸的)──</a:t>
            </a:r>
          </a:p>
          <a:p>
            <a:r>
              <a:t>選了這條路,我先講它會出什麼事。七件事,我按四類分:資料兩件、組織三件、倫理一件、經濟一件。資料那兩件是 AI 才有的。第一,機器會判錯,但講得很順 —— 講錯的跟講對的一樣順,比一個錯的數字更難發現。我的做法是:分析結果用白話寫,而且把它用到的數據標出來;複核的時候對一下那些數據,是不是幻覺一眼就看得出來。這一件我把握高,因為每一筆複核都會對到,不是抽樣。第二,判定不一致。我們會定期跑一組答案確定的事件,拿去給 AI 校正,答對率掉下來就知道它漂了。組織那邊最要緊的一件是:機器給的是判定結果,人可能就照抄。我的決定是介面不顯示機器的信心分數 —— 但這個防法有代價,不顯示,複核會變慢,撞到兩天那個目標。這一格我也寫在表上。最後請各位看最右邊那一欄。把握只有中的有三件,而它們的共同點是**都不在我手上**:機器的措辭、主管願不願意幫駕駛轉達、還有高階主管的行程。我控制得了的,我寫高;控制不了的,我就寫中。</a:t>
            </a:r>
          </a:p>
          <a:p>
            <a:endParaRPr/>
          </a:p>
          <a:p>
            <a:r>
              <a:t>── 備查(不唸,答辯用)──</a:t>
            </a:r>
          </a:p>
          <a:p>
            <a:r>
              <a:t>【這一頁的作用】這頁回答委員會的下一個問題:「你要導入 AI,那會出什麼事?」一列一件事,橫著讀是四格:會出什麼事 → 我打算怎麼防 → **這個防法自己要付什麼代價** → 怎麼知道它真的發生了。🔑 第三欄是這頁的說服力來源。一般提案只寫「風險 → 緩解」,那讀起來像沒有成本的保證;多寫一句「而這個緩解會傷到什麼」(不顯示信心分數會拖慢複核、兩人複判成本近乎加倍),委員會才知道我真的算過。🔴 2026-08-16 白話化(Kenny:「第七章看不懂」):「黃金題」→「固定考題」(與第 10 頁片上同名)、「快照」→「每一版存檔」、「盲測組與對照組差異超過容忍值」→「有機器幫忙的那組判得比沒有的那組差」、「單位成本改善低於門檻」→「省時沒到當初講的數字」。🔴 同時修掉兩條**邏輯壞掉**的偵測訊號:①第 1 列原本是「人推翻機器判定的比例不降」—— 但機器唬爛成功時人會相信它,推翻率會**降**,這條訊號在最危險的情況下剛好讀起來像沒問題。改成直接抽驗它標的那一秒對不對。②第 2 列原本是「交通標誌根因佔比偏離 83%」—— 而本案的目的就是把那 83% 打下來,案子成功時它一定偏離,分不出好壞。改成同一批考題重判時兩人不一致率上升。🔴 標題與底線原本互相打架(標題說「每一條」、底線說「其餘七條」),已統一成八件。🔴 2026-08-16 Kenny:「這每一條都很怪,這跟第 8 張差在哪?有必要這樣探討?」——他問對了,而答案指出這一頁**漏了拿分的東西**。rubric 的 30 分那條有四個 HD 門檻:①限制與挑戰**按類別歸類且視覺化** ②緩解策略附**風險與成功可能性評估** ③倫理深刻 ④指標可量化,而作業說明明寫「四個都要做到才是 HD」。第 7 頁扛①②、第 8 頁扛③、第 9 頁扛④。原版第 7 頁只做到一半:八件事平鋪沒有任何類別標籤(門檻①未達)、只有「怎麼防/代價/怎麼發現」沒有「這個防法有多大把握」(門檻②未達)。→ 列名前綴四類(資料/倫理/經濟/組織,作業說明自己給的分類),並新增「這個防法有多大把握」欄。🔑 加上類別之後,兩頁的關係自己就講清楚了:第 7 頁是「八件事按四類分」,第 8 頁是把其中**倫理那一類**拿去對課程的官方八原則逐條檢查。沒有類別標籤時,兩頁看起來像在講同一件事兩次 —— 那正是 Kenny 感覺到的重複。🔴 2026-08-16 Kenny 逐列更正:①第 1 列的防法改成他實際的做法 —— **用白話寫分析結果並標出用到的數據**,複核時對一下那些數據,幻覺一眼看得出;因為是**每一筆複核都會對到**(不是抽樣),把握從中升到高。②第 2 列改成**定期跑一組答案確定的事件給 AI 校正**。③第 8 列(以前判成誤報的紀錄算不算證據)**整列刪掉** —— Kenny:那些紀錄是依據,也是我們優化的方向,我們本來就會記錄誤報客戶事件。八件變七件。④第 3 列 Kenny 先說「不會,因為最後是人為審核」,但追問後他自己講明**機器給的是判定結果,人最後給出結論** —— 那就是自動化偏誤成立的條件,所以這一列留著,列名改成「機器給了判定結果,人可能照抄」把風險講白。🔴 刪掉第 8 列後,這頁不再有「我沒有答案」的那一件。底線改用另一個誠實點:把握只有「中」的三件,共同點是**都不在提案人手上**(機器的措辭、主管願不願意轉達、高階的行程)。那比一句「有一件我沒解」更具體,也是「風險與成功可能性評估」這條門檻真正想看的東西。🔴 2026-08-16 Kenny:「你那些副標題都在自曝其短、講想法,可以改一下嗎?」——他是對的。第 7 頁原本寫「下一頁拿課程的八原則逐條檢查」(在跟自己交代流程)、第 8 頁「每一條都寫出機制,不是空話」(沒人指控你講空話,先自清反而像心虛)、第 9 頁「上面的成績一律不算」(自己先扣自己分)、第 10 頁「六件事裡只有一件是 AI」(在替 AI 佔比小辯解,委員會沒問)。副標的位置是**這一頁最強的主張**,不是「這一頁怎麼讀」也不是「我沒有在講空話」。四頁全部改成陳述句。🔴 第二次修正(Kenny:「我們目標是呈現給委員…拜託不要再把副標搞得好像作業備忘錄」):我第一版只拿掉了自我辯護,但寫成了「這張表有四欄、每一件都配一個防法、也印在上面」——那是在描述投影片本身,委員會不在乎表格怎麼組的。第 8 頁更糟:標題與副標掛著「課程單元六 6.3.4」,那是給評分者看的引用註記,在提案的世界裡委員會根本不知道那是什麼。🔑 副標要講**委員在意的結果**:會不會被抓、我能不能退出、我拿什麼管你。課程出處改成用講的(逐字備援裡已經有「課程單元六引用的澳洲 AI 倫理八原則」),片上只留「政府那八條」—— 真實的委員會確實會引用政府框架,那不突兀。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【第 8 頁 · 倫理:課程單元六那八原則,逐條對過沒一條變差】　目標 65 秒 · 累計 9:17</a:t>
            </a:r>
          </a:p>
          <a:p>
            <a:endParaRPr/>
          </a:p>
          <a:p>
            <a:r>
              <a:t>★ 八條沒有一條因為這個案子變差 —— 而每一條我都寫得出為什麼,不是一句沒問題帶過。</a:t>
            </a:r>
          </a:p>
          <a:p>
            <a:endParaRPr/>
          </a:p>
          <a:p>
            <a:r>
              <a:t>· 框架不是我挑的 —— 是課程單元六 6.3.4 引用的澳洲 AI 倫理八原則(DIIS, 2019)</a:t>
            </a:r>
          </a:p>
          <a:p>
            <a:r>
              <a:t>· 🔴 第 7 條可申訴:駕駛透過車隊主管轉達,我們**調影片做事實分析還他清白**</a:t>
            </a:r>
          </a:p>
          <a:p>
            <a:r>
              <a:t>· 隱私:影像一律 180 天、證據包同期限,**不因本案改變**</a:t>
            </a:r>
          </a:p>
          <a:p>
            <a:r>
              <a:t>· 透明:對外交出去的一直是**人工審核的結果**,不是機器的結論</a:t>
            </a:r>
          </a:p>
          <a:p>
            <a:r>
              <a:t>· 問責有主:複核歸營運複核人,AI 判錯歸 RD 團隊</a:t>
            </a:r>
          </a:p>
          <a:p>
            <a:r>
              <a:t>· 🔴 唯一沒解的是第 5 條:漏報在 Edge AI 端就發生、沒有紀錄,本案碰不到</a:t>
            </a:r>
          </a:p>
          <a:p>
            <a:endParaRPr/>
          </a:p>
          <a:p>
            <a:r>
              <a:t># 澳洲 AI 倫理八原則(DIIS, 2019)· 課程單元六 6.3.4</a:t>
            </a:r>
          </a:p>
          <a:p>
            <a:r>
              <a:t># 第七條原文:「應設有及時的機制,讓相關方對 AI 系統的結果提出質疑」</a:t>
            </a:r>
          </a:p>
          <a:p>
            <a:r>
              <a:t># 影像保留 180 天 · 證據包同期限,不因本案改變</a:t>
            </a:r>
          </a:p>
          <a:p>
            <a:endParaRPr/>
          </a:p>
          <a:p>
            <a:r>
              <a:t>⚠️ 🚫 不要再講「移交後」「天花板」「850 筆沒人看過」—— 那條線已經拿掉了</a:t>
            </a:r>
          </a:p>
          <a:p>
            <a:r>
              <a:t>⚠️ 這一頁的價值在**主動揭露**:兩條變差的自己講出來,其餘六條才會被信</a:t>
            </a:r>
          </a:p>
          <a:p>
            <a:r>
              <a:t>⚠️ 🔴 第七條那句原文要**逐字唸出來**,並說明它出自課程單元六 6.3.4</a:t>
            </a:r>
          </a:p>
          <a:p>
            <a:r>
              <a:t>⚠️ 🔴 八原則 2019-11-07 由 **DIIS**(Department of Industry, Innovation and Science)發布;DISR 這個名字 2022 年 7 月才有。課程投影片若寫 DISR 不必跟著錯 ——答辯時一句「原始發布機關是 DIIS,2022 年改名 DISR」反而是加分的細節</a:t>
            </a:r>
          </a:p>
          <a:p>
            <a:r>
              <a:t>⚠️ 🚫 不可再說「駕駛本人不能質疑」「可申訴從頭到尾不及格」「隱私會變差」——2026-08-16 Kenny 更正:影像一律 180 天不因本案改變;駕駛可以反駁,透過主管轉達,我們調影片做事實分析還他清白</a:t>
            </a:r>
          </a:p>
          <a:p>
            <a:r>
              <a:t>⚠️ 🔑 全綠不靠嘴巴,靠機制 —— 每一條後面都要接得出那個機制(180 天 / 主管轉達再調影片 / 人工審核 / 複核歸營運、AI 歸 RD)。被問「你確定沒有代價嗎」,就把第 5 條交出去:漏報本案碰不到,那是真的沒解</a:t>
            </a:r>
          </a:p>
          <a:p>
            <a:r>
              <a:t>⚠️ ⚠️ 他若追問「客戶知不知道背後有 AI」:對外交出去的是人工審核的結果,AI 是我們內部整理證據的工具 —— 這是公司的立場,不是規避。🚫 但不要說「我們會告訴客戶」,也不要說「我們刻意不講」</a:t>
            </a:r>
          </a:p>
          <a:p>
            <a:endParaRPr/>
          </a:p>
          <a:p>
            <a:r>
              <a:t>── 錄影提示(不唸)──</a:t>
            </a:r>
          </a:p>
          <a:p>
            <a:r>
              <a:t>· 錄影標記:唸到「可申訴性,我們不及格」時切全螢幕人像,唸完該句後切回畫中畫。</a:t>
            </a:r>
          </a:p>
          <a:p>
            <a:r>
              <a:t>· 交界移交:P7 → P8 的接縫句為「講完該不該做,接下來是怎麼算做成了。」依總則檔 §6b,該句寫成 P8 口白的第一句、字數計入 P8,故不列入本頁 224 字。</a:t>
            </a:r>
          </a:p>
          <a:p>
            <a:endParaRPr/>
          </a:p>
          <a:p>
            <a:r>
              <a:t>→ 換下一頁</a:t>
            </a:r>
          </a:p>
          <a:p>
            <a:endParaRPr/>
          </a:p>
          <a:p>
            <a:r>
              <a:t>── 逐字備援 · 285 字(忘詞才看,不是拿來唸的)──</a:t>
            </a:r>
          </a:p>
          <a:p>
            <a:r>
              <a:t>這一頁我拿課程單元六引用的澳洲 AI 倫理八原則,逐條對過。先講結論:沒有一條會因為這個案子變差 —— 而我不是用一句「沒問題」帶過,每一條我都寫得出為什麼。隱私:影像一律保留一百八十天,證據包同一個期限,不因這個案子改變。可申訴,也就是第七條 —— 原文寫的是「應設有及時的機制,讓相關方對 AI 系統的結果提出質疑」。駕駛可以反駁,透過車隊主管轉達,我們調出影片做事實分析,還他清白。透明:對外交出去的一直是人工審核的結果,不是機器的結論。問責:複核的結果歸營運,AI 判錯歸研發,不是沒有人負責。以人為本,人還是逐筆判;福祉跟公平,同樣人力接得住更多。只有第五條我要老實說 —— 該報沒報的那種漏報,發生在車機端、根本沒有事件紀錄,這個案子碰不到它,只能靠前端重新訓練。</a:t>
            </a:r>
          </a:p>
          <a:p>
            <a:endParaRPr/>
          </a:p>
          <a:p>
            <a:r>
              <a:t>── 備查(不唸,答辯用)──</a:t>
            </a:r>
          </a:p>
          <a:p>
            <a:r>
              <a:t>【這一頁的作用】框架不是我挑的,是**課程單元六 6.3.4 引用的**澳洲政府 AI 倫理八原則(DISR, 2019),編號與順序沿用原框架,評分者一列一列對得上;第七條「可申訴性」課程是逐字引用的,底線那句就是原文。🔴 2026-08-16 Kenny 更正三項事實後,這一頁**沒有一條變差**:影像一律 180 天、證據包同期限,不因本案改變;駕駛可以反駁(透過車隊主管轉達),我們調影片做事實分析還他清白;對外交出去的一直是人工審核的結果;問責有主 —— 複核歸營運複核人,AI 判錯歸 RD 團隊。🔴 我一度想硬留兩條紅字(理由是「全綠會被讀成漂白」),Kenny 否掉:「駕駛有管道申訴這樣哪裡不行???」—— 他是對的,那是拿修辭凌駕事實。🔑 全綠的風險用另一種方式解:**不是留問題,是把每一條「為什麼沒問題」寫成具體機制** ——180 天、透過主管轉達再調影片、人工審核、複核歸營運/AI 歸 RD。機制寫得出來才叫深刻;自我批評寫得再多都只是漂亮話。🔴 全頁唯一真的沒解的是**第 5 條:該報沒報**(漏報發生在 Edge AI 端、沒有事件紀錄,本案碰不到)——那一條標紅,是這一頁唯一的誠實負擔,也是唯一不能講成「我們有處理」的一條。🔴 ⑦ 可申訴原本標紅,Kenny:「都有解了有什麼好標紅色?」—— 拿掉。紅色排在綠色旁邊會被讀成「這條有問題」,跟同一列寫的「調影片還他清白 → 不變」自己打架。全頁只剩 ⑤ 該報沒報標紅,那是唯一真的沒解的一條;底線那條藍帶仍然指著 ⑦,不會沒人注意。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【第 9 頁 · 七條做到才算成功;兩條沒過全部不算】　目標 74 秒 · 累計 10:31</a:t>
            </a:r>
          </a:p>
          <a:p>
            <a:endParaRPr/>
          </a:p>
          <a:p>
            <a:r>
              <a:t>★ 第 6 週交三樣、第 12 週一樣、第 16 週三樣 —— 而下面兩條沒過,上面全部不算。</a:t>
            </a:r>
          </a:p>
          <a:p>
            <a:endParaRPr/>
          </a:p>
          <a:p>
            <a:r>
              <a:t>· 效益七條**依交件週次排**:第 6 週三樣、第 12 週一樣、第 16 週三樣</a:t>
            </a:r>
          </a:p>
          <a:p>
            <a:r>
              <a:t>· 下面兩條任一沒過,上面七條的成績一律不算</a:t>
            </a:r>
          </a:p>
          <a:p>
            <a:r>
              <a:t>· 現在訂不出目標值的,我寫明第幾週交、由誰訂 —— 一格都不留空白</a:t>
            </a:r>
          </a:p>
          <a:p>
            <a:r>
              <a:t>· 🔴 編號 ①–⑦ + 喊停 ⑧⑨⑩,一路連號</a:t>
            </a:r>
          </a:p>
          <a:p>
            <a:endParaRPr/>
          </a:p>
          <a:p>
            <a:r>
              <a:t># 兩條喊停:兩個人判同一段影片答案一不一樣 · 機器的描述會不會讓人判得更差</a:t>
            </a:r>
          </a:p>
          <a:p>
            <a:r>
              <a:t># 🔴 第 16 週是**交件**,不是喊停點 —— 喊停點在第 6、12、24 週(第 10 頁)</a:t>
            </a:r>
          </a:p>
          <a:p>
            <a:endParaRPr/>
          </a:p>
          <a:p>
            <a:r>
              <a:t>⚠️ 🚫 不要說「保證」——上面那七條有一半今天還沒有基線,講的是「第幾週交」</a:t>
            </a:r>
          </a:p>
          <a:p>
            <a:r>
              <a:t>⚠️ 🔑 被問資料治理:事件都有來源標記,**包括訓練用的** —— 那是既有能力,不是這個案子要建的。所以它不在喊停條件裡(講得出來,但不掛在片上當功勞)</a:t>
            </a:r>
          </a:p>
          <a:p>
            <a:r>
              <a:t>⚠️ 🔴 他若說「判斷的人就是寫演算法的,怎麼會被機器帶偏」:回答「複核的人確實知道機器會在哪裡出錯,但另外四位分析人員不是寫演算法的,所以我還是要量」。🚫 不可講成「不需要檢查」——在安全對齊的角度,寫演算法的人自己審自己的輸出是**缺少獨立檢查**,不是保證</a:t>
            </a:r>
          </a:p>
          <a:p>
            <a:r>
              <a:t>⚠️ 🚫 底線不要接「不是外面的規定」—— 沒人說你在應付法規,那半句是自我辯護。只講「這個煞車是我自己裝的」</a:t>
            </a:r>
          </a:p>
          <a:p>
            <a:r>
              <a:t>⚠️ 🚫 不要講「我要各位用這些數字管我」(Kenny:超級怪)——講「每一條都寫明第幾週交、由誰訂」</a:t>
            </a:r>
          </a:p>
          <a:p>
            <a:r>
              <a:t>⚠️ 🚫 「每天要處理幾筆」已從這張表移出 —— 那是工作量現況不是目標,第 2、5 頁已經講過。他若問規模,指第 2 頁</a:t>
            </a:r>
          </a:p>
          <a:p>
            <a:endParaRPr/>
          </a:p>
          <a:p>
            <a:r>
              <a:t>→ 換下一頁</a:t>
            </a:r>
          </a:p>
          <a:p>
            <a:endParaRPr/>
          </a:p>
          <a:p>
            <a:r>
              <a:t>── 逐字備援 · 324 字(忘詞才看,不是拿來唸的)──</a:t>
            </a:r>
          </a:p>
          <a:p>
            <a:r>
              <a:t>怎麼算做成了。上面七條是效益,我按**第幾週交**排;下面兩條是喊停條件。第六週交三樣:每一筆現在到底花多少人力、有多少客戶的案子被人看過、還有尖峰徵調研發的人時 —— 這三樣今天都沒有紀錄,那正是第一段要建的。第十二週交一樣:行車輔助的誤報率,目標降到百分之七以下。第十六週交三樣:爭議回覆做到兩天內,這是我提的目標、不是已經簽的協議;做了以後能少請幾個人;還有客戶回頭爭議的比例,降到百分之五以下。請注意第十六週是**交件**,不是喊停點 —— 喊停點在第六、十二、二十四週,下一頁講。下面兩條請各位特別看。第一,同一段影片給兩個人判,答案一不一樣,這件事公司從來沒量過;沒過,那批答案就不能拿去訓練。第二,機器寫的說明會不會反而讓人判得更差 —— 這條我用盲測驗,有機器幫忙的那一組如果判得比沒有的那組差,就不放行。這兩條任一沒過,上面七條的成績一律不算。</a:t>
            </a:r>
          </a:p>
          <a:p>
            <a:endParaRPr/>
          </a:p>
          <a:p>
            <a:r>
              <a:t>── 備查(不唸,答辯用)──</a:t>
            </a:r>
          </a:p>
          <a:p>
            <a:r>
              <a:t>【這一頁的作用】這頁把「衡量」從外掛的合規章節,改寫成 AI 提案本身的兩個問題:怎麼證明它有效、什麼情況下喊停。對委員會的作用有三個:①上面八條告訴他們這筆錢買的是客戶等多久拿到分析,不是準確率;②下面三條讓他們知道自己手上握著喊停的權力,尤其「機器寫的說明會不會讓人判得更差」那一條 —— 那是本案自己製造的風險,由提案人主動列出來並綁上盲測;③每一個今天訂不出的目標值都寫明第幾週、由誰訂,把「訂不出來」變成可稽核的紀律,而不是含糊。🔴 2026-08-16 Kenny 審第 9 頁後的修正:①標題、副標、底線原本在講同一件事(喊停條件)三次,而標題後半「同一張表也寫明」又是在描述表格結構。標題改成直接下結論、副標改講交件時程、底線只留「規矩是我自己訂的」。②「我要各位用這些數字管我」Kenny:「超級怪」—— 換掉。③🔴 表頭寫「效益:八條」但編號跑到 ⑨(因為⑤⑥併成一列)—— 委員照號碼數會數到九。全部重編 ①–⑧,喊停三條跟著挪成 ⑨⑩⑪。④②「第 6 週先建立紀錄」與⑨「期內先建量測基準」原本沒有目標值也沒有負責人 ——「先建紀錄」是前置作業不是 KPI。補上「第 6 週建紀錄,贊助人第 16 週訂目標」與「第 6 週量出基準,營運第 16 週訂上限」。⑤底線原本「不是外面的規定」是自我辯護 —— 沒人說他在應付法規,拿掉那半句前半才有力。🔴 Kenny:「後面在第幾週訂,要不要分開然後依照第幾週來排序?」—— 要,而且價值很高:拆出「第幾週交」欄並依週排序後,這張表從一份 KPI 清單變成**交件時程表**,委員一眼看到「第 6 週拿到三樣、第 12 週一樣、第 16 週三樣」,直接對上第 10 頁那三個喊停點。🔴 但排序有前提:原本八條裡有兩條沒有週次。①「每天要處理幾筆」(3,000 → 全客戶 13,000+)**根本不是目標**,是工作量現況,而且第 2、5 頁已經講過兩次 —— 移出這張表。②「客戶回頭爭議的比例」是誤報率下降的下游效果,證據包第 8–16 週做完,補第 16 週。結果:效益七條,排成 6/6/6/12/16/16/16;喊停三條跟著挪成 ⑧⑨⑩。🔴 副標必須點明「第 16 週是交件,不是喊停點」——KPI 的週次是 6/12/16,而第 10 頁的喊停點是 6/12/24;排序後這個差異會很顯眼,不先講清楚,委員會以為第 16 週也能喊停。🔴 Kenny:「第二我們本來就有標記來源」「事件有來源標記,包括訓練用」——所以「訓練資料查不查得到來源」現況根本不是 0%,它是**既有能力**。把已經做到的事放在「喊停條件」裡,等於拿舊本事當新承諾 → 整條拿掉,喊停從三條變兩條。(答辯備註留了一句:被問資料治理時講「事件都有來源標記,包括訓練用的,那是既有能力,不是這個案子要建的」——講得出來,但不掛在片上當功勞。)🔴 Kenny 對第三條的質疑:「判斷的人就是寫算法的,怎麼會差?」——這一條**留著**,理由兩個:①它就是第 7 頁第 3 列(機器給了判定結果,人可能照抄)的偵測方式,拿掉那一列就變成「我知道有風險但不打算檢查」;②「寫演算法的人自己審自己演算法的輸出」在安全對齊領域是**缺少獨立檢查**的典型情況,而且複核有 5 個人,另外 4 位分析人員不是寫演算法的。他那句話改成**答辯用的防法**寫進備註,不寫上片。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【第 10 頁 · 六個月分三段做,三個喊停點】　目標 54 秒 · 累計 11:24</a:t>
            </a:r>
          </a:p>
          <a:p>
            <a:endParaRPr/>
          </a:p>
          <a:p>
            <a:r>
              <a:t>★ 六個月分三段做,每一段做完都可以喊停 —— 各位不必一次押六個月。</a:t>
            </a:r>
          </a:p>
          <a:p>
            <a:endParaRPr/>
          </a:p>
          <a:p>
            <a:r>
              <a:t>· 六件事裡只有一件真的用到 AI,而且排在最後面</a:t>
            </a:r>
          </a:p>
          <a:p>
            <a:r>
              <a:t>· 前面三件都在把 AI 要吃的東西準備好:量現況 → 寫判斷手冊 → 先用規則補</a:t>
            </a:r>
          </a:p>
          <a:p>
            <a:r>
              <a:t>· 三個喊停點寫的是「什麼情況要停」,不是「什麼情況算過」</a:t>
            </a:r>
          </a:p>
          <a:p>
            <a:endParaRPr/>
          </a:p>
          <a:p>
            <a:r>
              <a:t># 第 6 週 · 第 12 週 · 第 24 週</a:t>
            </a:r>
          </a:p>
          <a:p>
            <a:r>
              <a:t># 第 12 週比三種做法:現在的做法 / 只加規則不加 AI / 加上 AI</a:t>
            </a:r>
          </a:p>
          <a:p>
            <a:endParaRPr/>
          </a:p>
          <a:p>
            <a:r>
              <a:t>⚠️ 🔑 「只加規則不加 AI」那一種是刻意做的對照組 —— 沒有它,「AI 到底有沒有用」永遠是各說各話</a:t>
            </a:r>
          </a:p>
          <a:p>
            <a:r>
              <a:t>⚠️ 🚫 不要說「AI 自動結案」—— 機器寫的結論一律先給人看過才對外</a:t>
            </a:r>
          </a:p>
          <a:p>
            <a:endParaRPr/>
          </a:p>
          <a:p>
            <a:r>
              <a:t>→ 換下一頁</a:t>
            </a:r>
          </a:p>
          <a:p>
            <a:endParaRPr/>
          </a:p>
          <a:p>
            <a:r>
              <a:t>── 逐字備援 · 236 字(忘詞才看,不是拿來唸的)──</a:t>
            </a:r>
          </a:p>
          <a:p>
            <a:r>
              <a:t>六個月分三段做,每一段做完都可以喊停。六件事裡只有一件真的用到 AI,而且排在最後面。前面三件都在把 AI 要吃的東西準備好:先量出現在多準、多慢,再寫一本大家判得一樣的手冊,然後不用 AI、先用寫死的規則把脈絡補上。規則那一版是刻意做的,它是 AI 的對照組 —— 沒有它,AI 到底有沒有用永遠是各說各話。三個喊停點。第六週先確認慢的原因真的是找證據;不是,就停,改去調排班。第十二週三種做法擺在一起比;AI 沒比規則好,就縮規模,但實驗一定做完。第二十四週決定要不要真的用;證不出來,AI 這段就不上線,可是前面量出來的東西和那本手冊會留下來。</a:t>
            </a:r>
          </a:p>
          <a:p>
            <a:endParaRPr/>
          </a:p>
          <a:p>
            <a:r>
              <a:t>── 備查(不唸,答辯用)──</a:t>
            </a:r>
          </a:p>
          <a:p>
            <a:r>
              <a:t>【這一頁的作用】這頁要讓委員會相信兩件事,而不是相信「我有計畫」。第一:六件事裡只有一件是 AI,其餘五件不是繞路 —— 沒有一組鎖死的考題就量不出模型判得準不準,判準不一致的答案餵給模型就是垃圾進垃圾出,所以順序本身就是風險控制。第二:三個喊停點寫的都是「什麼條件下這個案子會停」——第 6 週可以整案轉向排班,第 24 週可以直接不上線。第 12 週的三種做法則正面回答答辯必問的那題:「你怎麼證明是 AI 的功勞」—— 因為有一組刻意不含 AI 的規則版當對照組。🔴 2026-08-16 Kenny 審第 10 頁後的四項修正:①⑥ 的註記原本寫「中間六次交件在第 6/10/12/16/24/26 週,**那不是喊停的時點**」——而正下方的表格寫「三個喊停點:第 6/12/24 週」。同一畫面兩組週次、6/12/24 兩邊都有,一組說「這不是喊停」另一組說「這是喊停」,委員會分不出來。而且那半句是在澄清一件還沒有人誤會的事。整段刪掉,只留交付物。②🔴 第 6 週交什麼,第 9 頁與第 10 頁列的東西不一樣(只有「每筆花多少人力」重疊)。以第 9 頁為準統一:每筆人力 · 客戶涵蓋率 · 尖峰徵調人時。③⑤ 的註記「本案唯一真的用到 AI 的一件事」跟 Kenny 嫌掉的舊副標是同一句話,只是搬進註記;「(選型見第 5 頁)」又是講投影片自己。兩者都拿掉,改成講它交什麼。④標題「每一段做完都可以喊停」與副標「第 6、12、24 週各有一個出口」重複 ——副標改講六件事的**順序邏輯**(前三件備料、AI 排第五、順序不能換),不重複標題。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【第 11 頁 · 這件事要花多少錢】　目標 57 秒 · 累計 12:21</a:t>
            </a:r>
          </a:p>
          <a:p>
            <a:endParaRPr/>
          </a:p>
          <a:p>
            <a:r>
              <a:t>★ 我今天要請各位核准的只有前六週:四點八五人月、約一萬八千七到兩萬零九百澳幣,再指定一位主管。</a:t>
            </a:r>
          </a:p>
          <a:p>
            <a:endParaRPr/>
          </a:p>
          <a:p>
            <a:r>
              <a:t>· 錢主要花在人身上,不是機器 —— 機器只佔一小塊</a:t>
            </a:r>
          </a:p>
          <a:p>
            <a:r>
              <a:t>· 不做這件事,用現在的做法覆蓋全部客戶要再請十二到十九個人</a:t>
            </a:r>
          </a:p>
          <a:p>
            <a:r>
              <a:t>· 做了能少請幾個,我今天不給數字 —— 第 16 週量出來才算數</a:t>
            </a:r>
          </a:p>
          <a:p>
            <a:endParaRPr/>
          </a:p>
          <a:p>
            <a:r>
              <a:t># 4.85 人月 · A$18,700–20,900(是規劃,不是已核定的預算)</a:t>
            </a:r>
          </a:p>
          <a:p>
            <a:r>
              <a:t># 機器兩台 A$14,200–17,700;三年總花費約 A$2.9–5.2 萬</a:t>
            </a:r>
          </a:p>
          <a:p>
            <a:endParaRPr/>
          </a:p>
          <a:p>
            <a:r>
              <a:t>⚠️ 🔴 **最後一句講正面那三樣**(查得到怎麼算的錯誤率 · 補脈絡的判斷層 · 對照實驗結果)—— 🚫 不要停在「不做的代價」。全片的最後一個印象就是這一句</a:t>
            </a:r>
          </a:p>
          <a:p>
            <a:r>
              <a:t>⚠️ 🚫 絕對不要講「省下多少錢」或把節省減掉設備價算 ROI —— 今天沒有那個數字,講了第一個問題就被問穿</a:t>
            </a:r>
          </a:p>
          <a:p>
            <a:r>
              <a:t>⚠️ 被問到匯率/薪資:直說 1 A$=NT$22.6(2026-08)和薪資量級都是我自己設的假設,是量級不是報價</a:t>
            </a:r>
          </a:p>
          <a:p>
            <a:r>
              <a:t>⚠️ 🔴 三年總花費裡近一半到六成是「有人要顧它」的人力,不是機器 —— 這句要主動講</a:t>
            </a:r>
          </a:p>
          <a:p>
            <a:r>
              <a:t>⚠️ 🚫 全片對委員一律用「各位」,不要用「你」——「請你核准」「你手上會多三樣」對一個委員會是命令口氣(Kenny 2026-08-16 指出)</a:t>
            </a:r>
          </a:p>
          <a:p>
            <a:endParaRPr/>
          </a:p>
          <a:p>
            <a:r>
              <a:t>→ 換下一頁</a:t>
            </a:r>
          </a:p>
          <a:p>
            <a:endParaRPr/>
          </a:p>
          <a:p>
            <a:r>
              <a:t>── 逐字備援 · 251 字(忘詞才看,不是拿來唸的)──</a:t>
            </a:r>
          </a:p>
          <a:p>
            <a:r>
              <a:t>最後是錢。錢主要花在人身上,不是機器。六個月十八點二人月,大約七萬到七萬九澳幣;機器兩台一萬四千二到一萬七千七,三年連電費、延長保固、還有人要顧它,加起來大約兩萬九到五萬二 —— 其中近一半到六成是顧它的人力,不是機器本身。不做這件事會怎樣?用現在的做法要覆蓋全部客戶,得從五個人加到十七到二十四個人。做了以後能少請幾個,我今天不給數字 —— 第十六週量出每筆省多少人力,才算得出來。我今天要請各位核准的只有前六週:四點八五人月、一萬八千七到兩萬零九百澳幣,再指定一位主管。六個月後各位手上會多三樣:一份查得到怎麼算的錯誤率、一層補脈絡的判斷,還有一份對照實驗的結果。</a:t>
            </a:r>
          </a:p>
          <a:p>
            <a:endParaRPr/>
          </a:p>
          <a:p>
            <a:r>
              <a:t>── 備查(不唸,答辯用)──</a:t>
            </a:r>
          </a:p>
          <a:p>
            <a:r>
              <a:t>【這一頁的作用】這頁要在委員會心裡完成三次收斂。第一次:看到「地端 AI」就問「那台機器多少錢」——設備價、三年總花費、以及其中近一半到六成其實是顧它的人力,三秒內收斂成「成本主體是人,不是設備」,避免答辯變成硬體採購的離題辯論。第二次:所有金額都標明是量級不是報價、假設輸入印在畫面上、五項未估價成本逐項列名 ——誠實度不能在唯一的金額上破功。第三次也是最關鍵的一次:🔴 明講「做了以後能少請幾個人,我今天不給數字」。原本那個「可避免 5–13 人」是建立在移交後八成五自動結案上的,那條線拿掉後它就不成立;與其換個算法硬留一個數字,不如當場說它第 16 週才算得出來 —— 委員會看到的是一個先幫他們算好帳、並把喊停權力交回去的人。🔴 2026-08-16 Kenny 審第 11 頁前的四項修正:①標題「錢主要花在人身上,**不是機器**」是替委員下結論 —— 而那是表格自己會說的話(人 7.0–7.9 萬 vs 機器 1.4–1.8 萬)。改成把兩個數字擺出來,結論讓他們自己得。②機器那一列的註記塞了兩筆不同的錢(採購價 1.4–1.8 萬 + 三年總花費 2.9–5.2 萬),而值欄只印採購價 —— 被問「到底多少錢」時要在同一格裡挑。**三年總花費獨立一列**。③🔴「已經想到、但還沒估價的五項」原本排最後、灰字、沒標記。那是全片最誠實的一格:委員自己發現「你漏了雲端運算」是致命,主動講是加分。→ 往上提到「不做這件事會怎樣」之前,並標紅。④三張卡的前兩張是**請求**、第三張是**交付物**,並排看起來像三個請求。前兩張加 ①② 編號成對,第三張的徽章「誠實收尾」是把修辭功能寫上片(備忘錄腔),改成「不是承諾,是交付物」。🔴 Kenny:「你這個字要不要改一下,這樣很像命令委員」—— 對。第 11 頁四處用「請**你**核准」「**你**手上會多三樣」,而第 6、9 頁用的是「各位」。對一個委員會,「你」既是命令口氣也不一致。全部改成「各位」。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【第 12 頁 · 參考文獻(不佔十頁額度)】　目標 0 秒 · 累計 12:21</a:t>
            </a:r>
          </a:p>
          <a:p>
            <a:endParaRPr/>
          </a:p>
          <a:p>
            <a:r>
              <a:t>★ (不出聲)第 11 頁最後一句講完停 2 秒再切到這頁,停 3 秒收。</a:t>
            </a:r>
          </a:p>
          <a:p>
            <a:endParaRPr/>
          </a:p>
          <a:p>
            <a:r>
              <a:t>⚠️ 🚫 **這一頁不要出聲** —— 全片最後一個聲音必須是第 11 頁那句「六個月後各位手上會多三樣」</a:t>
            </a:r>
          </a:p>
          <a:p>
            <a:r>
              <a:t>⚠️ 這一頁不佔十頁額度;停 3 秒讓評分者看得到書目就可以結束錄影</a:t>
            </a:r>
          </a:p>
          <a:p>
            <a:endParaRPr/>
          </a:p>
          <a:p>
            <a:r>
              <a:t>→ 換下一頁</a:t>
            </a:r>
          </a:p>
          <a:p>
            <a:endParaRPr/>
          </a:p>
          <a:p>
            <a:r>
              <a:t>── 逐字備援 · 0 字(忘詞才看,不是拿來唸的)──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0120" y="1188720"/>
            <a:ext cx="9814255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F4E79"/>
                </a:solidFill>
                <a:latin typeface="Microsoft JhengHei"/>
              </a:rPr>
              <a:t>讓機器讀懂事件的完整脈絡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359152"/>
            <a:ext cx="9814255" cy="3474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 dirty="0" err="1">
                <a:solidFill>
                  <a:srgbClr val="16212E"/>
                </a:solidFill>
                <a:latin typeface="Microsoft JhengHei"/>
              </a:rPr>
              <a:t>地端</a:t>
            </a:r>
            <a:r>
              <a:rPr sz="2000" b="0" dirty="0">
                <a:solidFill>
                  <a:srgbClr val="16212E"/>
                </a:solidFill>
                <a:latin typeface="Microsoft JhengHei"/>
              </a:rPr>
              <a:t> AI </a:t>
            </a:r>
            <a:r>
              <a:rPr sz="2000" b="0" dirty="0" err="1">
                <a:solidFill>
                  <a:srgbClr val="16212E"/>
                </a:solidFill>
                <a:latin typeface="Microsoft JhengHei"/>
              </a:rPr>
              <a:t>事件判讀</a:t>
            </a:r>
            <a:r>
              <a:rPr sz="2000" b="0" dirty="0">
                <a:solidFill>
                  <a:srgbClr val="16212E"/>
                </a:solidFill>
                <a:latin typeface="Microsoft JhengHei"/>
              </a:rPr>
              <a:t> —— </a:t>
            </a:r>
            <a:r>
              <a:rPr sz="2000" b="0" dirty="0" err="1">
                <a:solidFill>
                  <a:srgbClr val="16212E"/>
                </a:solidFill>
                <a:latin typeface="Microsoft JhengHei"/>
              </a:rPr>
              <a:t>六個月提案計畫</a:t>
            </a:r>
            <a:endParaRPr sz="2000" b="0" dirty="0">
              <a:solidFill>
                <a:srgbClr val="16212E"/>
              </a:solidFill>
              <a:latin typeface="Microsoft JhengHe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60120" y="3017520"/>
            <a:ext cx="2926080" cy="32004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3291840"/>
            <a:ext cx="9814255" cy="312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dirty="0" err="1">
                <a:solidFill>
                  <a:srgbClr val="E8833A"/>
                </a:solidFill>
                <a:latin typeface="Microsoft JhengHei"/>
              </a:rPr>
              <a:t>一個車隊</a:t>
            </a:r>
            <a:r>
              <a:rPr sz="1800" b="1" dirty="0">
                <a:solidFill>
                  <a:srgbClr val="E8833A"/>
                </a:solidFill>
                <a:latin typeface="Microsoft JhengHei"/>
              </a:rPr>
              <a:t>,</a:t>
            </a:r>
            <a:r>
              <a:rPr lang="zh-TW" altLang="en-US" sz="1800" b="1" dirty="0">
                <a:solidFill>
                  <a:srgbClr val="E8833A"/>
                </a:solidFill>
                <a:latin typeface="Microsoft JhengHei"/>
              </a:rPr>
              <a:t> </a:t>
            </a:r>
            <a:r>
              <a:rPr sz="1800" b="1" dirty="0" err="1">
                <a:solidFill>
                  <a:srgbClr val="E8833A"/>
                </a:solidFill>
                <a:latin typeface="Microsoft JhengHei"/>
              </a:rPr>
              <a:t>五個人看完三千支影片</a:t>
            </a:r>
            <a:r>
              <a:rPr sz="1800" b="1" dirty="0">
                <a:solidFill>
                  <a:srgbClr val="E8833A"/>
                </a:solidFill>
                <a:latin typeface="Microsoft JhengHei"/>
              </a:rPr>
              <a:t>;</a:t>
            </a:r>
            <a:r>
              <a:rPr lang="zh-TW" altLang="en-US" sz="1800" b="1" dirty="0">
                <a:solidFill>
                  <a:srgbClr val="E8833A"/>
                </a:solidFill>
                <a:latin typeface="Microsoft JhengHei"/>
              </a:rPr>
              <a:t> </a:t>
            </a:r>
            <a:r>
              <a:rPr sz="1800" b="1" dirty="0" err="1">
                <a:solidFill>
                  <a:srgbClr val="E8833A"/>
                </a:solidFill>
                <a:latin typeface="Microsoft JhengHei"/>
              </a:rPr>
              <a:t>而客戶要的答案</a:t>
            </a:r>
            <a:r>
              <a:rPr sz="1800" b="1" dirty="0">
                <a:solidFill>
                  <a:srgbClr val="E8833A"/>
                </a:solidFill>
                <a:latin typeface="Microsoft JhengHei"/>
              </a:rPr>
              <a:t>,</a:t>
            </a:r>
            <a:r>
              <a:rPr lang="zh-TW" altLang="en-US" sz="1800" b="1" dirty="0">
                <a:solidFill>
                  <a:srgbClr val="E8833A"/>
                </a:solidFill>
                <a:latin typeface="Microsoft JhengHei"/>
              </a:rPr>
              <a:t> </a:t>
            </a:r>
            <a:r>
              <a:rPr sz="1800" b="1" dirty="0" err="1">
                <a:solidFill>
                  <a:srgbClr val="E8833A"/>
                </a:solidFill>
                <a:latin typeface="Microsoft JhengHei"/>
              </a:rPr>
              <a:t>兩天內</a:t>
            </a:r>
            <a:r>
              <a:rPr sz="1800" b="1" dirty="0">
                <a:solidFill>
                  <a:srgbClr val="E8833A"/>
                </a:solidFill>
                <a:latin typeface="Microsoft JhengHei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895344"/>
            <a:ext cx="9814255" cy="10134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dirty="0" err="1">
                <a:solidFill>
                  <a:srgbClr val="6B7885"/>
                </a:solidFill>
                <a:latin typeface="Microsoft JhengHei"/>
              </a:rPr>
              <a:t>我們客戶是車隊,包含物流</a:t>
            </a:r>
            <a:r>
              <a:rPr sz="1300" b="0" dirty="0">
                <a:solidFill>
                  <a:srgbClr val="6B7885"/>
                </a:solidFill>
                <a:latin typeface="Microsoft JhengHei"/>
              </a:rPr>
              <a:t> · </a:t>
            </a:r>
            <a:r>
              <a:rPr sz="1300" b="0" dirty="0" err="1">
                <a:solidFill>
                  <a:srgbClr val="6B7885"/>
                </a:solidFill>
                <a:latin typeface="Microsoft JhengHei"/>
              </a:rPr>
              <a:t>客運</a:t>
            </a:r>
            <a:r>
              <a:rPr sz="1300" b="0" dirty="0">
                <a:solidFill>
                  <a:srgbClr val="6B7885"/>
                </a:solidFill>
                <a:latin typeface="Microsoft JhengHei"/>
              </a:rPr>
              <a:t> · </a:t>
            </a:r>
            <a:r>
              <a:rPr sz="1300" b="0" dirty="0" err="1">
                <a:solidFill>
                  <a:srgbClr val="6B7885"/>
                </a:solidFill>
                <a:latin typeface="Microsoft JhengHei"/>
              </a:rPr>
              <a:t>礦業</a:t>
            </a:r>
            <a:r>
              <a:rPr sz="1300" b="0" dirty="0">
                <a:solidFill>
                  <a:srgbClr val="6B7885"/>
                </a:solidFill>
                <a:latin typeface="Microsoft JhengHei"/>
              </a:rPr>
              <a:t>;</a:t>
            </a:r>
            <a:r>
              <a:rPr lang="zh-TW" altLang="en-US" sz="1300" b="0" dirty="0">
                <a:solidFill>
                  <a:srgbClr val="6B7885"/>
                </a:solidFill>
                <a:latin typeface="Microsoft JhengHei"/>
              </a:rPr>
              <a:t> </a:t>
            </a:r>
            <a:r>
              <a:rPr sz="1300" b="0">
                <a:solidFill>
                  <a:srgbClr val="6B7885"/>
                </a:solidFill>
                <a:latin typeface="Microsoft JhengHei"/>
              </a:rPr>
              <a:t>車上裝我們的鏡頭</a:t>
            </a:r>
            <a:endParaRPr sz="1300" b="0" dirty="0">
              <a:solidFill>
                <a:srgbClr val="6B7885"/>
              </a:solidFill>
              <a:latin typeface="Microsoft JhengHei"/>
            </a:endParaRPr>
          </a:p>
          <a:p>
            <a:pPr algn="l">
              <a:lnSpc>
                <a:spcPct val="130000"/>
              </a:lnSpc>
            </a:pPr>
            <a:r>
              <a:rPr sz="1300" b="0" dirty="0" err="1">
                <a:solidFill>
                  <a:srgbClr val="6B7885"/>
                </a:solidFill>
                <a:latin typeface="Microsoft JhengHei"/>
              </a:rPr>
              <a:t>鏡頭偵測到一次危險駕駛</a:t>
            </a:r>
            <a:r>
              <a:rPr sz="1300" b="0" dirty="0">
                <a:solidFill>
                  <a:srgbClr val="6B7885"/>
                </a:solidFill>
                <a:latin typeface="Microsoft JhengHei"/>
              </a:rPr>
              <a:t> → </a:t>
            </a:r>
            <a:r>
              <a:rPr sz="1300" b="0" dirty="0" err="1">
                <a:solidFill>
                  <a:srgbClr val="6B7885"/>
                </a:solidFill>
                <a:latin typeface="Microsoft JhengHei"/>
              </a:rPr>
              <a:t>記一筆「事件</a:t>
            </a:r>
            <a:r>
              <a:rPr sz="1300" b="0" dirty="0">
                <a:solidFill>
                  <a:srgbClr val="6B7885"/>
                </a:solidFill>
                <a:latin typeface="Microsoft JhengHei"/>
              </a:rPr>
              <a:t>」(</a:t>
            </a:r>
            <a:r>
              <a:rPr sz="1300" b="0" dirty="0" err="1">
                <a:solidFill>
                  <a:srgbClr val="6B7885"/>
                </a:solidFill>
                <a:latin typeface="Microsoft JhengHei"/>
              </a:rPr>
              <a:t>影片</a:t>
            </a:r>
            <a:r>
              <a:rPr sz="1300" b="0" dirty="0">
                <a:solidFill>
                  <a:srgbClr val="6B7885"/>
                </a:solidFill>
                <a:latin typeface="Microsoft JhengHei"/>
              </a:rPr>
              <a:t> + </a:t>
            </a:r>
            <a:r>
              <a:rPr sz="1300" b="0" dirty="0" err="1">
                <a:solidFill>
                  <a:srgbClr val="6B7885"/>
                </a:solidFill>
                <a:latin typeface="Microsoft JhengHei"/>
              </a:rPr>
              <a:t>時間地點</a:t>
            </a:r>
            <a:r>
              <a:rPr sz="1300" b="0" dirty="0">
                <a:solidFill>
                  <a:srgbClr val="6B7885"/>
                </a:solidFill>
                <a:latin typeface="Microsoft JhengHei"/>
              </a:rPr>
              <a:t> + </a:t>
            </a:r>
            <a:r>
              <a:rPr sz="1300" b="0" dirty="0" err="1">
                <a:solidFill>
                  <a:srgbClr val="6B7885"/>
                </a:solidFill>
                <a:latin typeface="Microsoft JhengHei"/>
              </a:rPr>
              <a:t>系統分類</a:t>
            </a:r>
            <a:r>
              <a:rPr sz="1300" b="0" dirty="0">
                <a:solidFill>
                  <a:srgbClr val="6B7885"/>
                </a:solidFill>
                <a:latin typeface="Microsoft JhengHei"/>
              </a:rPr>
              <a:t>)</a:t>
            </a:r>
          </a:p>
          <a:p>
            <a:pPr algn="l">
              <a:lnSpc>
                <a:spcPct val="130000"/>
              </a:lnSpc>
            </a:pPr>
            <a:r>
              <a:rPr sz="1300" b="0" dirty="0" err="1">
                <a:solidFill>
                  <a:srgbClr val="6B7885"/>
                </a:solidFill>
                <a:latin typeface="Microsoft JhengHei"/>
              </a:rPr>
              <a:t>客戶回頭說「這筆</a:t>
            </a:r>
            <a:r>
              <a:rPr sz="1300" b="0" dirty="0">
                <a:solidFill>
                  <a:srgbClr val="6B7885"/>
                </a:solidFill>
                <a:latin typeface="Microsoft JhengHei"/>
              </a:rPr>
              <a:t> AI </a:t>
            </a:r>
            <a:r>
              <a:rPr sz="1300" b="0" dirty="0" err="1">
                <a:solidFill>
                  <a:srgbClr val="6B7885"/>
                </a:solidFill>
                <a:latin typeface="Microsoft JhengHei"/>
              </a:rPr>
              <a:t>判錯了</a:t>
            </a:r>
            <a:r>
              <a:rPr sz="1300" b="0" dirty="0">
                <a:solidFill>
                  <a:srgbClr val="6B7885"/>
                </a:solidFill>
                <a:latin typeface="Microsoft JhengHei"/>
              </a:rPr>
              <a:t>」= </a:t>
            </a:r>
            <a:r>
              <a:rPr sz="1300" b="0" dirty="0" err="1">
                <a:solidFill>
                  <a:srgbClr val="6B7885"/>
                </a:solidFill>
                <a:latin typeface="Microsoft JhengHei"/>
              </a:rPr>
              <a:t>一次「爭議</a:t>
            </a:r>
            <a:r>
              <a:rPr sz="1300" b="0" dirty="0">
                <a:solidFill>
                  <a:srgbClr val="6B7885"/>
                </a:solidFill>
                <a:latin typeface="Microsoft JhengHei"/>
              </a:rPr>
              <a:t>」—— </a:t>
            </a:r>
            <a:r>
              <a:rPr sz="1300" b="0" dirty="0" err="1">
                <a:solidFill>
                  <a:srgbClr val="6B7885"/>
                </a:solidFill>
                <a:latin typeface="Microsoft JhengHei"/>
              </a:rPr>
              <a:t>由人重看影片才判得出來</a:t>
            </a:r>
            <a:endParaRPr sz="1300" b="0" dirty="0">
              <a:solidFill>
                <a:srgbClr val="6B7885"/>
              </a:solidFill>
              <a:latin typeface="Microsoft JhengHei"/>
            </a:endParaRPr>
          </a:p>
          <a:p>
            <a:pPr algn="l">
              <a:lnSpc>
                <a:spcPct val="130000"/>
              </a:lnSpc>
            </a:pPr>
            <a:r>
              <a:rPr sz="1300" b="0" dirty="0" err="1">
                <a:solidFill>
                  <a:srgbClr val="6B7885"/>
                </a:solidFill>
                <a:latin typeface="Microsoft JhengHei"/>
              </a:rPr>
              <a:t>單一大型車隊約</a:t>
            </a:r>
            <a:r>
              <a:rPr sz="1300" b="0" dirty="0">
                <a:solidFill>
                  <a:srgbClr val="6B7885"/>
                </a:solidFill>
                <a:latin typeface="Microsoft JhengHei"/>
              </a:rPr>
              <a:t> 3,000 </a:t>
            </a:r>
            <a:r>
              <a:rPr sz="1300" b="0" dirty="0" err="1">
                <a:solidFill>
                  <a:srgbClr val="6B7885"/>
                </a:solidFill>
                <a:latin typeface="Microsoft JhengHei"/>
              </a:rPr>
              <a:t>筆事件</a:t>
            </a:r>
            <a:r>
              <a:rPr sz="1300" b="0" dirty="0">
                <a:solidFill>
                  <a:srgbClr val="6B7885"/>
                </a:solidFill>
                <a:latin typeface="Microsoft JhengHei"/>
              </a:rPr>
              <a:t>/天 · </a:t>
            </a:r>
            <a:r>
              <a:rPr sz="1300" b="0" dirty="0" err="1">
                <a:solidFill>
                  <a:srgbClr val="6B7885"/>
                </a:solidFill>
                <a:latin typeface="Microsoft JhengHei"/>
              </a:rPr>
              <a:t>部門僅</a:t>
            </a:r>
            <a:r>
              <a:rPr sz="1300" b="0" dirty="0">
                <a:solidFill>
                  <a:srgbClr val="6B7885"/>
                </a:solidFill>
                <a:latin typeface="Microsoft JhengHei"/>
              </a:rPr>
              <a:t> 5 </a:t>
            </a:r>
            <a:r>
              <a:rPr sz="1300" b="0" dirty="0" err="1">
                <a:solidFill>
                  <a:srgbClr val="6B7885"/>
                </a:solidFill>
                <a:latin typeface="Microsoft JhengHei"/>
              </a:rPr>
              <a:t>位專職分析人員逐筆看,而客戶還在持續增長</a:t>
            </a:r>
            <a:endParaRPr sz="1300" b="0" dirty="0">
              <a:solidFill>
                <a:srgbClr val="6B7885"/>
              </a:solidFill>
              <a:latin typeface="Microsoft Jheng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" y="5084064"/>
            <a:ext cx="7939735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6212E"/>
                </a:solidFill>
                <a:latin typeface="Microsoft JhengHei"/>
              </a:rPr>
              <a:t>Po-Kai Huang(學號 26254793)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6212E"/>
                </a:solidFill>
                <a:latin typeface="Microsoft JhengHei"/>
              </a:rPr>
              <a:t>421104 Artificial Intelligence for Enterprises · Assessment 3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6212E"/>
                </a:solidFill>
                <a:latin typeface="Microsoft JhengHei"/>
              </a:rPr>
              <a:t>2026 年 8 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6217920"/>
            <a:ext cx="93113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The company name has been changed for commercial in confidence reasons.　內部數字均標示為假設或推算量級,並於各頁附推算方式。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8833A"/>
                </a:solidFill>
                <a:latin typeface="Microsoft JhengHei"/>
              </a:rPr>
              <a:t>介紹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1030407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4E79"/>
                </a:solidFill>
                <a:latin typeface="Microsoft JhengHei"/>
              </a:rPr>
              <a:t>自動化停在第二關,剩下的全由 5 個人逐筆看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10304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885"/>
                </a:solidFill>
                <a:latin typeface="Microsoft JhengHei"/>
              </a:rPr>
              <a:t>Edge AI → Server AI 兩段已自動化;停在第三關的人工複核 —— 一個車隊一天就吃掉 5 個人的產能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17904"/>
            <a:ext cx="10874959" cy="320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364327" cy="20951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1883664"/>
            <a:ext cx="514487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6212E"/>
                </a:solidFill>
                <a:latin typeface="Microsoft JhengHei"/>
              </a:rPr>
              <a:t>前端 · Edge AI ↔ Server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23895" y="2505456"/>
            <a:ext cx="1033271" cy="27432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23895" y="2505456"/>
            <a:ext cx="103327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① 已自動化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889503"/>
            <a:ext cx="5144871" cy="8332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車機 Edge AI 初判 → Server AI 複判</a:t>
            </a: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判定屬實 → 回傳裝置向駕駛警示</a:t>
            </a: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自動化到這裡就停了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8999" y="1755648"/>
            <a:ext cx="5364327" cy="20951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E88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78727" y="1883664"/>
            <a:ext cx="514487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6212E"/>
                </a:solidFill>
                <a:latin typeface="Microsoft JhengHei"/>
              </a:rPr>
              <a:t>人工複核防線 · 5 位專職分析人員 · 逐筆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58327" y="2505456"/>
            <a:ext cx="1185672" cy="274320"/>
          </a:xfrm>
          <a:prstGeom prst="roundRect">
            <a:avLst>
              <a:gd name="adj" fmla="val 6000"/>
            </a:avLst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58327" y="2505456"/>
            <a:ext cx="1185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② 沒有自動化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8727" y="2889503"/>
            <a:ext cx="5144871" cy="8332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客戶回頭說「這筆 AI 判錯了」= 一次爭議(約 5–10%)</a:t>
            </a: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每一筆:打開事件檔 → 看 AI 當時依什麼判 → 回信</a:t>
            </a: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分兩種:客戶誤解規格 vs 真誤報,約 2:8〔概估,第 6 週匯總〕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978783"/>
            <a:ext cx="4692243" cy="14916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4125087"/>
            <a:ext cx="439963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F4E79"/>
                </a:solidFill>
                <a:latin typeface="Microsoft JhengHei"/>
              </a:rPr>
              <a:t>① 例行批次複核 · 全量,每一筆都看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618863"/>
            <a:ext cx="4399635" cy="668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3,000 筆 × 20 秒 = 16.7 人時/天</a:t>
            </a:r>
          </a:p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營運端的實務估計,尚未以計時量測驗證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24931" y="3978783"/>
            <a:ext cx="4692243" cy="14916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71235" y="4125087"/>
            <a:ext cx="439963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F4E79"/>
                </a:solidFill>
                <a:latin typeface="Microsoft JhengHei"/>
              </a:rPr>
              <a:t>② 客戶爭議 · 再打開深看第二次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71235" y="4618863"/>
            <a:ext cx="4399635" cy="668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150–300 筆 × 5.25 分 = 13.1–26.2 人時/天</a:t>
            </a:r>
          </a:p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由一次實際判讀反推;單一批次,非長期平均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543550"/>
            <a:ext cx="9658807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6212E"/>
                </a:solidFill>
                <a:latin typeface="Microsoft JhengHei"/>
              </a:rPr>
              <a:t>合計 29.8–42.9 人時/天　vs　產能 40 人時/天(5 人 × 8 小時)—— 上緣已超過,而這只是一個客戶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064758"/>
            <a:ext cx="45720" cy="38176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2" y="6037326"/>
            <a:ext cx="2116945" cy="4732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本案要建的 AI 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6481" y="6037326"/>
            <a:ext cx="2787914" cy="4732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C00000"/>
                </a:solidFill>
                <a:latin typeface="Microsoft JhengHei"/>
              </a:rPr>
              <a:t>讀懂一次事件的完整脈絡:影片 + 客戶問題 + 規則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74123" y="6037326"/>
            <a:ext cx="4333323" cy="4732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慢的成因是證據不在畫面裡,而要建的能力正是把畫面外的東西讀進來;全客戶 13,000+ 筆/天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8833A"/>
                </a:solidFill>
                <a:latin typeface="Microsoft JhengHei"/>
              </a:rPr>
              <a:t>AI 機會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1030407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4E79"/>
                </a:solidFill>
                <a:latin typeface="Microsoft JhengHei"/>
              </a:rPr>
              <a:t>最花時間的兩段佔 50%–88%,把它自動化 → 爭議回覆目標 2 天內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10304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885"/>
                </a:solidFill>
                <a:latin typeface="Microsoft JhengHei"/>
              </a:rPr>
              <a:t>導入「爭議回覆自動化」(第 8–16 週的工作包):機器做分析給出事實結果,人工審閱並給出內部覆核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17904"/>
            <a:ext cx="10874959" cy="320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755648"/>
            <a:ext cx="10874959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6212E"/>
                </a:solidFill>
                <a:latin typeface="Microsoft JhengHei"/>
              </a:rPr>
              <a:t>單件客戶爭議的五段時間拆解(合計 2.0–5.0 天)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194560"/>
            <a:ext cx="1527381" cy="566928"/>
          </a:xfrm>
          <a:prstGeom prst="rect">
            <a:avLst/>
          </a:prstGeom>
          <a:solidFill>
            <a:srgbClr val="DCE3E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2240279"/>
            <a:ext cx="152738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16212E"/>
                </a:solidFill>
                <a:latin typeface="Microsoft JhengHei"/>
              </a:rPr>
              <a:t>等待 / 排隊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478024"/>
            <a:ext cx="152738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0–1 天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85749" y="2194560"/>
            <a:ext cx="1527381" cy="566928"/>
          </a:xfrm>
          <a:prstGeom prst="rect">
            <a:avLst/>
          </a:prstGeom>
          <a:solidFill>
            <a:srgbClr val="1F4E7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185749" y="2240279"/>
            <a:ext cx="152738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撈數據(找證據)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85749" y="2478024"/>
            <a:ext cx="152738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FFFFFF"/>
                </a:solidFill>
                <a:latin typeface="Microsoft JhengHei"/>
              </a:rPr>
              <a:t>0.5 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13131" y="2194560"/>
            <a:ext cx="6109527" cy="566928"/>
          </a:xfrm>
          <a:prstGeom prst="rect">
            <a:avLst/>
          </a:prstGeom>
          <a:solidFill>
            <a:srgbClr val="1F4E7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13131" y="2240279"/>
            <a:ext cx="610952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判讀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3131" y="2478024"/>
            <a:ext cx="610952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FFFFFF"/>
                </a:solidFill>
                <a:latin typeface="Microsoft JhengHei"/>
              </a:rPr>
              <a:t>1–3 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22659" y="2194560"/>
            <a:ext cx="855333" cy="566928"/>
          </a:xfrm>
          <a:prstGeom prst="rect">
            <a:avLst/>
          </a:prstGeom>
          <a:solidFill>
            <a:srgbClr val="DCE3E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22659" y="2240279"/>
            <a:ext cx="85533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16212E"/>
                </a:solidFill>
                <a:latin typeface="Microsoft JhengHei"/>
              </a:rPr>
              <a:t>內部覆核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22659" y="2478024"/>
            <a:ext cx="85533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0.25 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677993" y="2194560"/>
            <a:ext cx="855333" cy="566928"/>
          </a:xfrm>
          <a:prstGeom prst="rect">
            <a:avLst/>
          </a:prstGeom>
          <a:solidFill>
            <a:srgbClr val="DCE3E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677993" y="2240279"/>
            <a:ext cx="85533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16212E"/>
                </a:solidFill>
                <a:latin typeface="Microsoft JhengHei"/>
              </a:rPr>
              <a:t>寫報告回信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77993" y="2478024"/>
            <a:ext cx="85533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0.25 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85749" y="2852928"/>
            <a:ext cx="7636909" cy="274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185749" y="2944368"/>
            <a:ext cx="7636909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F4E79"/>
                </a:solidFill>
                <a:latin typeface="Microsoft JhengHei"/>
              </a:rPr>
              <a:t>AI 能壓縮的段:撈數據 + 判讀 = 1.5–3.5 天 = 全程的 50%–87.5%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3419856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合計 2.0–5.0 天;50%–87.5% 由五段各自取端點求得。非 AI 段只佔 12.5%–50%,而排隊本身只有 0–1 天 —— 那是排班解得掉的唯一一段。⚠ 這五段天數是營運端的估計,不是計時量測;前六週交出正式量測,若正式拆解推翻它,本案轉排班方案(第 6 週那個喊停點判)。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849624"/>
            <a:ext cx="45720" cy="32146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4672" y="3822191"/>
            <a:ext cx="2408822" cy="4129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導入什麼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68358" y="3822191"/>
            <a:ext cx="2976753" cy="4129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4E79"/>
                </a:solidFill>
                <a:latin typeface="Microsoft JhengHei"/>
              </a:rPr>
              <a:t>自動證據包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4839" y="3822191"/>
            <a:ext cx="5068759" cy="4129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讀 影片 + 客戶問題 + 規則,產出可讀描述並標出引用的證據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353972"/>
            <a:ext cx="45720" cy="32146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4672" y="4326540"/>
            <a:ext cx="2408822" cy="4129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怎麼導入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68358" y="4326540"/>
            <a:ext cx="2976753" cy="4129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4E79"/>
                </a:solidFill>
                <a:latin typeface="Microsoft JhengHei"/>
              </a:rPr>
              <a:t>爭議回覆自動化 · 第 8–16 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4839" y="4326540"/>
            <a:ext cx="5068759" cy="4129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對 100% 案件成立;機器做分析給出事實結果,人工審閱並給出內部覆核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858321"/>
            <a:ext cx="45720" cy="32146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4672" y="4830889"/>
            <a:ext cx="2408822" cy="4129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導入之後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68358" y="4830889"/>
            <a:ext cx="2976753" cy="4129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C00000"/>
                </a:solidFill>
                <a:latin typeface="Microsoft JhengHei"/>
              </a:rPr>
              <a:t>爭議回覆 2–5 天 → 目標 2 天內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4839" y="4830889"/>
            <a:ext cx="5068759" cy="4129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〔提案目標,未簽協議〕第 16 週後量測;一半靠證據包,一半靠誤報量下降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463254"/>
            <a:ext cx="9658807" cy="638651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1247" y="5463254"/>
            <a:ext cx="9293047" cy="6386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FFFFFF"/>
                </a:solidFill>
                <a:latin typeface="Microsoft JhengHei"/>
              </a:rPr>
              <a:t>導入後同一批爭議:人的時間從「找證據」換成「下判斷」—— 找證據機器快,下判斷只有人能做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8833A"/>
                </a:solidFill>
                <a:latin typeface="Microsoft JhengHei"/>
              </a:rPr>
              <a:t>AI 機會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1030407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4E79"/>
                </a:solidFill>
                <a:latin typeface="Microsoft JhengHei"/>
              </a:rPr>
              <a:t>AI 現在判錯的兩個原因 —— 一個缺脈絡,一個缺判準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10304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885"/>
                </a:solidFill>
                <a:latin typeface="Microsoft JhengHei"/>
              </a:rPr>
              <a:t>數值已從樣本(4 台車 · 23 個工作天 · 1,647 筆)同比例放大到一個 30 台的小車隊;比例能不能代表 30 台,前六週驗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17904"/>
            <a:ext cx="10874959" cy="320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55648"/>
          <a:ext cx="10874958" cy="292464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09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2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324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一個 30 台的小車隊 · 每月(23 工作天)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ADAS · 行車輔助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DMS · 駕駛監控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8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12E"/>
                          </a:solidFill>
                          <a:latin typeface="Microsoft JhengHei"/>
                        </a:rPr>
                        <a:t>事件量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7,718 筆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4,635 筆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8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00000"/>
                          </a:solidFill>
                          <a:latin typeface="Microsoft JhengHei"/>
                        </a:rPr>
                        <a:t>其中誤報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780 筆(10.1%)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150 筆(3.2%)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8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12E"/>
                          </a:solidFill>
                          <a:latin typeface="Microsoft JhengHei"/>
                        </a:rPr>
                        <a:t>人工判定為正確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89.9%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96.8%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8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12E"/>
                          </a:solidFill>
                          <a:latin typeface="Microsoft JhengHei"/>
                        </a:rPr>
                        <a:t>假判錯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客戶不懂判定邏輯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客戶不懂判定邏輯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8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12E"/>
                          </a:solidFill>
                          <a:latin typeface="Microsoft JhengHei"/>
                        </a:rPr>
                        <a:t>真判錯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速限數值錯判 · 車前陰影光影 · 前車物體錯判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駕駛行為因光線誤判 · 物件誤判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38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00000"/>
                          </a:solidFill>
                          <a:latin typeface="Microsoft JhengHei"/>
                        </a:rPr>
                        <a:t>🔴 要補的是「畫面外」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速限→讀進地圖資料;光影/物體→更強的視覺模型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光線/物件→更強的視覺模型;判準→先統一標註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58368" y="4762595"/>
            <a:ext cx="45720" cy="32146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4735163"/>
            <a:ext cx="2408822" cy="4129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全部誤報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68358" y="4735163"/>
            <a:ext cx="2891028" cy="4129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4E79"/>
                </a:solidFill>
                <a:latin typeface="Microsoft JhengHei"/>
              </a:rPr>
              <a:t>930 筆/月(每天 40 筆)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9114" y="4735163"/>
            <a:ext cx="5154484" cy="4129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行車輔助 780 + 駕駛監控 150;月事件 12,352 筆、每天 537 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5266944"/>
            <a:ext cx="45720" cy="32146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5239512"/>
            <a:ext cx="2408822" cy="4129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同一個根因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8358" y="5239512"/>
            <a:ext cx="2891028" cy="4129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C00000"/>
                </a:solidFill>
                <a:latin typeface="Microsoft JhengHei"/>
              </a:rPr>
              <a:t>交通標誌辨識 772 筆/月 = 83%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9114" y="5239512"/>
            <a:ext cx="5154484" cy="4129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樣本原值 103 / 124;同比例放大不改變比例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871876"/>
            <a:ext cx="9658807" cy="638651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7" y="5871876"/>
            <a:ext cx="9293047" cy="6386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FFFFFF"/>
                </a:solidFill>
                <a:latin typeface="Microsoft JhengHei"/>
              </a:rPr>
              <a:t>八成三的誤報,錯在同一件事:答案不在畫面裡 —— 那面牌模型讀不到,但速限資料公司手上就有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8833A"/>
                </a:solidFill>
                <a:latin typeface="Microsoft JhengHei"/>
              </a:rPr>
              <a:t>AI 機會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1030407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4E79"/>
                </a:solidFill>
                <a:latin typeface="Microsoft JhengHei"/>
              </a:rPr>
              <a:t>兩台設備、兩層模型各自常駐 —— 撐到全客戶的量,再上去要第三台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10304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885"/>
                </a:solidFill>
                <a:latin typeface="Microsoft JhengHei"/>
              </a:rPr>
              <a:t>NVIDIA DGX Spark × 2 · 各 128 GB 統一記憶體 · A$14,200–17,700;瓶頸不是算力,是 273 GB/s 的記憶體頻寬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17904"/>
            <a:ext cx="10874959" cy="320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55648"/>
          <a:ext cx="10874959" cy="20848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924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1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12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① 篩檢台 · 全量掃過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② 深挖台 · 只跑爭議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12E"/>
                          </a:solidFill>
                          <a:latin typeface="Microsoft JhengHei"/>
                        </a:rPr>
                        <a:t>常駐模型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Qwen3.5 122B-A10B(4-bit)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Qwen2.5-VL 72B(8-bit)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12E"/>
                          </a:solidFill>
                          <a:latin typeface="Microsoft JhengHei"/>
                        </a:rPr>
                        <a:t>為什麼是它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MoE 只活化 10B,算得快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保留較多細節,讀得到小字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00000"/>
                          </a:solidFill>
                          <a:latin typeface="Microsoft JhengHei"/>
                        </a:rPr>
                        <a:t>這一台只做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決定「這筆要不要深看」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讀交通標誌,產出證據包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12E"/>
                          </a:solidFill>
                          <a:latin typeface="Microsoft JhengHei"/>
                        </a:rPr>
                        <a:t>解析度 · 抽幀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640×360 · 1 FPS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1080p · 1 FPS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12E"/>
                          </a:solidFill>
                          <a:latin typeface="Microsoft JhengHei"/>
                        </a:rPr>
                        <a:t>每筆(推算)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約 3.4 秒(Batch=8)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約 62 秒(Batch=4)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00000"/>
                          </a:solidFill>
                          <a:latin typeface="Microsoft JhengHei"/>
                        </a:rPr>
                        <a:t>一個車隊一天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3,000 筆 → 2.8 小時(佔 12%)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150–300 筆 → 2.6–5.1 小時(佔 11–21%)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58368" y="3995928"/>
            <a:ext cx="45720" cy="32146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3968496"/>
            <a:ext cx="2408822" cy="4129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為什麼兩台不是一台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68358" y="3968496"/>
            <a:ext cx="2910078" cy="4129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C00000"/>
                </a:solidFill>
                <a:latin typeface="Microsoft JhengHei"/>
              </a:rPr>
              <a:t>兩個模型各佔約 75 GB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8164" y="3968496"/>
            <a:ext cx="5135434" cy="4129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一台只有 128 GB,兩個模型得輪流載入;兩台就各自常駐,不用換載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500276"/>
            <a:ext cx="45720" cy="32146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4472844"/>
            <a:ext cx="2408822" cy="4129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為什麼分兩層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8358" y="4472844"/>
            <a:ext cx="2910078" cy="4129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4E79"/>
                </a:solidFill>
                <a:latin typeface="Microsoft JhengHei"/>
              </a:rPr>
              <a:t>讀小字要高解析度,高解析度就慢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8164" y="4472844"/>
            <a:ext cx="5135434" cy="4129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篩檢不讀小字,只挑出要深看的;讀小字只花在爭議那 5–10%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004625"/>
            <a:ext cx="45720" cy="32146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4977193"/>
            <a:ext cx="2408822" cy="4129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擴到全客戶呢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8358" y="4977193"/>
            <a:ext cx="2910078" cy="4129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4E79"/>
                </a:solidFill>
                <a:latin typeface="Microsoft JhengHei"/>
              </a:rPr>
              <a:t>全客戶 13,000 筆/天:上緣 93%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8164" y="4977193"/>
            <a:ext cx="5135434" cy="4129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篩檢台 51%、深挖台 46%–93% —— 上緣已接近滿載,再上去要第三台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609558"/>
            <a:ext cx="9658807" cy="638651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7" y="5609558"/>
            <a:ext cx="9293047" cy="6386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FFFFFF"/>
                </a:solidFill>
                <a:latin typeface="Microsoft JhengHei"/>
              </a:rPr>
              <a:t>同一車隊、同一天:人 29.8–42.9 人時(產能 40)· 兩台機器各只用掉一到二成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8833A"/>
                </a:solidFill>
                <a:latin typeface="Microsoft JhengHei"/>
              </a:rPr>
              <a:t>AI 機會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1030407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4E79"/>
                </a:solidFill>
                <a:latin typeface="Microsoft JhengHei"/>
              </a:rPr>
              <a:t>三條路我都算過:差別在壓得到哪一段、成本怎麼長、能不能反悔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10304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885"/>
                </a:solidFill>
                <a:latin typeface="Microsoft JhengHei"/>
              </a:rPr>
              <a:t>同一個目標:爭議回覆 5 天壓到 2 天 —— 而慢的五到八成八在撈數據跟判讀,調班只壓得到排隊那 0–1 天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17904"/>
            <a:ext cx="10874959" cy="320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55648"/>
          <a:ext cx="10874959" cy="253174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924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06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06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06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20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做什麼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能壓到哪一段時間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量變大時成本怎麼長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能不能反悔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116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12E"/>
                          </a:solidFill>
                          <a:latin typeface="Microsoft JhengHei"/>
                        </a:rPr>
                        <a:t>① 加人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增聘複核人力,覆蓋全客戶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全段都快一點,但要 17–24 人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量幾倍,人就幾倍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停不下來,編制是常態支出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0237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12E"/>
                          </a:solidFill>
                          <a:latin typeface="Microsoft JhengHei"/>
                        </a:rPr>
                        <a:t>② 調班 + 尖峰支援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徵調的 7 位研發轉正式編組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只壓得到排隊那 0–1 天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一樣跟量走,而且是從研發挖人 —— 量越大挖越兇,其他研發進度就往後推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隨時可停,退回原班表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116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00000"/>
                          </a:solidFill>
                          <a:latin typeface="Microsoft JhengHei"/>
                        </a:rPr>
                        <a:t>③ 地端 AI 事件判讀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讀懂事件脈絡,產出證據包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壓的是撈數據 + 判讀那 50–87.5%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前期投入一次,之後量長也不等比長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三個檢查點都可以停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" y="4415409"/>
            <a:ext cx="4756251" cy="20951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4543425"/>
            <a:ext cx="453679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6212E"/>
                </a:solidFill>
                <a:latin typeface="Microsoft JhengHei"/>
              </a:rPr>
              <a:t>① 光靠加人要幾個人?算給各位看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56967" y="5165217"/>
            <a:ext cx="1559052" cy="27432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56967" y="5165217"/>
            <a:ext cx="15590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推算,不是核定編制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549265"/>
            <a:ext cx="4536795" cy="8332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一筆爭議 5.25 分鐘 · 全客戶一天 13,000 筆</a:t>
            </a: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= 129.1–185.9 人時 ÷ 8 小時 = 要 17–24 個人</a:t>
            </a: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現有 5 人一天 40 人時 → 一天的量要看 3–5 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60923" y="4415409"/>
            <a:ext cx="4756251" cy="20951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E88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70651" y="4543425"/>
            <a:ext cx="453679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6212E"/>
                </a:solidFill>
                <a:latin typeface="Microsoft JhengHei"/>
              </a:rPr>
              <a:t>事件量是浮動的 —— 第 6 週先把基準量出來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9033" y="5165217"/>
            <a:ext cx="1780032" cy="274320"/>
          </a:xfrm>
          <a:prstGeom prst="roundRect">
            <a:avLst>
              <a:gd name="adj" fmla="val 6000"/>
            </a:avLst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49033" y="5165217"/>
            <a:ext cx="17800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這一關沒過就不往下做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70651" y="5549265"/>
            <a:ext cx="4536795" cy="8332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① 現在一筆分析確切要多久 —— 用計時的,不是估的</a:t>
            </a: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② 目前維護的車隊規模 ③ 今年的成長預估</a:t>
            </a: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量出來不是「找證據」最慢 → 改做調班,後面不做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8833A"/>
                </a:solidFill>
                <a:latin typeface="Microsoft JhengHei"/>
              </a:rPr>
              <a:t>業務影響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1030407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4E79"/>
                </a:solidFill>
                <a:latin typeface="Microsoft JhengHei"/>
              </a:rPr>
              <a:t>導入 AI 會出什麼事 —— 七件事,每一件都寫了怎麼防、怎麼發現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10304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885"/>
                </a:solidFill>
                <a:latin typeface="Microsoft JhengHei"/>
              </a:rPr>
              <a:t>每一件都有一個會亮的信號 —— 沒有一件是靠「我們會小心」擋住的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17904"/>
            <a:ext cx="10874959" cy="320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55648"/>
          <a:ext cx="10874957" cy="3912293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274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8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8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8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我打算怎麼防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這個防法要付什麼代價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怎麼知道它真的發生了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這個防法有多大把握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776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00000"/>
                          </a:solidFill>
                          <a:latin typeface="Microsoft JhengHei"/>
                        </a:rPr>
                        <a:t>資料｜1 機器會判錯,但講得很順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用白話寫分析結果,並標出用到的數據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講錯的跟講對的一樣順,比錯數字難發現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複核時對一下標的數據,幻覺一眼看得出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高 · 每一筆都會對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776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00000"/>
                          </a:solidFill>
                          <a:latin typeface="Microsoft JhengHei"/>
                        </a:rPr>
                        <a:t>資料｜2 判定不一致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定期跑一組答案確定的事件,給 AI 校正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那組事件要人維護,而且要定期重跑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校正時答對率掉下來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高 · 答案是確定的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776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00000"/>
                          </a:solidFill>
                          <a:latin typeface="Microsoft JhengHei"/>
                        </a:rPr>
                        <a:t>組織｜3 機器給了判定結果,人可能照抄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介面不顯示機器的信心分數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不顯示,複核會變慢,撞到兩天目標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有機器幫忙那組,判得比沒有的那組差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中 · 擋不住措辭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7761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12E"/>
                          </a:solidFill>
                          <a:latin typeface="Microsoft JhengHei"/>
                        </a:rPr>
                        <a:t>倫理｜4 駕駛要反駁得靠主管轉達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調得出影片做事實分析,還他清白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主管不轉,駕駛就沒有管道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主管轉達的件數長期是零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中 · 入口不在駕駛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735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12E"/>
                          </a:solidFill>
                          <a:latin typeface="Microsoft JhengHei"/>
                        </a:rPr>
                        <a:t>組織｜5 複核人員的角色會變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手冊找他們一起寫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一起寫,手冊比較晚定案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有人離職,或不再參與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高 · 只有五個人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735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12E"/>
                          </a:solidFill>
                          <a:latin typeface="Microsoft JhengHei"/>
                        </a:rPr>
                        <a:t>經濟｜6 六個月內證不出回本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三個檢查點分段撥錢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長週期的工作難排人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省時沒到當初講的數字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高 · 錢分三段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735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12E"/>
                          </a:solidFill>
                          <a:latin typeface="Microsoft JhengHei"/>
                        </a:rPr>
                        <a:t>組織｜7 高階不參與,案子就會擱著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指定主管,他到場才放行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多幾場會要開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連兩次檢查點主管沒到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中 · 盯不了行程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" y="5795957"/>
            <a:ext cx="9658807" cy="638651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5795957"/>
            <a:ext cx="9293047" cy="6386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FFFFFF"/>
                </a:solidFill>
                <a:latin typeface="Microsoft JhengHei"/>
              </a:rPr>
              <a:t>只有中把握的那三件,共同點是都不在我手上:機器的措辭、主管願不願意轉達、高階的行程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8833A"/>
                </a:solidFill>
                <a:latin typeface="Microsoft JhengHei"/>
              </a:rPr>
              <a:t>業務影響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1030407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4E79"/>
                </a:solidFill>
                <a:latin typeface="Microsoft JhengHei"/>
              </a:rPr>
              <a:t>政府那八條 AI 倫理原則我逐條對過 —— 沒有一條因為這個案子變差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10304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885"/>
                </a:solidFill>
                <a:latin typeface="Microsoft JhengHei"/>
              </a:rPr>
              <a:t>影像保留沒變、駕駛的申訴管道沒變、判錯誰負責我寫清楚了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17904"/>
            <a:ext cx="10874959" cy="320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55648"/>
          <a:ext cx="10874958" cy="39882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56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3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3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現況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導入之後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7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7145"/>
                          </a:solidFill>
                          <a:latin typeface="Microsoft JhengHei"/>
                        </a:rPr>
                        <a:t>① 福祉:同樣人力接得住多少</a:t>
                      </a:r>
                    </a:p>
                  </a:txBody>
                  <a:tcPr marL="45720" marR="45720" marT="18288" marB="18288" anchor="ctr">
                    <a:solidFill>
                      <a:srgbClr val="ED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7145"/>
                          </a:solidFill>
                          <a:latin typeface="Microsoft JhengHei"/>
                        </a:rPr>
                        <a:t>量一直長,人力沒變</a:t>
                      </a:r>
                    </a:p>
                  </a:txBody>
                  <a:tcPr marL="45720" marR="45720" marT="18288" marB="18288" anchor="ctr">
                    <a:solidFill>
                      <a:srgbClr val="ED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7145"/>
                          </a:solidFill>
                          <a:latin typeface="Microsoft JhengHei"/>
                        </a:rPr>
                        <a:t>接得住更多 → 改善</a:t>
                      </a:r>
                    </a:p>
                  </a:txBody>
                  <a:tcPr marL="45720" marR="45720" marT="18288" marB="18288" anchor="ctr">
                    <a:solidFill>
                      <a:srgbClr val="ED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7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12E"/>
                          </a:solidFill>
                          <a:latin typeface="Microsoft JhengHei"/>
                        </a:rPr>
                        <a:t>② 以人為本:人還是不是最後決定的人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人逐筆判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人還是逐筆判 → 不變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37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7145"/>
                          </a:solidFill>
                          <a:latin typeface="Microsoft JhengHei"/>
                        </a:rPr>
                        <a:t>③ 公平:誰的案子先被看</a:t>
                      </a:r>
                    </a:p>
                  </a:txBody>
                  <a:tcPr marL="45720" marR="45720" marT="18288" marB="18288" anchor="ctr">
                    <a:solidFill>
                      <a:srgbClr val="ED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7145"/>
                          </a:solidFill>
                          <a:latin typeface="Microsoft JhengHei"/>
                        </a:rPr>
                        <a:t>依客戶購買量排序</a:t>
                      </a:r>
                    </a:p>
                  </a:txBody>
                  <a:tcPr marL="45720" marR="45720" marT="18288" marB="18288" anchor="ctr">
                    <a:solidFill>
                      <a:srgbClr val="ED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7145"/>
                          </a:solidFill>
                          <a:latin typeface="Microsoft JhengHei"/>
                        </a:rPr>
                        <a:t>涵蓋率提高 → 改善</a:t>
                      </a:r>
                    </a:p>
                  </a:txBody>
                  <a:tcPr marL="45720" marR="45720" marT="18288" marB="18288" anchor="ctr">
                    <a:solidFill>
                      <a:srgbClr val="ED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37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12E"/>
                          </a:solidFill>
                          <a:latin typeface="Microsoft JhengHei"/>
                        </a:rPr>
                        <a:t>④ 隱私:影像調閱與保存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一律保留 180 天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證據包同 180 天 → 不變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37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00000"/>
                          </a:solidFill>
                          <a:latin typeface="Microsoft JhengHei"/>
                        </a:rPr>
                        <a:t>⑤ 可靠:該報沒報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發生在 Edge AI 端,無紀錄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本案碰不到 → 不變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37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12E"/>
                          </a:solidFill>
                          <a:latin typeface="Microsoft JhengHei"/>
                        </a:rPr>
                        <a:t>⑥ 透明:對外是誰給的結論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人工審核的結果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一樣是人工審核的結果 → 不變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37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12E"/>
                          </a:solidFill>
                          <a:latin typeface="Microsoft JhengHei"/>
                        </a:rPr>
                        <a:t>⑦ 可申訴:駕駛能不能質疑一筆判定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透過車隊主管轉達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一樣透過主管;調影片還他清白 → 不變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37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12E"/>
                          </a:solidFill>
                          <a:latin typeface="Microsoft JhengHei"/>
                        </a:rPr>
                        <a:t>⑧ 問責:某一筆判錯誰負責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複核者簽名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複核歸營運;AI 判錯歸 RD 團隊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" y="5871876"/>
            <a:ext cx="9658807" cy="638651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5871876"/>
            <a:ext cx="9293047" cy="6386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FFFFFF"/>
                </a:solidFill>
                <a:latin typeface="Microsoft JhengHei"/>
              </a:rPr>
              <a:t>第七條原文:「應設有及時的機制,讓相關方提出質疑」—— 駕駛提,我們調影片還他清白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8833A"/>
                </a:solidFill>
                <a:latin typeface="Microsoft JhengHei"/>
              </a:rPr>
              <a:t>效益與衡量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1030407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4E79"/>
                </a:solidFill>
                <a:latin typeface="Microsoft JhengHei"/>
              </a:rPr>
              <a:t>這七條做到了才算成功;下面兩條沒過,上面全部不算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10304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885"/>
                </a:solidFill>
                <a:latin typeface="Microsoft JhengHei"/>
              </a:rPr>
              <a:t>第 6 週交三樣、第 12 週一樣、第 16 週三樣;第 16 週是交件,不是喊停點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17904"/>
            <a:ext cx="10874959" cy="320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55648"/>
          <a:ext cx="10874957" cy="2945791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09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4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49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549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效益:七條 · 依交件週次排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今天是多少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要做到多少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第幾週交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801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12E"/>
                          </a:solidFill>
                          <a:latin typeface="Microsoft JhengHei"/>
                        </a:rPr>
                        <a:t>① 每筆要花多少人力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批次 20 秒 · 爭議 5.25 分(單月)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交出正式量測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第 6 週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801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12E"/>
                          </a:solidFill>
                          <a:latin typeface="Microsoft JhengHei"/>
                        </a:rPr>
                        <a:t>② 有多少客戶的案子被人看過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配給制,沒有紀錄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建紀錄;贊助人第 16 週訂目標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第 6 週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801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12E"/>
                          </a:solidFill>
                          <a:latin typeface="Microsoft JhengHei"/>
                        </a:rPr>
                        <a:t>③ 尖峰徵調研發的人時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徵調 7 位,非常態編制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量出基準;營運第 16 週訂上限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第 6 週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801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12E"/>
                          </a:solidFill>
                          <a:latin typeface="Microsoft JhengHei"/>
                        </a:rPr>
                        <a:t>④ 行車輔助誤報率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單月樣本 104/1,029 ≈ 10.1%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降到 7% 以下(提案)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第 12 週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80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00000"/>
                          </a:solidFill>
                          <a:latin typeface="Microsoft JhengHei"/>
                        </a:rPr>
                        <a:t>⑤ 爭議回覆要幾天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全鏈路 2–5 天(估計,非量測)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2 天內〔提案目標,未簽協議〕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第 16 週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80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00000"/>
                          </a:solidFill>
                          <a:latin typeface="Microsoft JhengHei"/>
                        </a:rPr>
                        <a:t>⑥ 不做這案要增聘幾個人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覆蓋全客戶需 17–24 人(現有 5 人)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做了能少請幾個,量出來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第 16 週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801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12E"/>
                          </a:solidFill>
                          <a:latin typeface="Microsoft JhengHei"/>
                        </a:rPr>
                        <a:t>⑦ 客戶回頭爭議的比例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5–10%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降到 5% 以下(提案)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第 16 週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4829460"/>
          <a:ext cx="10874957" cy="9144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09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4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49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549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喊停條件:兩條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今天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要交什麼 · 第幾週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沒過會怎樣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00000"/>
                          </a:solidFill>
                          <a:latin typeface="Microsoft JhengHei"/>
                        </a:rPr>
                        <a:t>⑧ 同一段影片,兩個人給不同答案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從來沒量過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第 10 週建立基線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沒過就不能拿這批答案去訓練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00000"/>
                          </a:solidFill>
                          <a:latin typeface="Microsoft JhengHei"/>
                        </a:rPr>
                        <a:t>⑨ 機器的描述會不會讓人判得更差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還沒有這個機制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第 12 週交盲測結果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比對照組差就不放行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58368" y="5871876"/>
            <a:ext cx="9658807" cy="638651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5871876"/>
            <a:ext cx="9293047" cy="6386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FFFFFF"/>
                </a:solidFill>
                <a:latin typeface="Microsoft JhengHei"/>
              </a:rPr>
              <a:t>喊停的條件是我自己訂的,不是各位逼我加的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8833A"/>
                </a:solidFill>
                <a:latin typeface="Microsoft JhengHei"/>
              </a:rPr>
              <a:t>項目計畫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1030407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4E79"/>
                </a:solidFill>
                <a:latin typeface="Microsoft JhengHei"/>
              </a:rPr>
              <a:t>六個月分三段做,每一段做完都可以喊停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10304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885"/>
                </a:solidFill>
                <a:latin typeface="Microsoft JhengHei"/>
              </a:rPr>
              <a:t>前面三件先把 AI 要吃的東西備好,地端 AI 排在第五件 —— 順序不能換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17904"/>
            <a:ext cx="10874959" cy="320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45720" cy="32146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755648"/>
            <a:ext cx="2408822" cy="4129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① 先量出現在多準、多慢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68358" y="1755648"/>
            <a:ext cx="1224153" cy="4129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4E79"/>
                </a:solidFill>
                <a:latin typeface="Microsoft JhengHei"/>
              </a:rPr>
              <a:t>第 1–6 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2239" y="1755648"/>
            <a:ext cx="6821359" cy="4129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交:每筆現在花多少人力 · 客戶涵蓋率 · 尖峰徵調人時 —— 這三樣今天都沒有紀錄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287428"/>
            <a:ext cx="45720" cy="32146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2259996"/>
            <a:ext cx="2408822" cy="4129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② 寫一本大家判得一樣的手冊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8358" y="2259996"/>
            <a:ext cx="1224153" cy="4129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4E79"/>
                </a:solidFill>
                <a:latin typeface="Microsoft JhengHei"/>
              </a:rPr>
              <a:t>第 3–10 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2239" y="2259996"/>
            <a:ext cx="6821359" cy="4129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交:誤報的白話定義 · 判斷手冊 · 兩個人判同一段影片答案一不一樣的追蹤表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791777"/>
            <a:ext cx="45720" cy="32146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" y="2764345"/>
            <a:ext cx="2408822" cy="4129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③ 先不用 AI,用規則補脈絡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68358" y="2764345"/>
            <a:ext cx="1224153" cy="4129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4E79"/>
                </a:solidFill>
                <a:latin typeface="Microsoft JhengHei"/>
              </a:rPr>
              <a:t>第 5–12 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2239" y="2764345"/>
            <a:ext cx="6821359" cy="4129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交:不含 AI 的規則版本 —— 它是 AI 的對照組,不然 AI 有沒有用永遠說不清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296126"/>
            <a:ext cx="45720" cy="32146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3268694"/>
            <a:ext cx="2408822" cy="4129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④ 客訴自動整理成證據包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68358" y="3268694"/>
            <a:ext cx="1224153" cy="4129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4E79"/>
                </a:solidFill>
                <a:latin typeface="Microsoft JhengHei"/>
              </a:rPr>
              <a:t>第 8–16 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2239" y="3268694"/>
            <a:ext cx="6821359" cy="4129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交:客訴的自動證據包。機器找齊證據,成不成立還是人一筆一筆判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800475"/>
            <a:ext cx="45720" cy="32146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3773043"/>
            <a:ext cx="2408822" cy="4129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⑤ 地端 AI 讀事件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68358" y="3773043"/>
            <a:ext cx="1224153" cy="4129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C00000"/>
                </a:solidFill>
                <a:latin typeface="Microsoft JhengHei"/>
              </a:rPr>
              <a:t>第 8–24 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02239" y="3773043"/>
            <a:ext cx="6821359" cy="4129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交:兩台設備上線。一台掃全部、一台深看客訴;機器寫的結論一律先給人看過才對外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304823"/>
            <a:ext cx="45720" cy="32146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4672" y="4277391"/>
            <a:ext cx="2408822" cy="4129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⑥ 交回營運日常運作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68358" y="4277391"/>
            <a:ext cx="1224153" cy="4129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4E79"/>
                </a:solidFill>
                <a:latin typeface="Microsoft JhengHei"/>
              </a:rPr>
              <a:t>第 20–26 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02239" y="4277391"/>
            <a:ext cx="6821359" cy="4129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交:操作文件 · 隨時看得到成績的儀表板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658368" y="4909756"/>
          <a:ext cx="9658805" cy="160077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317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35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35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三個喊停點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這一關在問什麼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答案不對就怎麼辦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86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00000"/>
                          </a:solidFill>
                          <a:latin typeface="Microsoft JhengHei"/>
                        </a:rPr>
                        <a:t>第 6 週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慢的原因真的是「找證據」嗎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不是 → 停,改去調排班;量不出來 → 後面全不做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86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12E"/>
                          </a:solidFill>
                          <a:latin typeface="Microsoft JhengHei"/>
                        </a:rPr>
                        <a:t>第 12 週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三種做法比一比:現在 / 只加規則 / 加 AI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AI 沒比規則好 → 縮規模,但實驗一定做完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86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00000"/>
                          </a:solidFill>
                          <a:latin typeface="Microsoft JhengHei"/>
                        </a:rPr>
                        <a:t>第 24 週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這個 AI 到底要不要真的用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證不出比規則好 → AI 不上線;量測和手冊仍留下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8833A"/>
                </a:solidFill>
                <a:latin typeface="Microsoft JhengHei"/>
              </a:rPr>
              <a:t>項目計畫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1030407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4E79"/>
                </a:solidFill>
                <a:latin typeface="Microsoft JhengHei"/>
              </a:rPr>
              <a:t>六個月的成本:人 A$7.0–7.9 萬、機器 A$1.4–1.8 萬,另有五項沒估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10304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885"/>
                </a:solidFill>
                <a:latin typeface="Microsoft JhengHei"/>
              </a:rPr>
              <a:t>今天要請各位核准的只有第一段(前六週)A$18,700–20,900,以及指定一位負責的主管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17904"/>
            <a:ext cx="10874959" cy="320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45720" cy="32146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755648"/>
            <a:ext cx="2408822" cy="4129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人(六個月 18.2 人月)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68358" y="1755648"/>
            <a:ext cx="1795652" cy="4129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4E79"/>
                </a:solidFill>
                <a:latin typeface="Microsoft JhengHei"/>
              </a:rPr>
              <a:t>約 A$7.0–7.9 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73739" y="1755648"/>
            <a:ext cx="6249859" cy="4129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18.2 人月 × 月薪 A$2,970–3,320 × 間接費率 1.3(自設假設,是量級不是報價)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287428"/>
            <a:ext cx="45720" cy="32146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2259996"/>
            <a:ext cx="2408822" cy="4129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機器(兩台,自建機房)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8358" y="2259996"/>
            <a:ext cx="1795652" cy="4129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C00000"/>
                </a:solidFill>
                <a:latin typeface="Microsoft JhengHei"/>
              </a:rPr>
              <a:t>A$14,200–17,700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73739" y="2259996"/>
            <a:ext cx="6249859" cy="4129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一台掃全部、一台深看客訴;第 6 週後才買,不含在今天要核准的錢裡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791777"/>
            <a:ext cx="45720" cy="32146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" y="2764345"/>
            <a:ext cx="2408822" cy="4129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這兩台三年總花費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68358" y="2764345"/>
            <a:ext cx="1795652" cy="4129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4E79"/>
                </a:solidFill>
                <a:latin typeface="Microsoft JhengHei"/>
              </a:rPr>
              <a:t>約 A$2.9–5.2 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73739" y="2764345"/>
            <a:ext cx="6249859" cy="4129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含電費、延長保固,還有人要顧它 —— 近半數是顧它的人力,不是機器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296126"/>
            <a:ext cx="45720" cy="32146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3268694"/>
            <a:ext cx="2408822" cy="4129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想到了但還沒估價的五項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68358" y="3268694"/>
            <a:ext cx="1795652" cy="4129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C00000"/>
                </a:solidFill>
                <a:latin typeface="Microsoft JhengHei"/>
              </a:rPr>
              <a:t>不編金額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73739" y="3268694"/>
            <a:ext cx="6249859" cy="4129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① 影片存放 ② 雲端運算 ③ 圖資更新 ④ 測試環境 ⑤ 訓練資料蒐集(第 6 週前補量級)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800475"/>
            <a:ext cx="45720" cy="32146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9807" y="3865809"/>
            <a:ext cx="2408822" cy="4129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不做這件事會怎樣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68358" y="3773043"/>
            <a:ext cx="1795652" cy="4129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4E79"/>
                </a:solidFill>
                <a:latin typeface="Microsoft JhengHei"/>
              </a:rPr>
              <a:t>要再請 12–19 個人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3739" y="3773043"/>
            <a:ext cx="6249859" cy="4129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用現在的做法覆蓋全部客戶要 17–24 人,現在只有 5 人。做了能少請幾個,第 16 週量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405407"/>
            <a:ext cx="3122066" cy="181737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 w="381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8096" y="4533423"/>
            <a:ext cx="290261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6212E"/>
                </a:solidFill>
                <a:latin typeface="Microsoft JhengHei"/>
              </a:rPr>
              <a:t>① 要請各位核准的錢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660855" y="5155215"/>
            <a:ext cx="1117092" cy="27432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660855" y="5155215"/>
            <a:ext cx="11170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只到第 6 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" y="5539263"/>
            <a:ext cx="2902610" cy="555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第一段 4.85 人月 · A$18,700–20,900</a:t>
            </a: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〔是規劃、不是已核定的預算〕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926738" y="4405407"/>
            <a:ext cx="3122066" cy="181737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 w="381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036466" y="4533423"/>
            <a:ext cx="290261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6212E"/>
                </a:solidFill>
                <a:latin typeface="Microsoft JhengHei"/>
              </a:rPr>
              <a:t>② 要請各位指定的人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54955" y="5155215"/>
            <a:ext cx="865632" cy="27432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54955" y="5155215"/>
            <a:ext cx="8656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一位主管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36466" y="5539263"/>
            <a:ext cx="2902610" cy="555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請委員會指定一位負責的主管</a:t>
            </a: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第 6 週前釐清和現有雲端規劃的分界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95108" y="4405407"/>
            <a:ext cx="3122066" cy="18173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6B78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04836" y="4533423"/>
            <a:ext cx="290261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6212E"/>
                </a:solidFill>
                <a:latin typeface="Microsoft JhengHei"/>
              </a:rPr>
              <a:t>六個月後各位手上會多三樣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76615" y="5155215"/>
            <a:ext cx="1559052" cy="274320"/>
          </a:xfrm>
          <a:prstGeom prst="roundRect">
            <a:avLst>
              <a:gd name="adj" fmla="val 6000"/>
            </a:avLst>
          </a:prstGeom>
          <a:solidFill>
            <a:srgbClr val="6B78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976615" y="5155215"/>
            <a:ext cx="15590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不是承諾,是交付物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04836" y="5539263"/>
            <a:ext cx="2902610" cy="555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錯誤率 · 判斷層 · 對照實驗結果</a:t>
            </a: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🔴 不承諾省幾個人 —— 第 16 週才算得出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64008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F4E79"/>
                </a:solidFill>
                <a:latin typeface="Microsoft JhengHei"/>
              </a:rPr>
              <a:t>參考文獻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89888"/>
            <a:ext cx="10874959" cy="320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609344"/>
            <a:ext cx="4623663" cy="9875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6212E"/>
                </a:solidFill>
                <a:latin typeface="Microsoft JhengHei"/>
              </a:rPr>
              <a:t>(第 8 頁)　Department of Industry, Innovation and Science. (2019). Australia's AI ethics principles. https://www.industry.gov.au/publications/australias-ai-ethics-principles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688336"/>
            <a:ext cx="4623663" cy="9875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6212E"/>
                </a:solidFill>
                <a:latin typeface="Microsoft JhengHei"/>
              </a:rPr>
              <a:t>(第 5 頁)　Dettmers, T., Lewis, M., Belkada, Y., &amp; Zettlemoyer, L. (2022). GPT3.int8(): 8-bit matrix multiplication for transformers at scale. In Advances in neural information processing systems (Vol. 35).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767328"/>
            <a:ext cx="4623663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6212E"/>
                </a:solidFill>
                <a:latin typeface="Microsoft JhengHei"/>
              </a:rPr>
              <a:t>(第 7 頁)　Goddard, K., Roudsari, A., &amp; Wyatt, J. C. (2012). Automation bias: A systematic review of frequency, effect mediators, and mitigators. Journal of the American Medical Informatics Association, 19(1), 121–127. https://doi.org/10.1136/amiajnl-2011-000089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093208"/>
            <a:ext cx="4623663" cy="9875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6212E"/>
                </a:solidFill>
                <a:latin typeface="Microsoft JhengHei"/>
              </a:rPr>
              <a:t>(第 9 頁)　Parasuraman, R., &amp; Manzey, D. H. (2010). Complacency and bias in human use of automation: An attentional integration. Human Factors, 52(3), 381–410. https://doi.org/10.1177/0018720810376055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93511" y="1609344"/>
            <a:ext cx="4623663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6212E"/>
                </a:solidFill>
                <a:latin typeface="Microsoft JhengHei"/>
              </a:rPr>
              <a:t>(第 7 頁)　Rohrbach, A., Hendricks, L. A., Burns, K., Darrell, T., &amp; Saenko, K. (2018). Object hallucination in image captioning. In Proceedings of the 2018 Conference on Empirical Methods in Natural Language Processing (pp. 4035–4045). https://doi.org/10.18653/v1/D18-1437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93511" y="2935224"/>
            <a:ext cx="4623663" cy="1481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6212E"/>
                </a:solidFill>
                <a:latin typeface="Microsoft JhengHei"/>
              </a:rPr>
              <a:t>(第 4、10 頁)　Sambasivan, N., Kapania, S., Highfill, H., Akrong, D., Paritosh, P., &amp; Aroyo, L. M. (2021). “Everyone wants to do the model work, not the data work”: Data cascades in high-stakes AI. In Proceedings of the 2021 CHI Conference on Human Factors in Computing Systems. https://doi.org/10.1145/3411764.3445518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93511" y="4507992"/>
            <a:ext cx="4623663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6212E"/>
                </a:solidFill>
                <a:latin typeface="Microsoft JhengHei"/>
              </a:rPr>
              <a:t>(第 11 頁)　Sculley, D., Holt, G., Golovin, D., Davydov, E., Phillips, T., Ebner, D., Chaudhary, V., Young, M., Crespo, J.-F., &amp; Dennison, D. (2015). Hidden technical debt in machine learning systems. In Advances in neural information processing systems (Vol. 28).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382512"/>
            <a:ext cx="965880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APA 7th　·　The company name has been changed for commercial in confidence reasons.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7513</Words>
  <Application>Microsoft Office PowerPoint</Application>
  <PresentationFormat>寬螢幕</PresentationFormat>
  <Paragraphs>647</Paragraphs>
  <Slides>12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6" baseType="lpstr">
      <vt:lpstr>Microsoft JhengHei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Po-Kai Huang</cp:lastModifiedBy>
  <cp:revision>2</cp:revision>
  <dcterms:created xsi:type="dcterms:W3CDTF">2013-01-27T09:14:16Z</dcterms:created>
  <dcterms:modified xsi:type="dcterms:W3CDTF">2026-08-17T12:44:11Z</dcterms:modified>
  <cp:category/>
</cp:coreProperties>
</file>